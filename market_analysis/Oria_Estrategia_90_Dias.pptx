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Do produto à startup relevante,Análise preparada em 14 de outubro de 2026. Apresentação para fundadores. Valores de cenários, metas e esforço não são dados reais da Oria.,Direção principal: não ampliar horizontalmente. Converter a infraestrutura já implementada em uma oferta operacional repetível e mensurável. Capturas dos sites reais foram recortadas e, quando necessário, tiveram apenas banners ocultados ou zoom editorial. Nenhum dado identificável de paciente foi incluído.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A oportunidade é uma operação resolvida. Não mais um chatbot.,Análise preparada em 14 de outubro de 2026. Apresentação para fundadores. Valores de cenários, metas e esforço não são dados reais da Oria.,D1 | Documento de partida — v1.md | Documento local; lido em 14/10/2026
Tese, checklist e hipóteses. Não contém walkthrough do MVP, bibliografia recuperável nem validação comercial.,O1 | Oria — dashboard autenticado | Observado em 14/10/2026, ~14h50 (UTC−3)
https://ai-secretary-draft.vercel.app/dashboard
Filtro de 30 dias: 17 novos pacientes; 4/17 em agenda; 24% arredondado; 2 aguardando equipe; mediana &lt;1 min; alerta de 10 mensagens após encerramento. Dados da conta, não resultados auditados de um piloto.,O2 | Oria — API autenticada do Agent Studio | Consulta somente leitura em 14/10/2026
https://ai-secretary-draft.vercel.app/api/assistant/studio
HTTP 200; agente habilitado; 7 ferramentas habilitadas; 1 plano; 2 tipos de evento agendáveis; 9 regras de coleta; política de handoff presente. Não foram executadas mutações, pagamentos ou mensagens a pacientes.,Não se afirma PMF. Metas de 5 pilotos e 3 pagantes são critérios propostos. A retenção de 90 dias só poderá ser calculada quando cada coorte completar 90 dias de pagamento.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O v1 acerta o recorte. Mas ainda não fundamenta uma decisão de investimento.,Análise preparada em 14 de outubro de 2026. Apresentação para fundadores. Valores de cenários, metas e esforço não são dados reais da Oria.,D1 | Documento de partida — v1.md | Documento local; lido em 14/10/2026
Tese, checklist e hipóteses. Não contém walkthrough do MVP, bibliografia recuperável nem validação comercial.,O documento declara que não inspecionou o MVP. Nesta apresentação, observações diretas e código complementam essa lacuna, mas não substituem testes end-to-end. A lista global de 25+ players ajuda a mapear categorias; ela subestima os incumbentes brasileiros que já detêm agenda, prontuário e orçamento. Os dados de financiamento exigem data e fonte e não podem ser usados como evidência de disposição a pagar no Brasil. Art.14, prazos de incidentes e hipóteses de base legal precisam de revisão jurídica, não transposição literal do 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A Oria já tem uma superfície operacional. O próximo salto é confiabilidade e repetição.,Análise preparada em 14 de outubro de 2026. Apresentação para fundadores. Valores de cenários, metas e esforço não são dados reais da Oria.,O1 | Oria — dashboard autenticado | Observado em 14/10/2026, ~14h50 (UTC−3)
https://ai-secretary-draft.vercel.app/dashboard
Filtro de 30 dias: 17 novos pacientes; 4/17 em agenda; 24% arredondado; 2 aguardando equipe; mediana &lt;1 min; alerta de 10 mensagens após encerramento. Dados da conta, não resultados auditados de um piloto.,O2 | Oria — API autenticada do Agent Studio | Consulta somente leitura em 14/10/2026
https://ai-secretary-draft.vercel.app/api/assistant/studio
HTTP 200; agente habilitado; 7 ferramentas habilitadas; 1 plano; 2 tipos de evento agendáveis; 9 regras de coleta; política de handoff presente. Não foram executadas mutações, pagamentos ou mensagens a pacientes.,C1 | Código — arquitetura e ferramentas | Repositório local, 14/10/2026
platform\README.md; platform\src\lib\assistant\README.md; tools\registry.ts; calendar-definitions.ts; customer-definitions.ts; payment-definitions.ts. Agenda tem find_slots, hold, book e reschedule; não há calendar.cancel no registro consultado. Há validação de servidor, auditoria e testes no código; testes não foram executados para esta apresentação.,Walkthrough em modo somente leitura. Login e dashboard acessíveis. API do Studio respondeu HTTP200 com configuração ativa. Não foi possível concluir o walkthrough visual das rotas secundárias, que permaneceram em carregamento no ambiente de inspeção. Isso é uma limitação observada, não um diagnóstico da causa nem prova de indisponibilidade para todos os usuários. Testes existentes no repositório não foram executados, pois esta tarefa não altera o produto.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17 novos pacientes não são PMF. Mas revelam onde medir e investigar.,Análise preparada em 14 de outubro de 2026. Apresentação para fundadores. Valores de cenários, metas e esforço não são dados reais da Oria.,O1 | Oria — dashboard autenticado | Observado em 14/10/2026, ~14h50 (UTC−3)
https://ai-secretary-draft.vercel.app/dashboard
Filtro de 30 dias: 17 novos pacientes; 4/17 em agenda; 24% arredondado; 2 aguardando equipe; mediana &lt;1 min; alerta de 10 mensagens após encerramento. Dados da conta, não resultados auditados de um piloto.,4/17=0,235294. Não há grupo controle, documentação de causalidade ou distinção comprovada entre ambiente real e teste. O alerta de 10 contatos pós-encerramento motiva um teste de retomada: encerrar não deve provocar abandono silencioso. Em outra seção havia percentual superior a100%, exigindo auditoria de rótulo e denominador antes de usar métricas comerciais; não se reproduz esse número como conversão.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Sete capacidades habilitadas. Não é necessário reconstruir o núcleo.,Análise preparada em 14 de outubro de 2026. Apresentação para fundadores. Valores de cenários, metas e esforço não são dados reais da Oria.,O2 | Oria — API autenticada do Agent Studio | Consulta somente leitura em 14/10/2026
https://ai-secretary-draft.vercel.app/api/assistant/studio
HTTP 200; agente habilitado; 7 ferramentas habilitadas; 1 plano; 2 tipos de evento agendáveis; 9 regras de coleta; política de handoff presente. Não foram executadas mutações, pagamentos ou mensagens a pacientes.,C1 | Código — arquitetura e ferramentas | Repositório local, 14/10/2026
platform\README.md; platform\src\lib\assistant\README.md; tools\registry.ts; calendar-definitions.ts; customer-definitions.ts; payment-definitions.ts. Agenda tem find_slots, hold, book e reschedule; não há calendar.cancel no registro consultado. Há validação de servidor, auditoria e testes no código; testes não foram executados para esta apresentação.,C2 | Código — configuração ativa e follow-up | Repositório local, 14/10/2026
platform\src\lib\assistant\agent\repository.ts: configuração active na coleção assistant_agent_config, banco ai_secretary. contracts.ts e defaults.ts: perfil, regras, políticas e planos. README: follow-up limitado à janela WhatsApp de 24h. Isso não constitui validação completa de isolamento ou de segurança.,Os sete keys ativos são customer.classify_relationship, customer.update_profile, payment.request_deposit, calendar.find_slots, calendar.hold, calendar.book e calendar.reschedule. Existe handoff na decisão/política do agente, não necessariamente como ferramenta separada. Há fontes e testes para validação determinística de agenda e pagamentos, mas nenhuma garantia de comportamento em produção foi testada nesta tarefa. Conhecimento é string; não se confunde tamanho do texto com número de itens.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Presença no código, operação validada e prontidão SaaS são coisas diferentes.,Análise preparada em 14 de outubro de 2026. Apresentação para fundadores. Valores de cenários, metas e esforço não são dados reais da Oria.,O1 | Oria — dashboard autenticado | Observado em 14/10/2026, ~14h50 (UTC−3)
https://ai-secretary-draft.vercel.app/dashboard
Filtro de 30 dias: 17 novos pacientes; 4/17 em agenda; 24% arredondado; 2 aguardando equipe; mediana &lt;1 min; alerta de 10 mensagens após encerramento. Dados da conta, não resultados auditados de um piloto.,O2 | Oria — API autenticada do Agent Studio | Consulta somente leitura em 14/10/2026
https://ai-secretary-draft.vercel.app/api/assistant/studio
HTTP 200; agente habilitado; 7 ferramentas habilitadas; 1 plano; 2 tipos de evento agendáveis; 9 regras de coleta; política de handoff presente. Não foram executadas mutações, pagamentos ou mensagens a pacientes.,C1 | Código — arquitetura e ferramentas | Repositório local, 14/10/2026
platform\README.md; platform\src\lib\assistant\README.md; tools\registry.ts; calendar-definitions.ts; customer-definitions.ts; payment-definitions.ts. Agenda tem find_slots, hold, book e reschedule; não há calendar.cancel no registro consultado. Há validação de servidor, auditoria e testes no código; testes não foram executados para esta apresentação.,C2 | Código — configuração ativa e follow-up | Repositório local, 14/10/2026
platform\src\lib\assistant\agent\repository.ts: configuração active na coleção assistant_agent_config, banco ai_secretary. contracts.ts e defaults.ts: perfil, regras, políticas e planos. README: follow-up limitado à janela WhatsApp de 24h. Isso não constitui validação completa de isolamento ou de segurança.,O áudio consta no README, com fallback explícito para texto se não há transcrição. Follow-up só deve acontecer em horários configurados e antes do cutoff. A configuração singleton por banco não demonstra arquitetura multi-tenant completa; também não basta para concluir que há vulnerabilidade. Decisão: impedir expansão compartilhada até testes de isolamento. Escopo de segurança aqui é requisito operacional, não auditoria de vulnerabilidades.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O contexto brasileiro é grande. O mercado comprável ainda precisa ser delimitado.,Análise preparada em 14 de outubro de 2026. Apresentação para fundadores. Valores de cenários, metas e esforço não são dados reais da Oria.,S1 | NIC.br / CGI.br — TIC Saúde 2024 | 11/10/2024; acessado em 14/10/2026
https://www.nic.br/noticia/releases/estabelecimentos-de-saude-brasileiros-avancam-na-digitalizacao-mas-habilidade-em-informatica-aplicada-a-area-ainda-e-reduzida-entre-os-profissionais-do-setor-revela-pesquisa/
92% dos estabelecimentos têm sistema eletrônico; cerca de 4% usam IA; entre não adotantes: 61% não priorizam, 59% não veem necessidade, 49% acham caro. Cerca de 1/3 oferece serviços online. Entrevistas fev–ago/2024: 2.057 gestores e 2.021 profissionais. Indicadores nacionais, não amostra específica do ICP da Oria.,S2 | FMUSP — Demografia Médica no Brasil 2025 | Divulgação em 2025; base dezembro/2024; acesso 14/10/2026
https://fm.usp.br/fmusp/noticias/ministerio-da-saude-fmusp-e-amb-lancam-a-demografia-medica-no-brasil-2025
353.287 especialistas, 59,1% dos médicos registrados; 244.141 generalistas, 40,9%. Soma 597.428. Não equivale a clínicas compradoras nem ao universo privado elegível. Não se usa a projeção de 635.706 como contagem observada.,S3 | ANS — Dados Gerais | Competência junho/2026; atualização até agosto/2026; acesso 14/10/2026
https://www.gov.br/ans/pt-br/acesso-a-informacao/perfil-do-setor/dados-gerais
53.055.406 beneficiários/vínculos em assistência médica com ou sem odontologia. Dezembro/2024: 51.948.315. Vínculos, não pessoas únicas necessariamente; não são compradores da Oria.,ANS apresenta 53.055.406 vínculos em assistência médica com ou sem odontologia em junho/2026, atualização até08/2026. Demografia:353.287 especialistas59,1%,244.141 generalistas40,9%. Indicadores TIC Saúde nacionais e de2024; não são percentuais de clínicas privadas-alvo em2026. Para TAM/SAM, extrair CNES por estabelecimento ativo, natureza privada, especialidade, localidade, volume e orçamento. Não foi validado um censo elegível nesta análise.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O maior obstáculo pode ser prioridade. Não a qualidade do modelo.,Análise preparada em 14 de outubro de 2026. Apresentação para fundadores. Valores de cenários, metas e esforço não são dados reais da Oria.,S1 | NIC.br / CGI.br — TIC Saúde 2024 | 11/10/2024; acessado em 14/10/2026
https://www.nic.br/noticia/releases/estabelecimentos-de-saude-brasileiros-avancam-na-digitalizacao-mas-habilidade-em-informatica-aplicada-a-area-ainda-e-reduzida-entre-os-profissionais-do-setor-revela-pesquisa/
92% dos estabelecimentos têm sistema eletrônico; cerca de 4% usam IA; entre não adotantes: 61% não priorizam, 59% não veem necessidade, 49% acham caro. Cerca de 1/3 oferece serviços online. Entrevistas fev–ago/2024: 2.057 gestores e 2.021 profissionais. Indicadores nacionais, não amostra específica do ICP da Oria.,Denominador: estabelecimentos de saúde não adotantes de IA, não compradores entrevistados da Oria. 61%,59%,49% podem sobrepor; não somar. A mesma pesquisa informa que cerca de1/3 oferece algum serviço online, indicador composto que não permite afirmar que2/3 não têm agendamento online. Desenhar entrevista em torno de perdas e capacidade, não de interesse abstrato em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Escolha o comprador antes de escolher mais recursos.,Análise preparada em 14 de outubro de 2026. Apresentação para fundadores. Valores de cenários, metas e esforço não são dados reais da Oria.,D1 | Documento de partida — v1.md | Documento local; lido em 14/10/2026
Tese, checklist e hipóteses. Não contém walkthrough do MVP, bibliografia recuperável nem validação comercial.,O2 | Oria — API autenticada do Agent Studio | Consulta somente leitura em 14/10/2026
https://ai-secretary-draft.vercel.app/api/assistant/studio
HTTP 200; agente habilitado; 7 ferramentas habilitadas; 1 plano; 2 tipos de evento agendáveis; 9 regras de coleta; política de handoff presente. Não foram executadas mutações, pagamentos ou mensagens a pacientes.,Exemplo de especialidade é hipótese, não certificação da especialidade do usuário da conta. O produto atual tem um plano com dois tipos de eventos, o que favorece workflows compostos de avaliação e consulta. Volume500, equipe2–6 e público adulto são filtros propostos, não dados de mercado. Dermatologia e outras especialidades podem ser alternativas, mas não misturar vários ICPs no primeiro experimento.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A concorrência real já controla a agenda, o orçamento ou a conversa.,Análise preparada em 14 de outubro de 2026. Apresentação para fundadores. Valores de cenários, metas e esforço não são dados reais da Oria.,D1 | Documento de partida — v1.md | Documento local; lido em 14/10/2026
Tese, checklist e hipóteses. Não contém walkthrough do MVP, bibliografia recuperável nem validação comercial.,S4 | Feegow — Preços e Planos | Página e captura em 14/10/2026
https://feegowclinic.com.br/precos-e-planos
Starter R$129, Plus R$199, VIP R$249 por profissional/mês; personalizado para 10 ou mais profissionais. VIP menciona Noa Notes e integração com prontuário. Preços exibidos, sujeitos a termos comerciais; não equivalem funcionalmente a uma secretária administrativa autônoma.,S6 | Hyro — comunicado de financiamento | 21/10/2025; acesso 14/10/2026
https://www.prnewswire.com/news-releases/hyro-raises-45m-strategic-growth-round-to-accelerate-ai-agent-adoption-in-healthcare-302589268.html
Comunicado do fornecedor: US$45 milhões na rodada; US$95 milhões totais; 45+ sistemas de saúde; 30+ milhões de pacientes; até 85% de resolução de interações rotineiras. Não é benchmark independente nem resultado transportável à Oria.,S8 | Abridge — site e posicionamento atuais | Página e captura em 14/10/2026
https://www.abridge.com/
Claims atuais do site: 300+ health systems e 100M+ conversas por ano. Plataforma expande antes, durante e depois do atendimento, com documentação, codificação e follow-up. Não descrever como ferramenta exclusivamente de notas nem misturar estes dados com a Série E de 2025.,Os grupos não são equivalências funcionais nem uma auditoria integral de todos os fornecedores. Preço validado diretamente apenas paraFeegow. iClinic/Amplimed/Ninsaúde são alternativas locais relevantes, mas páginas não permitiram confirmar preços atuais nesta análise. Plataformas genéricas e recepção são substitutos com custo de mudança baixo. Hyro também anuncia expansão para grupos de clínicas; não pressupor que o recorte brasileiro está protegido de concorrência.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O software clínico já cabe no orçamento. Uma segunda assinatura precisa justificar-se.,Análise preparada em 14 de outubro de 2026. Apresentação para fundadores. Valores de cenários, metas e esforço não são dados reais da Oria.,S4 | Feegow — Preços e Planos | Página e captura em 14/10/2026
https://feegowclinic.com.br/precos-e-planos
Starter R$129, Plus R$199, VIP R$249 por profissional/mês; personalizado para 10 ou mais profissionais. VIP menciona Noa Notes e integração com prontuário. Preços exibidos, sujeitos a termos comerciais; não equivalem funcionalmente a uma secretária administrativa autônoma.,S5 | Feegow — site institucional | Página observada em 14/10/2026
https://feegowclinic.com.br/
Claims do fornecedor: +14 mil profissionais, +20 milhões de pacientes ativos, +14 milhões de agendamentos nos últimos 12 meses, +1 mil unidades. Não são estimativas de TAM.,PáginaFeegow apresenta129/199/249porprofissional/mês, e personalizado para10+. NoaNotes é IA de documentação, não necessariamente automação conversacional de ponta a ponta.5×199=995. A nova assinatura Oria990+consumo é adicional ao sistema de gestão quando integrado. O fornecedor afirma1000+unidades e14mil+profissionais no site, mostrando distribuição instalada; claims não auditados. Captura com zoom editorial e recorte do canvas vazio; conteúdo preservado.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Hyro ensina a vender resolução. Não “uma IA que conversa”.,Análise preparada em 14 de outubro de 2026. Apresentação para fundadores. Valores de cenários, metas e esforço não são dados reais da Oria.,S6 | Hyro — comunicado de financiamento | 21/10/2025; acesso 14/10/2026
https://www.prnewswire.com/news-releases/hyro-raises-45m-strategic-growth-round-to-accelerate-ai-agent-adoption-in-healthcare-302589268.html
Comunicado do fornecedor: US$45 milhões na rodada; US$95 milhões totais; 45+ sistemas de saúde; 30+ milhões de pacientes; até 85% de resolução de interações rotineiras. Não é benchmark independente nem resultado transportável à Oria.,Comunicado primário do fornecedor divulgado pela PRNewswire em 21/10/2025: US$95 milhões totais, US$45 milhões na rodada, 45+ sistemas, 30 milhões+ pacientes e até 85% de interações rotineiras resolvidas. A comparação é de design de operação e handoff, não de resultado causal replicável em clínica brasileira. Preço comercial não divulgado. Oria deveria instrumentar conclusão do fluxo e handoff contextual, não afirmar equivalência enterprise. Captura de https://www.hyro.ai/ em 14/10/2026.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A IA clínica está virando plataforma. Isso torna o foco ainda mais importante.,Análise preparada em 14 de outubro de 2026. Apresentação para fundadores. Valores de cenários, metas e esforço não são dados reais da Oria.,S8 | Abridge — site e posicionamento atuais | Página e captura em 14/10/2026
https://www.abridge.com/
Claims atuais do site: 300+ health systems e 100M+ conversas por ano. Plataforma expande antes, durante e depois do atendimento, com documentação, codificação e follow-up. Não descrever como ferramenta exclusivamente de notas nem misturar estes dados com a Série E de 2025.,S7 | Nabla — comunicado de Série C | Junho/2025; acesso 14/10/2026
https://www.prnewswire.com/news-releases/nabla-raises-70m-series-c-to-deliver-agentic-ai-to-the-heart-of-clinical-workflows-bringing-total-funding-to-120m-302483646.html
US$70 milhões de Série C; US$120 milhões totais; 85 mil+ clínicos e 130+ organizações no comunicado. Contexto de documentação e workflow clínico, não preço brasileiro.,O site atual apresenta 300+ sistemas de saúde e 100 milhões+ conversas/ano, observado em 14/10/2026. A página fala em antes, durante e depois do cuidado, incluindo documentação, codificação, notas e follow-up. Não usar a narrativa de ferramenta exclusivamente de notas clínicas. O comunicado Nabla de 2025 traz US$70 milhões de Série C, US$120 milhões totais, 85 mil clínicos e 130 organizações; serve apenas para mostrar capital e distribuição. Não transportar montantes ou produtividade para preços/ROI brasileiros.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O posicionamento precisa caber em uma frase — e em uma demonstração.,Análise preparada em 14 de outubro de 2026. Apresentação para fundadores. Valores de cenários, metas e esforço não são dados reais da Oria.,D1 | Documento de partida — v1.md | Documento local; lido em 14/10/2026
Tese, checklist e hipóteses. Não contém walkthrough do MVP, bibliografia recuperável nem validação comercial.,O2 | Oria — API autenticada do Agent Studio | Consulta somente leitura em 14/10/2026
https://ai-secretary-draft.vercel.app/api/assistant/studio
HTTP 200; agente habilitado; 7 ferramentas habilitadas; 1 plano; 2 tipos de evento agendáveis; 9 regras de coleta; política de handoff presente. Não foram executadas mutações, pagamentos ou mensagens a pacientes.,A demonstração deve usar dados sintéticos ou consentidos, nunca dados identificáveis de pacientes nesta apresentação. Política clínica: perguntas clínicas individualizadas ficam com profissional habilitado; mensagens de urgência seguem roteiro aprovado e handoff. Nenhuma taxa de faltas ou conversão deve virar copy antes de método e coorte publicados.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WhatsApp + português são requisitos. A defesa está no workflow e na distribuição.,Análise preparada em 14 de outubro de 2026. Apresentação para fundadores. Valores de cenários, metas e esforço não são dados reais da Oria.,D1 | Documento de partida — v1.md | Documento local; lido em 14/10/2026
Tese, checklist e hipóteses. Não contém walkthrough do MVP, bibliografia recuperável nem validação comercial.,C1 | Código — arquitetura e ferramentas | Repositório local, 14/10/2026
platform\README.md; platform\src\lib\assistant\README.md; tools\registry.ts; calendar-definitions.ts; customer-definitions.ts; payment-definitions.ts. Agenda tem find_slots, hold, book e reschedule; não há calendar.cancel no registro consultado. Há validação de servidor, auditoria e testes no código; testes não foram executados para esta apresentação.,S4 | Feegow — Preços e Planos | Página e captura em 14/10/2026
https://feegowclinic.com.br/precos-e-planos
Starter R$129, Plus R$199, VIP R$249 por profissional/mês; personalizado para 10 ou mais profissionais. VIP menciona Noa Notes e integração com prontuário. Preços exibidos, sujeitos a termos comerciais; não equivalem funcionalmente a uma secretária administrativa autônoma.,S6 | Hyro — comunicado de financiamento | 21/10/2025; acesso 14/10/2026
https://www.prnewswire.com/news-releases/hyro-raises-45m-strategic-growth-round-to-accelerate-ai-agent-adoption-in-healthcare-302589268.html
Comunicado do fornecedor: US$45 milhões na rodada; US$95 milhões totais; 45+ sistemas de saúde; 30+ milhões de pacientes; até 85% de resolução de interações rotineiras. Não é benchmark independente nem resultado transportável à Oria.,Não reivindicar moat apenas porque o produto usa LLM, WhatsApp, Pix ou português brasileiro. Competidores podem implementar esses atributos. Potencial de defesa exige direitos legítimos sobre dados de operação agregados, fluxo específico, baixo esforço de implantação, confiabilidade, referências e acesso a compradores. Evitar lock-in artificial: perfil portátil e confiança podem melhorar retenção. Ainda não há prova desses ativos na 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Seis ajustes para um piloto cobrável. Não seis novos módulos de produto.,Análise preparada em 14 de outubro de 2026. Apresentação para fundadores. Valores de cenários, metas e esforço não são dados reais da Oria.,O2 | Oria — API autenticada do Agent Studio | Consulta somente leitura em 14/10/2026
https://ai-secretary-draft.vercel.app/api/assistant/studio
HTTP 200; agente habilitado; 7 ferramentas habilitadas; 1 plano; 2 tipos de evento agendáveis; 9 regras de coleta; política de handoff presente. Não foram executadas mutações, pagamentos ou mensagens a pacientes.,C1 | Código — arquitetura e ferramentas | Repositório local, 14/10/2026
platform\README.md; platform\src\lib\assistant\README.md; tools\registry.ts; calendar-definitions.ts; customer-definitions.ts; payment-definitions.ts. Agenda tem find_slots, hold, book e reschedule; não há calendar.cancel no registro consultado. Há validação de servidor, auditoria e testes no código; testes não foram executados para esta apresentação.,C2 | Código — configuração ativa e follow-up | Repositório local, 14/10/2026
platform\src\lib\assistant\agent\repository.ts: configuração active na coleção assistant_agent_config, banco ai_secretary. contracts.ts e defaults.ts: perfil, regras, políticas e planos. README: follow-up limitado à janela WhatsApp de 24h. Isso não constitui validação completa de isolamento ou de segurança.,Soma dos mínimos1+3+3+3+2+3=15; máximos2+5+5+4+3+5=24 engineer-days. São estimativas de planejamento, não promessas; confirmar após discovery técnico. O item6 estima engenharia do kit, não tempo/calendário de parecer jurídico. Follow-up e logs já existem: estender e medir, não refazer. Conector externo depende de API, acesso e escopo; se inexistente ou complexo, reestimar. Multi-tenant compartilhado é gate não estimado, não um detalhe implícito nesses15–24dias.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A conversa pode ser flexível. A agenda precisa ser determinística.,Análise preparada em 14 de outubro de 2026. Apresentação para fundadores. Valores de cenários, metas e esforço não são dados reais da Oria.,C1 | Código — arquitetura e ferramentas | Repositório local, 14/10/2026
platform\README.md; platform\src\lib\assistant\README.md; tools\registry.ts; calendar-definitions.ts; customer-definitions.ts; payment-definitions.ts. Agenda tem find_slots, hold, book e reschedule; não há calendar.cancel no registro consultado. Há validação de servidor, auditoria e testes no código; testes não foram executados para esta apresentação.,O2 | Oria — API autenticada do Agent Studio | Consulta somente leitura em 14/10/2026
https://ai-secretary-draft.vercel.app/api/assistant/studio
HTTP 200; agente habilitado; 7 ferramentas habilitadas; 1 plano; 2 tipos de evento agendáveis; 9 regras de coleta; política de handoff presente. Não foram executadas mutações, pagamentos ou mensagens a pacientes.,O registro consultado não tem calendar.cancel. Pode haver cancelamento humano em outra superfície; esta proposta é especificamente cancelamento pelo agente. Os testes deverão cobrir idempotência e transições válidas em book, hold, reschedule e cancel; conflito por recurso; planos em etapas; timezone; resposta textual vinculada a status autoritativo. Regras de negócio já presentes devem ser preservadas. Não foi executada mutação no produto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Encaminhar é uma ação operacional. Não apenas uma frase do assistente.,Análise preparada em 14 de outubro de 2026. Apresentação para fundadores. Valores de cenários, metas e esforço não são dados reais da Oria.,O1 | Oria — dashboard autenticado | Observado em 14/10/2026, ~14h50 (UTC−3)
https://ai-secretary-draft.vercel.app/dashboard
Filtro de 30 dias: 17 novos pacientes; 4/17 em agenda; 24% arredondado; 2 aguardando equipe; mediana &lt;1 min; alerta de 10 mensagens após encerramento. Dados da conta, não resultados auditados de um piloto.,C1 | Código — arquitetura e ferramentas | Repositório local, 14/10/2026
platform\README.md; platform\src\lib\assistant\README.md; tools\registry.ts; calendar-definitions.ts; customer-definitions.ts; payment-definitions.ts. Agenda tem find_slots, hold, book e reschedule; não há calendar.cancel no registro consultado. Há validação de servidor, auditoria e testes no código; testes não foram executados para esta apresentação.,C2 | Código — configuração ativa e follow-up | Repositório local, 14/10/2026
platform\src\lib\assistant\agent\repository.ts: configuração active na coleção assistant_agent_config, banco ai_secretary. contracts.ts e defaults.ts: perfil, regras, políticas e planos. README: follow-up limitado à janela WhatsApp de 24h. Isso não constitui validação completa de isolamento ou de segurança.,S9 | WhatsApp — preços da plataforma | Página consultada em 14/10/2026
https://whatsappbusiness.com/pt-br/products/platform-pricing/
Janela de atendimento de 24h reiniciada por mensagem do usuário; mensagens de serviço nela não são cobradas pela Meta. Templates, categorias e provedor precisam ser modelados. Não se estabelece uma tarifa brasileira específica nesta análise.,Handoff existente exige registro efetivo no código. O fluxo proposto acrescenta responsável, SLA e reentrada explícita. Meta: serviço grátis dentro de 24 horas; reinício por nova mensagem. Follow-up atual documentado expira em 24 horas e não roda se há agendamento futuro. Lembrete de consulta e recuperação fora da janela precisam de fluxo específico: não ampliar silenciosamente o limite de segurança. Não prometer zero custo: templates, BSP e operação podem ter custo.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Meça o que termina. Não apenas mensagens que começam.,Análise preparada em 14 de outubro de 2026. Apresentação para fundadores. Valores de cenários, metas e esforço não são dados reais da Oria.,C1 | Código — arquitetura e ferramentas | Repositório local, 14/10/2026
platform\README.md; platform\src\lib\assistant\README.md; tools\registry.ts; calendar-definitions.ts; customer-definitions.ts; payment-definitions.ts. Agenda tem find_slots, hold, book e reschedule; não há calendar.cancel no registro consultado. Há validação de servidor, auditoria e testes no código; testes não foram executados para esta apresentação.,O1 | Oria — dashboard autenticado | Observado em 14/10/2026, ~14h50 (UTC−3)
https://ai-secretary-draft.vercel.app/dashboard
Filtro de 30 dias: 17 novos pacientes; 4/17 em agenda; 24% arredondado; 2 aguardando equipe; mediana &lt;1 min; alerta de 10 mensagens após encerramento. Dados da conta, não resultados auditados de um piloto.,Incluir abandonos no denominador elegível. Separar resolução automática, resolução humana, integração falhada e conversas clínicas fora de escopo. Agendamentos persistidos não equivalem a consultas realizadas: atribuir receita por appointmentId e deduplicar. Definir janela e coorte de aquisição; paciente novo não é cada conversa nova. Comparar grupos comparáveis e registrar falsos positivos. Logs já presentes podem ser materializados neste ledger; não duplicar infraestrutura sem necessidade.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O mínimo comercial inclui confiança. Não é um item para “depois do PMF”.,Análise preparada em 14 de outubro de 2026. Apresentação para fundadores. Valores de cenários, metas e esforço não são dados reais da Oria.,C2 | Código — configuração ativa e follow-up | Repositório local, 14/10/2026
platform\src\lib\assistant\agent\repository.ts: configuração active na coleção assistant_agent_config, banco ai_secretary. contracts.ts e defaults.ts: perfil, regras, políticas e planos. README: follow-up limitado à janela WhatsApp de 24h. Isso não constitui validação completa de isolamento ou de segurança.,L1 | LGPD — Lei 13.709/2018 | Referência normativa identificada; revisão jurídica pendente
https://normas.leg.br/?urn=urn:lex:br:federal:lei:2018-08-14;13709
Revisar bases legais, finalidade, minimização, direitos, contratos e transferências. Não se promete conformidade certificada. Texto completo não foi extraído com sucesso pelas ferramentas; a apresentação não substitui consulta jurídica.,L2 | ANPD — Resolução 15/2024 | 26/04/2024; referência normativa identificada
https://www.in.gov.br/en/web/dou/-/resolucao-cd/anpd-n-15-de-24-de-abril-de-2024-556243024
Regulamento de Comunicação de Incidente de Segurança. Link oficial identificado, texto integral não recuperado. Prazos, exceções e enquadramento devem ser confirmados por jurídico; não se replica indiscriminadamente a regra de 3 dias do v1.,Não é auditoria de vulnerabilidades. repository.ts usa banco ai_secretary, coleção assistant_agent_config e documento active. Perfil multi-clínica não é apenas um cadastro extra: requer arquitetura ou instâncias isoladas e prova. Não afirmar que consentimento global basta. Crianças/adolescentes, bases legais e prazos ANPD são questões jurídicas. O piloto adulto reduz escopo, não elimina LGPD. Referências normativas identificadas; texto integral não recuperado pelas ferramentas. Nenhum certificado ou claim de conformidade é emitido.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R$1.140/mês precisa comprar mais de R$1.140 de valor verificável.,Análise preparada em 14 de outubro de 2026. Apresentação para fundadores. Valores de cenários, metas e esforço não são dados reais da Oria.,S4 | Feegow — Preços e Planos | Página e captura em 14/10/2026
https://feegowclinic.com.br/precos-e-planos
Starter R$129, Plus R$199, VIP R$249 por profissional/mês; personalizado para 10 ou mais profissionais. VIP menciona Noa Notes e integração com prontuário. Preços exibidos, sujeitos a termos comerciais; não equivalem funcionalmente a uma secretária administrativa autônoma.,800 × (0,35 − 0,30) = 40 novos agendamentos; 40 × 0,80 = 32 consultas realizadas; 32 × 150 = R$4.800 de contribuição incremental. Canal de R$150 é orçamento hipotético, não tarifa observada. Custo: 990 + 150 = 1.140; saldo: 4.800 − 1.140 = 3.660; benefício/custo: 4,2105. Margem de contribuição é a receita menos custo variável clínico pertinente; não usar o valor cheio da consulta. Pode haver nenhum ganho ou ganho negativo: causalidade demanda desenho experimental. Não incluir economia de horas como caixa sem redução efetiva de despesa.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O resultado é muito sensível à capacidade, comparecimento e margem.,Análise preparada em 14 de outubro de 2026. Apresentação para fundadores. Valores de cenários, metas e esforço não são dados reais da Oria.,Sensibilidade mantém 800 contatos elegíveis, 80% de comparecimento, R$150 de contribuição e R$1.140 de custo. Break-even: 1.140 / (800 × 0,8 × 150) = 1,1875 ponto percentual. Valores esperados podem ser fracionários; contagens observadas são inteiras. Cenário separado de faltas: 600 × (0,15 − 0,11) = 24; 24 × 150 = R$3.600. Capacidade: 600 × 3 min × 0,5 / 60 = 15 horas; 15 × 30 = R$450. Não adicionar R$3.600 a R$4.800 sem identificar coortes/agendamentos distintos. Comparecimento de 80% e faltas de 11% são cenários separados, não uma mesma população. Nenhum percentual é claim de produto.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Teste uma oferta de clínica. Não quatro planos antes de aprender.,Análise preparada em 14 de outubro de 2026. Apresentação para fundadores. Valores de cenários, metas e esforço não são dados reais da Oria.,D1 | Documento de partida — v1.md | Documento local; lido em 14/10/2026
Tese, checklist e hipóteses. Não contém walkthrough do MVP, bibliografia recuperável nem validação comercial.,S4 | Feegow — Preços e Planos | Página e captura em 14/10/2026
https://feegowclinic.com.br/precos-e-planos
Starter R$129, Plus R$199, VIP R$249 por profissional/mês; personalizado para 10 ou mais profissionais. VIP menciona Noa Notes e integração com prontuário. Preços exibidos, sujeitos a termos comerciais; não equivalem funcionalmente a uma secretária administrativa autônoma.,S9 | WhatsApp — preços da plataforma | Página consultada em 14/10/2026
https://whatsappbusiness.com/pt-br/products/platform-pricing/
Janela de atendimento de 24h reiniciada por mensagem do usuário; mensagens de serviço nela não são cobradas pela Meta. Templates, categorias e provedor precisam ser modelados. Não se estabelece uma tarifa brasileira específica nesta análise.,Preço de R$990 é a hipótese central. A faixa Clinic de R$799–1.490 do v1 pode informar entrevistas, não servir como evidência de mercado. Separar configuração e consumo do canal. Repasse a custo não é ARR de produto. Se incluir franquia, não cobrar duplamente. Teste pequeno de R$790/990/1.490 serve para preferência qualitativa e aceite de proposta, não elasticidade estatística. Design partners podem ter setup isento, mas conversão paga também deve ser testada. Multiunidade e enterprise ficam adiados.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A margem precisa sobreviver a mensagens, retries e suporte humano.,Análise preparada em 14 de outubro de 2026. Apresentação para fundadores. Valores de cenários, metas e esforço não são dados reais da Oria.,S9 | WhatsApp — preços da plataforma | Página consultada em 14/10/2026
https://whatsappbusiness.com/pt-br/products/platform-pricing/
Janela de atendimento de 24h reiniciada por mensagem do usuário; mensagens de serviço nela não são cobradas pela Meta. Templates, categorias e provedor precisam ser modelados. Não se estabelece uma tarifa brasileira específica nesta análise.,S10 | Microsoft Learn — Advanced Messaging pricing | Atualizado em 23/09/2026; acesso 14/10/2026
https://learn.microsoft.com/en-us/azure/communication-services/concepts/advanced-messaging/whatsapp/pricing
ACS cobra US$0,005 por mensagem inbound e outbound, além das tarifas do canal. WhatsApp passou a tarifar templates por mensagem em 01/07/2025; utility dentro da janela aberta passa a ser gratuito. Taxa ACS só se aplica se o produto usar esse provedor. A página traz aviso de mudanças/retiradas de serviços; não é recomendação de arquitetura.,Assinatura 990 + repasse 150 = fatura 1.140. Custos: canal 150 + modelos 40 + infraestrutura 40 + suporte 100 = 330; margem bruta 810; 810 / 1.140 = 71,0526%. SaaS sem repasse: 810 / 990 = 81,818%. Stress com suporte 290: custos = 520; margem bruta = 620; 620 / 1.140 = 54,38596%. Impostos, CAC, vendas e despesas fixas excluídos. Não se afirma custo LLM de R$40 medido. Exemplo ACS de US$0,005 por mensagem só vale usando ACS, não é custo obrigatório da Oria. 2.000 × 0,005 = US$10 antes do canal está correto para ACS, mas incompleto. A página atual tem alerta de mudanças/retiradas de serviços; não se recomenda migração só por preço.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Há caminho para receita relevante. Isso ainda não é um TAM validado.,Análise preparada em 14 de outubro de 2026. Apresentação para fundadores. Valores de cenários, metas e esforço não são dados reais da Oria.,ARR = N × 990 × 12. Para 500 clínicas: R$5.940.000; 2.000: R$23.760.000; 10.000: R$118.800.000; 100: R$1.188.000. Três clientes geram MRR de R$2.970. Esses números de clínicas não são estimativas verificadas de SAM nem projeções de vendas. Extrair elegíveis no CNES e validar orçamento antes de usar um total de mercado. Modelo pode sustentar SaaS vertical, mas escala de venture capital depende de expansão multiunidade, canais, custos baixos e mercado elegível suficiente. Nenhuma valuation é sugerida.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O canal inicial é o fundador. O funil inicial cabe numa planilha.,Análise preparada em 14 de outubro de 2026. Apresentação para fundadores. Valores de cenários, metas e esforço não são dados reais da Oria.,Funil 50 → 15 → 8 → 5 → 3 é meta de planejamento. Evidências de entrevista devem ser sintéticas ou anonimizadas com autorização; não copiar dados pessoais para a apresentação. Perguntar volume, horário de pico, fricções, custo marginal, faltas, agenda oficial, decisor, orçamento, integração e critérios de aprovação. Canais do fundador: relações locais, indicações de clientes e consultorias de gestão clínica. Não construir revenda antes de entender onboarding repetível.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28: 90 dias para validar a cadeia. Não para construir uma plataforma inteira.,Análise preparada em 14 de outubro de 2026. Apresentação para fundadores. Valores de cenários, metas e esforço não são dados reais da Oria.,Dias contados a partir do início do projeto, não datas fixas. Baseline de 14 dias é recomendação prática, não controle suficiente de sazonalidade. Shadow mode: modelo propõe, recepção aprova; autonomia só após critérios de aceite. Início de cobrança no D36 + 90 dias de retenção = D126 do projeto. Revisão semanal de coortes, custos, incidentes e configuração. Gates técnicos/jurídicos podem alterar cronograma: reestimar, não contornar.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29: Cinco pilotos geram aprendizado. Uma amostra maior sustenta as promessas.,Análise preparada em 14 de outubro de 2026. Apresentação para fundadores. Valores de cenários, metas e esforço não são dados reais da Oria.,Aproximação para duas proporções: p1=0,30; p2=0,35; média=0,325; Zα/2=1,959964; Zβ=0,841621. Por grupo: n = [1,959964√(2×0,325×0,675) + 0,841621√(0,3×0,7 + 0,35×0,65)]² / 0,05² = 1.376,3. Arredondando cada grupo para 1.377: total de 2.754, apresentado como aproximadamente 2.800. Supõe independência e equilíbrio; não há ajuste de cluster. Pacientes repetidos, clínicas e tempo podem exigir amostra maior e revisão de analista. Cinco pilotos geram aprendizado mesmo sem poder estatístico. Regra de três: limite superior de 95% ≈ 3/600 = 0,5% com zero erros; aproximação, não certificação. Metas de 50% de automação, 10% de retrabalho e 90% de handoff são hipóteses, não benchmarks. Não automatizar casos clínicos para obter amostra.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30: A decisão de continuar deve ser definida antes de ver os resultados.,Análise preparada em 14 de outubro de 2026. Apresentação para fundadores. Valores de cenários, metas e esforço não são dados reais da Oria.,Todos os limiares são propostos. Qualquer incidente grave ou mistura de dados pausa a autonomia imediatamente; não calcular uma média que neutralize isso. Margem desejada deve ser confirmada após custo observado. Três pagamentos em cinco pilotos = 60%, mas com enorme incerteza; não representa PMF. Se escalar requer arquitetura multi-clínica não demonstrada, planejar sprint distinto com provas de isolamento.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31: O trabalho desta semana é obter acesso, baseline e compromisso.,Análise preparada em 14 de outubro de 2026. Apresentação para fundadores. Valores de cenários, metas e esforço não são dados reais da Oria.,D1–2: diagnosticar carregamento devido ao walkthrough visual secundário incompleto; não concluir causa. O plano não declara que as alterações foram implementadas. Acesso à linha de base exige autorização e minimização, preferindo agregados sem identificação. Responsabilidades jurídicas/clínicas precisam de aprovação de escopo. Um decisor de uma clínica não prova distribuição; medir replicabilidade nos clientes seguintes.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32: Menos produto novo. Mais prova de valor.,Análise preparada em 14 de outubro de 2026. Apresentação para fundadores. Valores de cenários, metas e esforço não são dados reais da Oria.,Resumo: pontos fortes do produto existente justificam testar um piloto pago. Correções mínimas são workflow, mensuração, onboarding e confiança, não uma plataforma clínica completa. Um nicho validado e distribuição repetível podem criar SaaS vertical relevante. Não há promessa de lucro ou eficácia.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33: Apêndice / premissas e fórmulas,Análise preparada em 14 de outubro de 2026. Apresentação para fundadores. Valores de cenários, metas e esforço não são dados reais da Oria.,Valores fracionários de consultas na sensibilidade correspondem à expectativa matemática, não à contagem observada. Margem bruta antes de impostos não significa lucro; custos de modelos/suporte e margens clínicas ainda não foram medidos. Detectar ganho de cinco pontos percentuais requer aproximadamente 2.800 observações independentes sob a fórmula descrita; isso não prova demanda ou PMF. Tratamento de dados deve ter finalidade e base legal aprovadas.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34: Apêndice / “pronto” precisa ser testável,Análise preparada em 14 de outubro de 2026. Apresentação para fundadores. Valores de cenários, metas e esforço não são dados reais da Oria.,C1 | Código — arquitetura e ferramentas | Repositório local, 14/10/2026
platform\README.md; platform\src\lib\assistant\README.md; tools\registry.ts; calendar-definitions.ts; customer-definitions.ts; payment-definitions.ts. Agenda tem find_slots, hold, book e reschedule; não há calendar.cancel no registro consultado. Há validação de servidor, auditoria e testes no código; testes não foram executados para esta apresentação.,C2 | Código — configuração ativa e follow-up | Repositório local, 14/10/2026
platform\src\lib\assistant\agent\repository.ts: configuração active na coleção assistant_agent_config, banco ai_secretary. contracts.ts e defaults.ts: perfil, regras, políticas e planos. README: follow-up limitado à janela WhatsApp de 24h. Isso não constitui validação completa de isolamento ou de segurança.,Conector externo: estimativa separada e condicional de 5–10 dias se houver API compatível. Trabalho de multi-tenant compartilhado não estimado nem incluído. Validar produção com dados sintéticos ou consentidos. Não executar ações autônomas silenciosas antes dos gates. Nenhum arquivo do produto foi editado: o escopo entregue é esta apresentação.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35: Apêndice / mapa de players do v1,Análise preparada em 14 de outubro de 2026. Apresentação para fundadores. Valores de cenários, metas e esforço não são dados reais da Oria.,D1 | Documento de partida — v1.md | Documento local; lido em 14/10/2026
Tese, checklist e hipóteses. Não contém walkthrough do MVP, bibliografia recuperável nem validação comercial.,S4 | Feegow — Preços e Planos | Página e captura em 14/10/2026
https://feegowclinic.com.br/precos-e-planos
Starter R$129, Plus R$199, VIP R$249 por profissional/mês; personalizado para 10 ou mais profissionais. VIP menciona Noa Notes e integração com prontuário. Preços exibidos, sujeitos a termos comerciais; não equivalem funcionalmente a uma secretária administrativa autônoma.,S6 | Hyro — comunicado de financiamento | 21/10/2025; acesso 14/10/2026
https://www.prnewswire.com/news-releases/hyro-raises-45m-strategic-growth-round-to-accelerate-ai-agent-adoption-in-healthcare-302589268.html
Comunicado do fornecedor: US$45 milhões na rodada; US$95 milhões totais; 45+ sistemas de saúde; 30+ milhões de pacientes; até 85% de resolução de interações rotineiras. Não é benchmark independente nem resultado transportável à Oria.,S8 | Abridge — site e posicionamento atuais | Página e captura em 14/10/2026
https://www.abridge.com/
Claims atuais do site: 300+ health systems e 100M+ conversas por ano. Plataforma expande antes, durante e depois do atendimento, com documentação, codificação e follow-up. Não descrever como ferramenta exclusivamente de notas nem misturar estes dados com a Série E de 2025.,Players do documento são referências históricas; marcas, aquisições, produtos e disponibilidade precisam ser verificados antes de contratação. S8 atualiza as adjacências de Abridge. Categorias se sobrepõem. HealthScribe é infraestrutura, não produto com exatamente o mesmo comprador. Preço público atual validado apenas para Feegow entre as alternativas locais. Comunicados primários de Nabla/Hyro não são tabelas de preços. Benefícios podem ser claims de fornecedor, não estudos independentes.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36: Fontes / mercado e comparação brasileira,Análise preparada em 14 de outubro de 2026. Apresentação para fundadores. Valores de cenários, metas e esforço não são dados reais da Oria.,S1 https://www.nic.br/noticia/releases/estabelecimentos-de-saude-brasileiros-avancam-na-digitalizacao-mas-habilidade-em-informatica-aplicada-a-area-ainda-e-reduzida-entre-os-profissionais-do-setor-revela-pesquisa/
11/10/2024; acessado em 14/10/2026
92% dos estabelecimentos têm sistema eletrônico; cerca de 4% usam IA; entre não adotantes: 61% não priorizam, 59% não veem necessidade, 49% acham caro. Cerca de 1/3 oferece serviços online. Entrevistas fev–ago/2024: 2.057 gestores e 2.021 profissionais. Indicadores nacionais, não amostra específica do ICP da Oria.
S2 https://fm.usp.br/fmusp/noticias/ministerio-da-saude-fmusp-e-amb-lancam-a-demografia-medica-no-brasil-2025
Divulgação em 2025; base dezembro/2024; acesso 14/10/2026
353.287 especialistas, 59,1% dos médicos registrados; 244.141 generalistas, 40,9%. Soma 597.428. Não equivale a clínicas compradoras nem ao universo privado elegível. Não se usa a projeção de 635.706 como contagem observada.
S3 https://www.gov.br/ans/pt-br/acesso-a-informacao/perfil-do-setor/dados-gerais
Competência junho/2026; atualização até agosto/2026; acesso 14/10/2026
53.055.406 beneficiários/vínculos em assistência médica com ou sem odontologia. Dezembro/2024: 51.948.315. Vínculos, não pessoas únicas necessariamente; não são compradores da Oria.
S4 https://feegowclinic.com.br/precos-e-planos
Página e captura em 14/10/2026
Starter R$129, Plus R$199, VIP R$249 por profissional/mês; personalizado para 10 ou mais profissionais. VIP menciona Noa Notes e integração com prontuário. Preços exibidos, sujeitos a termos comerciais; não equivalem funcionalmente a uma secretária administrativa autônoma.
S5 https://feegowclinic.com.br/
Página observada em 14/10/2026
Claims do fornecedor: +14 mil profissionais, +20 milhões de pacientes ativos, +14 milhões de agendamentos nos últimos 12 meses, +1 mil unidades. Não são estimativas de TAM.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37: Fontes / produto, plataformas e limites,Análise preparada em 14 de outubro de 2026. Apresentação para fundadores. Valores de cenários, metas e esforço não são dados reais da Oria.,S6 https://www.prnewswire.com/news-releases/hyro-raises-45m-strategic-growth-round-to-accelerate-ai-agent-adoption-in-healthcare-302589268.html
21/10/2025; acesso 14/10/2026
Comunicado do fornecedor: US$45 milhões na rodada; US$95 milhões totais; 45+ sistemas de saúde; 30+ milhões de pacientes; até 85% de resolução de interações rotineiras. Não é benchmark independente nem resultado transportável à Oria.
S7 https://www.prnewswire.com/news-releases/nabla-raises-70m-series-c-to-deliver-agentic-ai-to-the-heart-of-clinical-workflows-bringing-total-funding-to-120m-302483646.html
Junho/2025; acesso 14/10/2026
US$70 milhões de Série C; US$120 milhões totais; 85 mil+ clínicos e 130+ organizações no comunicado. Contexto de documentação e workflow clínico, não preço brasileiro.
S8 https://www.abridge.com/
Página e captura em 14/10/2026
Claims atuais do site: 300+ health systems e 100M+ conversas por ano. Plataforma expande antes, durante e depois do atendimento, com documentação, codificação e follow-up. Não descrever como ferramenta exclusivamente de notas nem misturar estes dados com a Série E de 2025.
S9 https://whatsappbusiness.com/pt-br/products/platform-pricing/
Página consultada em 14/10/2026
Janela de atendimento de 24h reiniciada por mensagem do usuário; mensagens de serviço nela não são cobradas pela Meta. Templates, categorias e provedor precisam ser modelados. Não se estabelece uma tarifa brasileira específica nesta análise.
S10 https://learn.microsoft.com/en-us/azure/communication-services/concepts/advanced-messaging/whatsapp/pricing
Atualizado em 23/09/2026; acesso 14/10/2026
ACS cobra US$0,005 por mensagem inbound e outbound, além das tarifas do canal. WhatsApp passou a tarifar templates por mensagem em 01/07/2025; utility dentro da janela aberta passa a ser gratuito. Taxa ACS só se aplica se o produto usar esse provedor. A página traz aviso de mudanças/retiradas de serviços; não é recomendação de arquitetura.
D1 | Documento de partida — v1.md
Tese, checklist e hipóteses. Não contém walkthrough do MVP, bibliografia recuperável nem validação comercial.
O1 | Oria — dashboard autenticado
https://ai-secretary-draft.vercel.app/dashboard
Filtro de 30 dias: 17 novos pacientes; 4/17 em agenda; 24% arredondado; 2 aguardando equipe; mediana &lt;1 min; alerta de 10 mensagens após encerramento. Dados da conta, não resultados auditados de um piloto.
O2 | Oria — API autenticada do Agent Studio
https://ai-secretary-draft.vercel.app/api/assistant/studio
HTTP 200; agente habilitado; 7 ferramentas habilitadas; 1 plano; 2 tipos de evento agendáveis; 9 regras de coleta; política de handoff presente. Não foram executadas mutações, pagamentos ou mensagens a pacientes.
C1 | Código — arquitetura e ferramentas
platform\README.md; platform\src\lib\assistant\README.md; tools\registry.ts; calendar-definitions.ts; customer-definitions.ts; payment-definitions.ts. Agenda tem find_slots, hold, book e reschedule; não há calendar.cancel no registro consultado. Há validação de servidor, auditoria e testes no código; testes não foram executados para esta apresentação.
C2 | Código — configuração ativa e follow-up
platform\src\lib\assistant\agent\repository.ts: configuração active na coleção assistant_agent_config, banco ai_secretary. contracts.ts e defaults.ts: perfil, regras, políticas e planos. README: follow-up limitado à janela WhatsApp de 24h. Isso não constitui validação completa de isolamento ou de segurança.
L1 | LGPD — Lei 13.709/2018
https://normas.leg.br/?urn=urn:lex:br:federal:lei:2018-08-14;13709
Revisar bases legais, finalidade, minimização, direitos, contratos e transferências. Não se promete conformidade certificada. Texto completo não foi extraído com sucesso pelas ferramentas; a apresentação não substitui consulta jurídica.
L2 | ANPD — Resolução 15/2024
https://www.in.gov.br/en/web/dou/-/resolucao-cd/anpd-n-15-de-24-de-abril-de-2024-556243024
Regulamento de Comunicação de Incidente de Segurança. Link oficial identificado, texto integral não recuperado. Prazos, exceções e enquadramento devem ser confirmados por jurídico; não se replica indiscriminadamente a regra de 3 dias do v1.
Limites: site iClinic e outras páginas não permitiram validação de preço; não inferimos tarifas. Numerais de CNES/WhatsApp estimados por busca sem documento verificável foram descartados. Sazonalidade, poder de teste clusterizado, retenção90dias e LGPD requerem trabalho adicional. Capturas não incluem nome, telefone, CPF, e-mail, histórico ou mensagem identificável de paciente. Nenhuma credencial foi inserida no PPTX.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CFAF6"/>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1.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hyperlink" Target="https://www.nic.br/noticia/releases/estabelecimentos-de-saude-brasileiros-avancam-na-digitalizacao-mas-habilidade-em-informatica-aplicada-a-area-ainda-e-reduzida-entre-os-profissionais-do-setor-revela-pesquisa/" TargetMode="External"/><Relationship Id="rId3" Type="http://schemas.openxmlformats.org/officeDocument/2006/relationships/hyperlink" Target="https://fm.usp.br/fmusp/noticias/ministerio-da-saude-fmusp-e-amb-lancam-a-demografia-medica-no-brasil-2025" TargetMode="External"/><Relationship Id="rId4" Type="http://schemas.openxmlformats.org/officeDocument/2006/relationships/hyperlink" Target="https://www.gov.br/ans/pt-br/acesso-a-informacao/perfil-do-setor/dados-gerais" TargetMode="External"/><Relationship Id="rId5" Type="http://schemas.openxmlformats.org/officeDocument/2006/relationships/hyperlink" Target="https://feegowclinic.com.br/precos-e-planos" TargetMode="External"/><Relationship Id="rId6" Type="http://schemas.openxmlformats.org/officeDocument/2006/relationships/hyperlink" Target="https://feegowclinic.com.br/" TargetMode="External"/><Relationship Id="rId1" Type="http://schemas.openxmlformats.org/officeDocument/2006/relationships/image" Target="../media/image-36-1.png"/><Relationship Id="rId7" Type="http://schemas.openxmlformats.org/officeDocument/2006/relationships/slideLayout" Target="../slideLayouts/slideLayout2.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2" Type="http://schemas.openxmlformats.org/officeDocument/2006/relationships/hyperlink" Target="https://www.prnewswire.com/news-releases/hyro-raises-45m-strategic-growth-round-to-accelerate-ai-agent-adoption-in-healthcare-302589268.html" TargetMode="External"/><Relationship Id="rId3" Type="http://schemas.openxmlformats.org/officeDocument/2006/relationships/hyperlink" Target="https://www.prnewswire.com/news-releases/nabla-raises-70m-series-c-to-deliver-agentic-ai-to-the-heart-of-clinical-workflows-bringing-total-funding-to-120m-302483646.html" TargetMode="External"/><Relationship Id="rId4" Type="http://schemas.openxmlformats.org/officeDocument/2006/relationships/hyperlink" Target="https://www.abridge.com/" TargetMode="External"/><Relationship Id="rId5" Type="http://schemas.openxmlformats.org/officeDocument/2006/relationships/hyperlink" Target="https://whatsappbusiness.com/pt-br/products/platform-pricing/" TargetMode="External"/><Relationship Id="rId6" Type="http://schemas.openxmlformats.org/officeDocument/2006/relationships/hyperlink" Target="https://learn.microsoft.com/en-us/azure/communication-services/concepts/advanced-messaging/whatsapp/pricing" TargetMode="External"/><Relationship Id="rId1" Type="http://schemas.openxmlformats.org/officeDocument/2006/relationships/image" Target="../media/image-37-1.png"/><Relationship Id="rId7" Type="http://schemas.openxmlformats.org/officeDocument/2006/relationships/slideLayout" Target="../slideLayouts/slideLayout2.xml"/><Relationship Id="rId8"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430"/>
        </a:solidFill>
      </p:bgPr>
    </p:bg>
    <p:spTree>
      <p:nvGrpSpPr>
        <p:cNvPr id="1" name=""/>
        <p:cNvGrpSpPr/>
        <p:nvPr/>
      </p:nvGrpSpPr>
      <p:grpSpPr>
        <a:xfrm>
          <a:off x="0" y="0"/>
          <a:ext cx="0" cy="0"/>
          <a:chOff x="0" y="0"/>
          <a:chExt cx="0" cy="0"/>
        </a:xfrm>
      </p:grpSpPr>
      <p:pic>
        <p:nvPicPr>
          <p:cNvPr id="2" name="Image 0" descr="C:\Users\lvecchi\.copilot\session-state\f4c612c3-5b8b-4a56-8f7e-a421bea8a771\files\oria-deck\assets\logo-light.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FCFAF6"/>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A7C7B9"/>
                </a:solidFill>
                <a:latin typeface="Aptos Display" pitchFamily="34" charset="0"/>
                <a:ea typeface="Aptos Display" pitchFamily="34" charset="-122"/>
                <a:cs typeface="Aptos Display" pitchFamily="34" charset="-120"/>
              </a:rPr>
              <a:t>ESTRATÉGIA DE FUNDADORES | BRASIL | 90 DIAS</a:t>
            </a:r>
            <a:endParaRPr lang="en-US" sz="900" dirty="0"/>
          </a:p>
        </p:txBody>
      </p:sp>
      <p:sp>
        <p:nvSpPr>
          <p:cNvPr id="5" name="Text 2"/>
          <p:cNvSpPr/>
          <p:nvPr/>
        </p:nvSpPr>
        <p:spPr>
          <a:xfrm>
            <a:off x="502920" y="822960"/>
            <a:ext cx="11018520" cy="1353312"/>
          </a:xfrm>
          <a:prstGeom prst="rect">
            <a:avLst/>
          </a:prstGeom>
          <a:noFill/>
          <a:ln/>
        </p:spPr>
        <p:txBody>
          <a:bodyPr wrap="square" lIns="0" tIns="0" rIns="0" bIns="0" rtlCol="0" anchor="t">
            <a:normAutofit/>
          </a:bodyPr>
          <a:lstStyle/>
          <a:p>
            <a:pPr indent="0" marL="0">
              <a:buNone/>
            </a:pPr>
            <a:r>
              <a:rPr lang="en-US" sz="4300" b="1" dirty="0">
                <a:solidFill>
                  <a:srgbClr val="FCFAF6"/>
                </a:solidFill>
                <a:latin typeface="Aptos Display" pitchFamily="34" charset="0"/>
                <a:ea typeface="Aptos Display" pitchFamily="34" charset="-122"/>
                <a:cs typeface="Aptos Display" pitchFamily="34" charset="-120"/>
              </a:rPr>
              <a:t>Do produto à</a:t>
            </a:r>
            <a:endParaRPr lang="en-US" sz="4300" dirty="0"/>
          </a:p>
          <a:p>
            <a:pPr indent="0" marL="0">
              <a:buNone/>
            </a:pPr>
            <a:r>
              <a:rPr lang="en-US" sz="4300" b="1" dirty="0">
                <a:solidFill>
                  <a:srgbClr val="FCFAF6"/>
                </a:solidFill>
                <a:latin typeface="Aptos Display" pitchFamily="34" charset="0"/>
                <a:ea typeface="Aptos Display" pitchFamily="34" charset="-122"/>
                <a:cs typeface="Aptos Display" pitchFamily="34" charset="-120"/>
              </a:rPr>
              <a:t>startup relevante</a:t>
            </a:r>
            <a:endParaRPr lang="en-US" sz="4300" dirty="0"/>
          </a:p>
        </p:txBody>
      </p:sp>
      <p:sp>
        <p:nvSpPr>
          <p:cNvPr id="6" name="Shape 3"/>
          <p:cNvSpPr/>
          <p:nvPr/>
        </p:nvSpPr>
        <p:spPr>
          <a:xfrm>
            <a:off x="502920" y="6345936"/>
            <a:ext cx="11146536" cy="0"/>
          </a:xfrm>
          <a:prstGeom prst="line">
            <a:avLst/>
          </a:prstGeom>
          <a:noFill/>
          <a:ln w="7620">
            <a:solidFill>
              <a:srgbClr val="31534B"/>
            </a:solidFill>
            <a:prstDash val="solid"/>
          </a:ln>
        </p:spPr>
      </p:sp>
      <p:sp>
        <p:nvSpPr>
          <p:cNvPr id="7" name="Text 4"/>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A7C7B9"/>
                </a:solidFill>
                <a:latin typeface="Aptos" pitchFamily="34" charset="0"/>
                <a:ea typeface="Aptos" pitchFamily="34" charset="-122"/>
                <a:cs typeface="Aptos" pitchFamily="34" charset="-120"/>
              </a:rPr>
              <a:t>Análise Oria · hipóteses e metas explicitadas · 14/10/2026</a:t>
            </a:r>
            <a:endParaRPr lang="en-US" sz="720" dirty="0"/>
          </a:p>
        </p:txBody>
      </p:sp>
      <p:pic>
        <p:nvPicPr>
          <p:cNvPr id="8" name="Image 1" descr="C:\Users\lvecchi\.copilot\session-state\f4c612c3-5b8b-4a56-8f7e-a421bea8a771\files\oria-deck\assets\logo-light.png">    </p:cNvPr>
          <p:cNvPicPr>
            <a:picLocks noChangeAspect="1"/>
          </p:cNvPicPr>
          <p:nvPr/>
        </p:nvPicPr>
        <p:blipFill>
          <a:blip r:embed="rId2"/>
          <a:stretch>
            <a:fillRect/>
          </a:stretch>
        </p:blipFill>
        <p:spPr>
          <a:xfrm>
            <a:off x="539496" y="2386584"/>
            <a:ext cx="658368" cy="658368"/>
          </a:xfrm>
          <a:prstGeom prst="rect">
            <a:avLst/>
          </a:prstGeom>
        </p:spPr>
      </p:pic>
      <p:sp>
        <p:nvSpPr>
          <p:cNvPr id="9" name="Text 5"/>
          <p:cNvSpPr/>
          <p:nvPr/>
        </p:nvSpPr>
        <p:spPr>
          <a:xfrm>
            <a:off x="1271016" y="2382012"/>
            <a:ext cx="1463040" cy="658368"/>
          </a:xfrm>
          <a:prstGeom prst="rect">
            <a:avLst/>
          </a:prstGeom>
          <a:noFill/>
          <a:ln/>
        </p:spPr>
        <p:txBody>
          <a:bodyPr wrap="square" lIns="0" tIns="0" rIns="0" bIns="0" rtlCol="0" anchor="t">
            <a:normAutofit/>
          </a:bodyPr>
          <a:lstStyle/>
          <a:p>
            <a:pPr indent="0" marL="0">
              <a:buNone/>
            </a:pPr>
            <a:r>
              <a:rPr lang="en-US" sz="3200" b="1" dirty="0">
                <a:solidFill>
                  <a:srgbClr val="FCFAF6"/>
                </a:solidFill>
                <a:latin typeface="Aptos Display" pitchFamily="34" charset="0"/>
                <a:ea typeface="Aptos Display" pitchFamily="34" charset="-122"/>
                <a:cs typeface="Aptos Display" pitchFamily="34" charset="-120"/>
              </a:rPr>
              <a:t>Oria</a:t>
            </a:r>
            <a:endParaRPr lang="en-US" sz="3200" dirty="0"/>
          </a:p>
        </p:txBody>
      </p:sp>
      <p:sp>
        <p:nvSpPr>
          <p:cNvPr id="10" name="Text 6"/>
          <p:cNvSpPr/>
          <p:nvPr/>
        </p:nvSpPr>
        <p:spPr>
          <a:xfrm>
            <a:off x="576072" y="3355848"/>
            <a:ext cx="5550408" cy="1124712"/>
          </a:xfrm>
          <a:prstGeom prst="rect">
            <a:avLst/>
          </a:prstGeom>
          <a:noFill/>
          <a:ln/>
        </p:spPr>
        <p:txBody>
          <a:bodyPr wrap="square" lIns="0" tIns="0" rIns="0" bIns="0" rtlCol="0" anchor="t">
            <a:normAutofit/>
          </a:bodyPr>
          <a:lstStyle/>
          <a:p>
            <a:pPr indent="0" marL="0">
              <a:buNone/>
            </a:pPr>
            <a:r>
              <a:rPr lang="en-US" sz="2300" dirty="0">
                <a:solidFill>
                  <a:srgbClr val="FCFAF6"/>
                </a:solidFill>
                <a:latin typeface="Aptos" pitchFamily="34" charset="0"/>
                <a:ea typeface="Aptos" pitchFamily="34" charset="-122"/>
                <a:cs typeface="Aptos" pitchFamily="34" charset="-120"/>
              </a:rPr>
              <a:t>Uma secretária administrativa que</a:t>
            </a:r>
            <a:endParaRPr lang="en-US" sz="2300" dirty="0"/>
          </a:p>
          <a:p>
            <a:pPr indent="0" marL="0">
              <a:buNone/>
            </a:pPr>
            <a:r>
              <a:rPr lang="en-US" sz="2300" dirty="0">
                <a:solidFill>
                  <a:srgbClr val="FCFAF6"/>
                </a:solidFill>
                <a:latin typeface="Aptos" pitchFamily="34" charset="0"/>
                <a:ea typeface="Aptos" pitchFamily="34" charset="-122"/>
                <a:cs typeface="Aptos" pitchFamily="34" charset="-120"/>
              </a:rPr>
              <a:t>transforma mensagens em agenda —</a:t>
            </a:r>
            <a:endParaRPr lang="en-US" sz="2300" dirty="0"/>
          </a:p>
          <a:p>
            <a:pPr indent="0" marL="0">
              <a:buNone/>
            </a:pPr>
            <a:r>
              <a:rPr lang="en-US" sz="2300" dirty="0">
                <a:solidFill>
                  <a:srgbClr val="FCFAF6"/>
                </a:solidFill>
                <a:latin typeface="Aptos" pitchFamily="34" charset="0"/>
                <a:ea typeface="Aptos" pitchFamily="34" charset="-122"/>
                <a:cs typeface="Aptos" pitchFamily="34" charset="-120"/>
              </a:rPr>
              <a:t>e prova o valor entregue.</a:t>
            </a:r>
            <a:endParaRPr lang="en-US" sz="2300" dirty="0"/>
          </a:p>
        </p:txBody>
      </p:sp>
      <p:sp>
        <p:nvSpPr>
          <p:cNvPr id="11" name="Shape 7"/>
          <p:cNvSpPr/>
          <p:nvPr/>
        </p:nvSpPr>
        <p:spPr>
          <a:xfrm>
            <a:off x="585216" y="4837176"/>
            <a:ext cx="2834640" cy="256032"/>
          </a:xfrm>
          <a:prstGeom prst="roundRect">
            <a:avLst>
              <a:gd name="adj" fmla="val 42857"/>
            </a:avLst>
          </a:prstGeom>
          <a:solidFill>
            <a:srgbClr val="E7F2EC"/>
          </a:solidFill>
          <a:ln w="8890">
            <a:solidFill>
              <a:srgbClr val="E7F2EC"/>
            </a:solidFill>
            <a:prstDash val="solid"/>
          </a:ln>
        </p:spPr>
      </p:sp>
      <p:sp>
        <p:nvSpPr>
          <p:cNvPr id="12" name="Text 8"/>
          <p:cNvSpPr/>
          <p:nvPr/>
        </p:nvSpPr>
        <p:spPr>
          <a:xfrm>
            <a:off x="676656" y="4869180"/>
            <a:ext cx="2651760" cy="155448"/>
          </a:xfrm>
          <a:prstGeom prst="rect">
            <a:avLst/>
          </a:prstGeom>
          <a:noFill/>
          <a:ln/>
        </p:spPr>
        <p:txBody>
          <a:bodyPr wrap="square" lIns="0" tIns="0" rIns="0" bIns="0" rtlCol="0" anchor="t">
            <a:normAutofit/>
          </a:bodyPr>
          <a:lstStyle/>
          <a:p>
            <a:pPr indent="0" marL="0">
              <a:buNone/>
            </a:pPr>
            <a:r>
              <a:rPr lang="en-US" sz="850" b="1" dirty="0">
                <a:solidFill>
                  <a:srgbClr val="0F766E"/>
                </a:solidFill>
                <a:latin typeface="Aptos Display" pitchFamily="34" charset="0"/>
                <a:ea typeface="Aptos Display" pitchFamily="34" charset="-122"/>
                <a:cs typeface="Aptos Display" pitchFamily="34" charset="-120"/>
              </a:rPr>
              <a:t>ANÁLISE + PRODUTO + PLANO</a:t>
            </a:r>
            <a:endParaRPr lang="en-US" sz="850" dirty="0"/>
          </a:p>
        </p:txBody>
      </p:sp>
      <p:sp>
        <p:nvSpPr>
          <p:cNvPr id="13" name="Text 9"/>
          <p:cNvSpPr/>
          <p:nvPr/>
        </p:nvSpPr>
        <p:spPr>
          <a:xfrm>
            <a:off x="594360" y="5385816"/>
            <a:ext cx="5394960" cy="521208"/>
          </a:xfrm>
          <a:prstGeom prst="rect">
            <a:avLst/>
          </a:prstGeom>
          <a:noFill/>
          <a:ln/>
        </p:spPr>
        <p:txBody>
          <a:bodyPr wrap="square" lIns="0" tIns="0" rIns="0" bIns="0" rtlCol="0" anchor="t">
            <a:normAutofit/>
          </a:bodyPr>
          <a:lstStyle/>
          <a:p>
            <a:pPr indent="0" marL="0">
              <a:buNone/>
            </a:pPr>
            <a:r>
              <a:rPr lang="en-US" sz="1200" dirty="0">
                <a:solidFill>
                  <a:srgbClr val="BCD1C7"/>
                </a:solidFill>
                <a:latin typeface="Aptos" pitchFamily="34" charset="0"/>
                <a:ea typeface="Aptos" pitchFamily="34" charset="-122"/>
                <a:cs typeface="Aptos" pitchFamily="34" charset="-120"/>
              </a:rPr>
              <a:t>14 outubro 2026</a:t>
            </a:r>
            <a:endParaRPr lang="en-US" sz="1200" dirty="0"/>
          </a:p>
          <a:p>
            <a:pPr indent="0" marL="0">
              <a:buNone/>
            </a:pPr>
            <a:r>
              <a:rPr lang="en-US" sz="1200" dirty="0">
                <a:solidFill>
                  <a:srgbClr val="BCD1C7"/>
                </a:solidFill>
                <a:latin typeface="Aptos" pitchFamily="34" charset="0"/>
                <a:ea typeface="Aptos" pitchFamily="34" charset="-122"/>
                <a:cs typeface="Aptos" pitchFamily="34" charset="-120"/>
              </a:rPr>
              <a:t>Base: v1.md + produto autenticado + fontes verificadas</a:t>
            </a:r>
            <a:endParaRPr lang="en-US" sz="1200" dirty="0"/>
          </a:p>
        </p:txBody>
      </p:sp>
      <p:sp>
        <p:nvSpPr>
          <p:cNvPr id="14" name="Shape 10"/>
          <p:cNvSpPr/>
          <p:nvPr/>
        </p:nvSpPr>
        <p:spPr>
          <a:xfrm>
            <a:off x="6766560" y="2185416"/>
            <a:ext cx="4736592" cy="3557016"/>
          </a:xfrm>
          <a:prstGeom prst="roundRect">
            <a:avLst>
              <a:gd name="adj" fmla="val 3085"/>
            </a:avLst>
          </a:prstGeom>
          <a:solidFill>
            <a:srgbClr val="EAF2EC"/>
          </a:solidFill>
          <a:ln w="8890">
            <a:solidFill>
              <a:srgbClr val="31534B"/>
            </a:solidFill>
            <a:prstDash val="solid"/>
          </a:ln>
        </p:spPr>
      </p:sp>
      <p:pic>
        <p:nvPicPr>
          <p:cNvPr id="15" name="Image 2" descr="C:\Users\lvecchi\.copilot\session-state\f4c612c3-5b8b-4a56-8f7e-a421bea8a771\files\oria-deck\assets\oria.png">    </p:cNvPr>
          <p:cNvPicPr>
            <a:picLocks noChangeAspect="1"/>
          </p:cNvPicPr>
          <p:nvPr/>
        </p:nvPicPr>
        <p:blipFill>
          <a:blip r:embed="rId3"/>
          <a:stretch>
            <a:fillRect/>
          </a:stretch>
        </p:blipFill>
        <p:spPr>
          <a:xfrm>
            <a:off x="6951006" y="2340864"/>
            <a:ext cx="4367700" cy="3236976"/>
          </a:xfrm>
          <a:prstGeom prst="rect">
            <a:avLst/>
          </a:prstGeom>
        </p:spPr>
      </p:pic>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01 / DECISÃO CENTRAL</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A oportunidade é uma operação resolvida.</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Não mais um chatbot.</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Tese recomendada: automação administrativa para clínicas particulares, com equipe no controle.</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D1 · Documento de partida — v1.md   |   O1 · Oria — dashboard autenticado   |   O2 · Oria — API autenticada do Agent Studio</a:t>
            </a:r>
            <a:endParaRPr lang="en-US" sz="720" dirty="0"/>
          </a:p>
        </p:txBody>
      </p:sp>
      <p:sp>
        <p:nvSpPr>
          <p:cNvPr id="9" name="Shape 6"/>
          <p:cNvSpPr/>
          <p:nvPr/>
        </p:nvSpPr>
        <p:spPr>
          <a:xfrm>
            <a:off x="530352" y="2267712"/>
            <a:ext cx="3538728" cy="2121408"/>
          </a:xfrm>
          <a:prstGeom prst="roundRect">
            <a:avLst>
              <a:gd name="adj" fmla="val 5172"/>
            </a:avLst>
          </a:prstGeom>
          <a:solidFill>
            <a:srgbClr val="FFFFFF"/>
          </a:solidFill>
          <a:ln w="8890">
            <a:solidFill>
              <a:srgbClr val="DCE5DF"/>
            </a:solidFill>
            <a:prstDash val="solid"/>
          </a:ln>
        </p:spPr>
      </p:sp>
      <p:sp>
        <p:nvSpPr>
          <p:cNvPr id="10" name="Shape 7"/>
          <p:cNvSpPr/>
          <p:nvPr/>
        </p:nvSpPr>
        <p:spPr>
          <a:xfrm>
            <a:off x="694944" y="2468880"/>
            <a:ext cx="50292" cy="320040"/>
          </a:xfrm>
          <a:prstGeom prst="rect">
            <a:avLst>
              <a:gd name="adj" fmla="val 218182"/>
            </a:avLst>
          </a:prstGeom>
          <a:solidFill>
            <a:srgbClr val="0F766E"/>
          </a:solidFill>
          <a:ln w="8890">
            <a:solidFill>
              <a:srgbClr val="0F766E"/>
            </a:solidFill>
            <a:prstDash val="solid"/>
          </a:ln>
        </p:spPr>
      </p:sp>
      <p:sp>
        <p:nvSpPr>
          <p:cNvPr id="11" name="Text 8"/>
          <p:cNvSpPr/>
          <p:nvPr/>
        </p:nvSpPr>
        <p:spPr>
          <a:xfrm>
            <a:off x="859536" y="2478024"/>
            <a:ext cx="3026664" cy="438912"/>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FOCAR</a:t>
            </a:r>
            <a:endParaRPr lang="en-US" sz="1800" dirty="0"/>
          </a:p>
        </p:txBody>
      </p:sp>
      <p:sp>
        <p:nvSpPr>
          <p:cNvPr id="12" name="Text 9"/>
          <p:cNvSpPr/>
          <p:nvPr/>
        </p:nvSpPr>
        <p:spPr>
          <a:xfrm>
            <a:off x="740664" y="2962656"/>
            <a:ext cx="3118104" cy="1298448"/>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Uma especialidade, uma cidade, um fluxo de consultas e retornos. Comprador: dono ou gestor.</a:t>
            </a:r>
            <a:endParaRPr lang="en-US" sz="1350" dirty="0"/>
          </a:p>
        </p:txBody>
      </p:sp>
      <p:sp>
        <p:nvSpPr>
          <p:cNvPr id="13" name="Shape 10"/>
          <p:cNvSpPr/>
          <p:nvPr/>
        </p:nvSpPr>
        <p:spPr>
          <a:xfrm>
            <a:off x="4325112" y="2267712"/>
            <a:ext cx="3538728" cy="2121408"/>
          </a:xfrm>
          <a:prstGeom prst="roundRect">
            <a:avLst>
              <a:gd name="adj" fmla="val 5172"/>
            </a:avLst>
          </a:prstGeom>
          <a:solidFill>
            <a:srgbClr val="FFFFFF"/>
          </a:solidFill>
          <a:ln w="8890">
            <a:solidFill>
              <a:srgbClr val="DCE5DF"/>
            </a:solidFill>
            <a:prstDash val="solid"/>
          </a:ln>
        </p:spPr>
      </p:sp>
      <p:sp>
        <p:nvSpPr>
          <p:cNvPr id="14" name="Shape 11"/>
          <p:cNvSpPr/>
          <p:nvPr/>
        </p:nvSpPr>
        <p:spPr>
          <a:xfrm>
            <a:off x="4489704" y="2468880"/>
            <a:ext cx="50292" cy="320040"/>
          </a:xfrm>
          <a:prstGeom prst="rect">
            <a:avLst>
              <a:gd name="adj" fmla="val 218182"/>
            </a:avLst>
          </a:prstGeom>
          <a:solidFill>
            <a:srgbClr val="0F766E"/>
          </a:solidFill>
          <a:ln w="8890">
            <a:solidFill>
              <a:srgbClr val="0F766E"/>
            </a:solidFill>
            <a:prstDash val="solid"/>
          </a:ln>
        </p:spPr>
      </p:sp>
      <p:sp>
        <p:nvSpPr>
          <p:cNvPr id="15" name="Text 12"/>
          <p:cNvSpPr/>
          <p:nvPr/>
        </p:nvSpPr>
        <p:spPr>
          <a:xfrm>
            <a:off x="4654296" y="2478024"/>
            <a:ext cx="3026664" cy="438912"/>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COMPLETAR</a:t>
            </a:r>
            <a:endParaRPr lang="en-US" sz="1800" dirty="0"/>
          </a:p>
        </p:txBody>
      </p:sp>
      <p:sp>
        <p:nvSpPr>
          <p:cNvPr id="16" name="Text 13"/>
          <p:cNvSpPr/>
          <p:nvPr/>
        </p:nvSpPr>
        <p:spPr>
          <a:xfrm>
            <a:off x="4535424" y="2962656"/>
            <a:ext cx="3118104" cy="1298448"/>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Mensagem → disponibilidade → confirmação → acompanhamento. Exceções chegam à recepção com contexto.</a:t>
            </a:r>
            <a:endParaRPr lang="en-US" sz="1350" dirty="0"/>
          </a:p>
        </p:txBody>
      </p:sp>
      <p:sp>
        <p:nvSpPr>
          <p:cNvPr id="17" name="Shape 14"/>
          <p:cNvSpPr/>
          <p:nvPr/>
        </p:nvSpPr>
        <p:spPr>
          <a:xfrm>
            <a:off x="8110728" y="2267712"/>
            <a:ext cx="3538728" cy="2121408"/>
          </a:xfrm>
          <a:prstGeom prst="roundRect">
            <a:avLst>
              <a:gd name="adj" fmla="val 5172"/>
            </a:avLst>
          </a:prstGeom>
          <a:solidFill>
            <a:srgbClr val="FFFFFF"/>
          </a:solidFill>
          <a:ln w="8890">
            <a:solidFill>
              <a:srgbClr val="DCE5DF"/>
            </a:solidFill>
            <a:prstDash val="solid"/>
          </a:ln>
        </p:spPr>
      </p:sp>
      <p:sp>
        <p:nvSpPr>
          <p:cNvPr id="18" name="Shape 15"/>
          <p:cNvSpPr/>
          <p:nvPr/>
        </p:nvSpPr>
        <p:spPr>
          <a:xfrm>
            <a:off x="8275320" y="2468880"/>
            <a:ext cx="50292" cy="320040"/>
          </a:xfrm>
          <a:prstGeom prst="rect">
            <a:avLst>
              <a:gd name="adj" fmla="val 218182"/>
            </a:avLst>
          </a:prstGeom>
          <a:solidFill>
            <a:srgbClr val="0F766E"/>
          </a:solidFill>
          <a:ln w="8890">
            <a:solidFill>
              <a:srgbClr val="0F766E"/>
            </a:solidFill>
            <a:prstDash val="solid"/>
          </a:ln>
        </p:spPr>
      </p:sp>
      <p:sp>
        <p:nvSpPr>
          <p:cNvPr id="19" name="Text 16"/>
          <p:cNvSpPr/>
          <p:nvPr/>
        </p:nvSpPr>
        <p:spPr>
          <a:xfrm>
            <a:off x="8439912" y="2478024"/>
            <a:ext cx="3026664" cy="438912"/>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PROVAR</a:t>
            </a:r>
            <a:endParaRPr lang="en-US" sz="1800" dirty="0"/>
          </a:p>
        </p:txBody>
      </p:sp>
      <p:sp>
        <p:nvSpPr>
          <p:cNvPr id="20" name="Text 17"/>
          <p:cNvSpPr/>
          <p:nvPr/>
        </p:nvSpPr>
        <p:spPr>
          <a:xfrm>
            <a:off x="8321040" y="2962656"/>
            <a:ext cx="3118104" cy="1298448"/>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Comparar agenda, retrabalho e custo com a linha de base. Cobrar pelo valor demonstrado, não pela novidade da IA.</a:t>
            </a:r>
            <a:endParaRPr lang="en-US" sz="1350" dirty="0"/>
          </a:p>
        </p:txBody>
      </p:sp>
      <p:sp>
        <p:nvSpPr>
          <p:cNvPr id="21" name="Shape 18"/>
          <p:cNvSpPr/>
          <p:nvPr/>
        </p:nvSpPr>
        <p:spPr>
          <a:xfrm>
            <a:off x="548640" y="4764024"/>
            <a:ext cx="2221992" cy="256032"/>
          </a:xfrm>
          <a:prstGeom prst="roundRect">
            <a:avLst>
              <a:gd name="adj" fmla="val 42857"/>
            </a:avLst>
          </a:prstGeom>
          <a:solidFill>
            <a:srgbClr val="F4ECDE"/>
          </a:solidFill>
          <a:ln w="8890">
            <a:solidFill>
              <a:srgbClr val="F4ECDE"/>
            </a:solidFill>
            <a:prstDash val="solid"/>
          </a:ln>
        </p:spPr>
      </p:sp>
      <p:sp>
        <p:nvSpPr>
          <p:cNvPr id="22" name="Text 19"/>
          <p:cNvSpPr/>
          <p:nvPr/>
        </p:nvSpPr>
        <p:spPr>
          <a:xfrm>
            <a:off x="640080" y="4796028"/>
            <a:ext cx="2039112" cy="155448"/>
          </a:xfrm>
          <a:prstGeom prst="rect">
            <a:avLst/>
          </a:prstGeom>
          <a:noFill/>
          <a:ln/>
        </p:spPr>
        <p:txBody>
          <a:bodyPr wrap="square" lIns="0" tIns="0" rIns="0" bIns="0" rtlCol="0" anchor="t">
            <a:normAutofit/>
          </a:bodyPr>
          <a:lstStyle/>
          <a:p>
            <a:pPr indent="0" marL="0">
              <a:buNone/>
            </a:pPr>
            <a:r>
              <a:rPr lang="en-US" sz="850" b="1" dirty="0">
                <a:solidFill>
                  <a:srgbClr val="997039"/>
                </a:solidFill>
                <a:latin typeface="Aptos Display" pitchFamily="34" charset="0"/>
                <a:ea typeface="Aptos Display" pitchFamily="34" charset="-122"/>
                <a:cs typeface="Aptos Display" pitchFamily="34" charset="-120"/>
              </a:rPr>
              <a:t>HIPÓTESE DE NEGÓCIO</a:t>
            </a:r>
            <a:endParaRPr lang="en-US" sz="850" dirty="0"/>
          </a:p>
        </p:txBody>
      </p:sp>
      <p:sp>
        <p:nvSpPr>
          <p:cNvPr id="23" name="Text 20"/>
          <p:cNvSpPr/>
          <p:nvPr/>
        </p:nvSpPr>
        <p:spPr>
          <a:xfrm>
            <a:off x="557784" y="5221224"/>
            <a:ext cx="10908792" cy="402336"/>
          </a:xfrm>
          <a:prstGeom prst="rect">
            <a:avLst/>
          </a:prstGeom>
          <a:noFill/>
          <a:ln/>
        </p:spPr>
        <p:txBody>
          <a:bodyPr wrap="square" lIns="0" tIns="0" rIns="0" bIns="0" rtlCol="0" anchor="t">
            <a:normAutofit/>
          </a:bodyPr>
          <a:lstStyle/>
          <a:p>
            <a:pPr indent="0" marL="0">
              <a:buNone/>
            </a:pPr>
            <a:r>
              <a:rPr lang="en-US" sz="2200" b="1" dirty="0">
                <a:solidFill>
                  <a:srgbClr val="17312F"/>
                </a:solidFill>
                <a:latin typeface="Aptos Display" pitchFamily="34" charset="0"/>
                <a:ea typeface="Aptos Display" pitchFamily="34" charset="-122"/>
                <a:cs typeface="Aptos Display" pitchFamily="34" charset="-120"/>
              </a:rPr>
              <a:t>Meta de 90 dias: 5 pilotos bem delimitados → pelo menos 3 clientes pagantes.</a:t>
            </a:r>
            <a:endParaRPr lang="en-US" sz="2200" dirty="0"/>
          </a:p>
        </p:txBody>
      </p:sp>
      <p:sp>
        <p:nvSpPr>
          <p:cNvPr id="24" name="Shape 21"/>
          <p:cNvSpPr/>
          <p:nvPr/>
        </p:nvSpPr>
        <p:spPr>
          <a:xfrm>
            <a:off x="521208" y="5797296"/>
            <a:ext cx="11128248" cy="393192"/>
          </a:xfrm>
          <a:prstGeom prst="rect">
            <a:avLst>
              <a:gd name="adj" fmla="val 27907"/>
            </a:avLst>
          </a:prstGeom>
          <a:solidFill>
            <a:srgbClr val="E7F2EC"/>
          </a:solidFill>
          <a:ln w="8890">
            <a:solidFill>
              <a:srgbClr val="E7F2EC"/>
            </a:solidFill>
            <a:prstDash val="solid"/>
          </a:ln>
        </p:spPr>
      </p:sp>
      <p:sp>
        <p:nvSpPr>
          <p:cNvPr id="25" name="Text 22"/>
          <p:cNvSpPr/>
          <p:nvPr/>
        </p:nvSpPr>
        <p:spPr>
          <a:xfrm>
            <a:off x="704088" y="5888736"/>
            <a:ext cx="10762488" cy="201168"/>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A base técnica parece suficiente para testar a tese. Demanda, confiabilidade e replicação ainda não estão provadas.</a:t>
            </a:r>
            <a:endParaRPr lang="en-US" sz="12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02 / LEITURA CRÍTICA DO DOCUMENTO</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O v1 acerta o recorte.</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Mas ainda não fundamenta uma decisão de investimento.</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Separar uma boa tese de evidências de produto, demanda, preço e capacidade de execução.</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D1 · Documento de partida — v1.md</a:t>
            </a:r>
            <a:endParaRPr lang="en-US" sz="720" dirty="0"/>
          </a:p>
        </p:txBody>
      </p:sp>
      <p:sp>
        <p:nvSpPr>
          <p:cNvPr id="9" name="Shape 6"/>
          <p:cNvSpPr/>
          <p:nvPr/>
        </p:nvSpPr>
        <p:spPr>
          <a:xfrm>
            <a:off x="530352" y="2221992"/>
            <a:ext cx="5413248" cy="1481328"/>
          </a:xfrm>
          <a:prstGeom prst="roundRect">
            <a:avLst>
              <a:gd name="adj" fmla="val 7407"/>
            </a:avLst>
          </a:prstGeom>
          <a:solidFill>
            <a:srgbClr val="FFFFFF"/>
          </a:solidFill>
          <a:ln w="8890">
            <a:solidFill>
              <a:srgbClr val="DCE5DF"/>
            </a:solidFill>
            <a:prstDash val="solid"/>
          </a:ln>
        </p:spPr>
      </p:sp>
      <p:sp>
        <p:nvSpPr>
          <p:cNvPr id="10" name="Shape 7"/>
          <p:cNvSpPr/>
          <p:nvPr/>
        </p:nvSpPr>
        <p:spPr>
          <a:xfrm>
            <a:off x="694944" y="2423160"/>
            <a:ext cx="50292" cy="320040"/>
          </a:xfrm>
          <a:prstGeom prst="rect">
            <a:avLst>
              <a:gd name="adj" fmla="val 218182"/>
            </a:avLst>
          </a:prstGeom>
          <a:solidFill>
            <a:srgbClr val="0F766E"/>
          </a:solidFill>
          <a:ln w="8890">
            <a:solidFill>
              <a:srgbClr val="0F766E"/>
            </a:solidFill>
            <a:prstDash val="solid"/>
          </a:ln>
        </p:spPr>
      </p:sp>
      <p:sp>
        <p:nvSpPr>
          <p:cNvPr id="11" name="Text 8"/>
          <p:cNvSpPr/>
          <p:nvPr/>
        </p:nvSpPr>
        <p:spPr>
          <a:xfrm>
            <a:off x="859536" y="2432304"/>
            <a:ext cx="4901184" cy="438912"/>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MANTER</a:t>
            </a:r>
            <a:endParaRPr lang="en-US" sz="1800" dirty="0"/>
          </a:p>
        </p:txBody>
      </p:sp>
      <p:sp>
        <p:nvSpPr>
          <p:cNvPr id="12" name="Text 9"/>
          <p:cNvSpPr/>
          <p:nvPr/>
        </p:nvSpPr>
        <p:spPr>
          <a:xfrm>
            <a:off x="740664" y="2916936"/>
            <a:ext cx="4992624" cy="658368"/>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Clínicas primeiro; escopo administrativo; handoff real; conhecimento aprovado; prova de resultado.</a:t>
            </a:r>
            <a:endParaRPr lang="en-US" sz="1350" dirty="0"/>
          </a:p>
        </p:txBody>
      </p:sp>
      <p:sp>
        <p:nvSpPr>
          <p:cNvPr id="13" name="Shape 10"/>
          <p:cNvSpPr/>
          <p:nvPr/>
        </p:nvSpPr>
        <p:spPr>
          <a:xfrm>
            <a:off x="6217920" y="2221992"/>
            <a:ext cx="5413248" cy="1481328"/>
          </a:xfrm>
          <a:prstGeom prst="roundRect">
            <a:avLst>
              <a:gd name="adj" fmla="val 7407"/>
            </a:avLst>
          </a:prstGeom>
          <a:solidFill>
            <a:srgbClr val="FFFFFF"/>
          </a:solidFill>
          <a:ln w="8890">
            <a:solidFill>
              <a:srgbClr val="DCE5DF"/>
            </a:solidFill>
            <a:prstDash val="solid"/>
          </a:ln>
        </p:spPr>
      </p:sp>
      <p:sp>
        <p:nvSpPr>
          <p:cNvPr id="14" name="Shape 11"/>
          <p:cNvSpPr/>
          <p:nvPr/>
        </p:nvSpPr>
        <p:spPr>
          <a:xfrm>
            <a:off x="6382512" y="2423160"/>
            <a:ext cx="50292" cy="320040"/>
          </a:xfrm>
          <a:prstGeom prst="rect">
            <a:avLst>
              <a:gd name="adj" fmla="val 218182"/>
            </a:avLst>
          </a:prstGeom>
          <a:solidFill>
            <a:srgbClr val="E67861"/>
          </a:solidFill>
          <a:ln w="8890">
            <a:solidFill>
              <a:srgbClr val="E67861"/>
            </a:solidFill>
            <a:prstDash val="solid"/>
          </a:ln>
        </p:spPr>
      </p:sp>
      <p:sp>
        <p:nvSpPr>
          <p:cNvPr id="15" name="Text 12"/>
          <p:cNvSpPr/>
          <p:nvPr/>
        </p:nvSpPr>
        <p:spPr>
          <a:xfrm>
            <a:off x="6547104" y="2432304"/>
            <a:ext cx="4901184" cy="438912"/>
          </a:xfrm>
          <a:prstGeom prst="rect">
            <a:avLst/>
          </a:prstGeom>
          <a:noFill/>
          <a:ln/>
        </p:spPr>
        <p:txBody>
          <a:bodyPr wrap="square" lIns="0" tIns="0" rIns="0" bIns="0" rtlCol="0" anchor="t">
            <a:normAutofit/>
          </a:bodyPr>
          <a:lstStyle/>
          <a:p>
            <a:pPr indent="0" marL="0">
              <a:buNone/>
            </a:pPr>
            <a:r>
              <a:rPr lang="en-US" sz="1800" b="1" dirty="0">
                <a:solidFill>
                  <a:srgbClr val="E67861"/>
                </a:solidFill>
                <a:latin typeface="Aptos Display" pitchFamily="34" charset="0"/>
                <a:ea typeface="Aptos Display" pitchFamily="34" charset="-122"/>
                <a:cs typeface="Aptos Display" pitchFamily="34" charset="-120"/>
              </a:rPr>
              <a:t>CORRIGIR</a:t>
            </a:r>
            <a:endParaRPr lang="en-US" sz="1800" dirty="0"/>
          </a:p>
        </p:txBody>
      </p:sp>
      <p:sp>
        <p:nvSpPr>
          <p:cNvPr id="16" name="Text 13"/>
          <p:cNvSpPr/>
          <p:nvPr/>
        </p:nvSpPr>
        <p:spPr>
          <a:xfrm>
            <a:off x="6428232" y="2916936"/>
            <a:ext cx="4992624" cy="658368"/>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“Ambient intelligence” de US$82,1 bi não mede este mercado. Médicos e beneficiários também não são clínicas compradoras.</a:t>
            </a:r>
            <a:endParaRPr lang="en-US" sz="1350" dirty="0"/>
          </a:p>
        </p:txBody>
      </p:sp>
      <p:sp>
        <p:nvSpPr>
          <p:cNvPr id="17" name="Shape 14"/>
          <p:cNvSpPr/>
          <p:nvPr/>
        </p:nvSpPr>
        <p:spPr>
          <a:xfrm>
            <a:off x="530352" y="3968496"/>
            <a:ext cx="5413248" cy="1481328"/>
          </a:xfrm>
          <a:prstGeom prst="roundRect">
            <a:avLst>
              <a:gd name="adj" fmla="val 7407"/>
            </a:avLst>
          </a:prstGeom>
          <a:solidFill>
            <a:srgbClr val="FFFFFF"/>
          </a:solidFill>
          <a:ln w="8890">
            <a:solidFill>
              <a:srgbClr val="DCE5DF"/>
            </a:solidFill>
            <a:prstDash val="solid"/>
          </a:ln>
        </p:spPr>
      </p:sp>
      <p:sp>
        <p:nvSpPr>
          <p:cNvPr id="18" name="Shape 15"/>
          <p:cNvSpPr/>
          <p:nvPr/>
        </p:nvSpPr>
        <p:spPr>
          <a:xfrm>
            <a:off x="694944" y="4169664"/>
            <a:ext cx="50292" cy="320040"/>
          </a:xfrm>
          <a:prstGeom prst="rect">
            <a:avLst>
              <a:gd name="adj" fmla="val 218182"/>
            </a:avLst>
          </a:prstGeom>
          <a:solidFill>
            <a:srgbClr val="997039"/>
          </a:solidFill>
          <a:ln w="8890">
            <a:solidFill>
              <a:srgbClr val="997039"/>
            </a:solidFill>
            <a:prstDash val="solid"/>
          </a:ln>
        </p:spPr>
      </p:sp>
      <p:sp>
        <p:nvSpPr>
          <p:cNvPr id="19" name="Text 16"/>
          <p:cNvSpPr/>
          <p:nvPr/>
        </p:nvSpPr>
        <p:spPr>
          <a:xfrm>
            <a:off x="859536" y="4178808"/>
            <a:ext cx="4901184" cy="438912"/>
          </a:xfrm>
          <a:prstGeom prst="rect">
            <a:avLst/>
          </a:prstGeom>
          <a:noFill/>
          <a:ln/>
        </p:spPr>
        <p:txBody>
          <a:bodyPr wrap="square" lIns="0" tIns="0" rIns="0" bIns="0" rtlCol="0" anchor="t">
            <a:normAutofit/>
          </a:bodyPr>
          <a:lstStyle/>
          <a:p>
            <a:pPr indent="0" marL="0">
              <a:buNone/>
            </a:pPr>
            <a:r>
              <a:rPr lang="en-US" sz="1800" b="1" dirty="0">
                <a:solidFill>
                  <a:srgbClr val="997039"/>
                </a:solidFill>
                <a:latin typeface="Aptos Display" pitchFamily="34" charset="0"/>
                <a:ea typeface="Aptos Display" pitchFamily="34" charset="-122"/>
                <a:cs typeface="Aptos Display" pitchFamily="34" charset="-120"/>
              </a:rPr>
              <a:t>VALIDAR</a:t>
            </a:r>
            <a:endParaRPr lang="en-US" sz="1800" dirty="0"/>
          </a:p>
        </p:txBody>
      </p:sp>
      <p:sp>
        <p:nvSpPr>
          <p:cNvPr id="20" name="Text 17"/>
          <p:cNvSpPr/>
          <p:nvPr/>
        </p:nvSpPr>
        <p:spPr>
          <a:xfrm>
            <a:off x="740664" y="4663440"/>
            <a:ext cx="4992624" cy="658368"/>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Checklist ≠ gap observado. Faixas de preço ≠ disposição a pagar. WhatsApp ≠ canal escolhido sem entrevista.</a:t>
            </a:r>
            <a:endParaRPr lang="en-US" sz="1350" dirty="0"/>
          </a:p>
        </p:txBody>
      </p:sp>
      <p:sp>
        <p:nvSpPr>
          <p:cNvPr id="21" name="Shape 18"/>
          <p:cNvSpPr/>
          <p:nvPr/>
        </p:nvSpPr>
        <p:spPr>
          <a:xfrm>
            <a:off x="6217920" y="3968496"/>
            <a:ext cx="5413248" cy="1481328"/>
          </a:xfrm>
          <a:prstGeom prst="roundRect">
            <a:avLst>
              <a:gd name="adj" fmla="val 7407"/>
            </a:avLst>
          </a:prstGeom>
          <a:solidFill>
            <a:srgbClr val="FFFFFF"/>
          </a:solidFill>
          <a:ln w="8890">
            <a:solidFill>
              <a:srgbClr val="DCE5DF"/>
            </a:solidFill>
            <a:prstDash val="solid"/>
          </a:ln>
        </p:spPr>
      </p:sp>
      <p:sp>
        <p:nvSpPr>
          <p:cNvPr id="22" name="Shape 19"/>
          <p:cNvSpPr/>
          <p:nvPr/>
        </p:nvSpPr>
        <p:spPr>
          <a:xfrm>
            <a:off x="6382512" y="4169664"/>
            <a:ext cx="50292" cy="320040"/>
          </a:xfrm>
          <a:prstGeom prst="rect">
            <a:avLst>
              <a:gd name="adj" fmla="val 218182"/>
            </a:avLst>
          </a:prstGeom>
          <a:solidFill>
            <a:srgbClr val="E67861"/>
          </a:solidFill>
          <a:ln w="8890">
            <a:solidFill>
              <a:srgbClr val="E67861"/>
            </a:solidFill>
            <a:prstDash val="solid"/>
          </a:ln>
        </p:spPr>
      </p:sp>
      <p:sp>
        <p:nvSpPr>
          <p:cNvPr id="23" name="Text 20"/>
          <p:cNvSpPr/>
          <p:nvPr/>
        </p:nvSpPr>
        <p:spPr>
          <a:xfrm>
            <a:off x="6547104" y="4178808"/>
            <a:ext cx="4901184" cy="438912"/>
          </a:xfrm>
          <a:prstGeom prst="rect">
            <a:avLst/>
          </a:prstGeom>
          <a:noFill/>
          <a:ln/>
        </p:spPr>
        <p:txBody>
          <a:bodyPr wrap="square" lIns="0" tIns="0" rIns="0" bIns="0" rtlCol="0" anchor="t">
            <a:normAutofit/>
          </a:bodyPr>
          <a:lstStyle/>
          <a:p>
            <a:pPr indent="0" marL="0">
              <a:buNone/>
            </a:pPr>
            <a:r>
              <a:rPr lang="en-US" sz="1800" b="1" dirty="0">
                <a:solidFill>
                  <a:srgbClr val="E67861"/>
                </a:solidFill>
                <a:latin typeface="Aptos Display" pitchFamily="34" charset="0"/>
                <a:ea typeface="Aptos Display" pitchFamily="34" charset="-122"/>
                <a:cs typeface="Aptos Display" pitchFamily="34" charset="-120"/>
              </a:rPr>
              <a:t>RETIRAR DA PROMESSA</a:t>
            </a:r>
            <a:endParaRPr lang="en-US" sz="1800" dirty="0"/>
          </a:p>
        </p:txBody>
      </p:sp>
      <p:sp>
        <p:nvSpPr>
          <p:cNvPr id="24" name="Text 21"/>
          <p:cNvSpPr/>
          <p:nvPr/>
        </p:nvSpPr>
        <p:spPr>
          <a:xfrm>
            <a:off x="6428232" y="4663440"/>
            <a:ext cx="4992624" cy="658368"/>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−30% de faltas sem evidência robusta; métricas internas sem origem pública; “LGPD compliant” e ROI garantido.</a:t>
            </a:r>
            <a:endParaRPr lang="en-US" sz="135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03 / PRODUTO ATUAL</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A Oria já tem uma superfície operacional.</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O próximo salto é confiabilidade e repetição.</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Captura real do dashboard. A existência da interface não demonstra resultado comercial.</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O1 · Oria — dashboard autenticado   |   O2 · Oria — API autenticada do Agent Studio   |   C1 · Código — arquitetura e ferramentas</a:t>
            </a:r>
            <a:endParaRPr lang="en-US" sz="720" dirty="0"/>
          </a:p>
        </p:txBody>
      </p:sp>
      <p:sp>
        <p:nvSpPr>
          <p:cNvPr id="9" name="Shape 6"/>
          <p:cNvSpPr/>
          <p:nvPr/>
        </p:nvSpPr>
        <p:spPr>
          <a:xfrm>
            <a:off x="539496" y="2139696"/>
            <a:ext cx="5733288" cy="3886200"/>
          </a:xfrm>
          <a:prstGeom prst="roundRect">
            <a:avLst>
              <a:gd name="adj" fmla="val 2824"/>
            </a:avLst>
          </a:prstGeom>
          <a:solidFill>
            <a:srgbClr val="FFFFFF"/>
          </a:solidFill>
          <a:ln w="8890">
            <a:solidFill>
              <a:srgbClr val="DCE5DF"/>
            </a:solidFill>
            <a:prstDash val="solid"/>
          </a:ln>
        </p:spPr>
      </p:sp>
      <p:pic>
        <p:nvPicPr>
          <p:cNvPr id="10" name="Image 1" descr="C:\Users\lvecchi\.copilot\session-state\f4c612c3-5b8b-4a56-8f7e-a421bea8a771\files\oria-deck\assets\oria.png">    </p:cNvPr>
          <p:cNvPicPr>
            <a:picLocks noChangeAspect="1"/>
          </p:cNvPicPr>
          <p:nvPr/>
        </p:nvPicPr>
        <p:blipFill>
          <a:blip r:embed="rId2"/>
          <a:stretch>
            <a:fillRect/>
          </a:stretch>
        </p:blipFill>
        <p:spPr>
          <a:xfrm>
            <a:off x="927772" y="2231136"/>
            <a:ext cx="4947593" cy="3666744"/>
          </a:xfrm>
          <a:prstGeom prst="rect">
            <a:avLst/>
          </a:prstGeom>
        </p:spPr>
      </p:pic>
      <p:sp>
        <p:nvSpPr>
          <p:cNvPr id="11" name="Shape 7"/>
          <p:cNvSpPr/>
          <p:nvPr/>
        </p:nvSpPr>
        <p:spPr>
          <a:xfrm>
            <a:off x="6528816" y="2240280"/>
            <a:ext cx="2359152" cy="256032"/>
          </a:xfrm>
          <a:prstGeom prst="roundRect">
            <a:avLst>
              <a:gd name="adj" fmla="val 42857"/>
            </a:avLst>
          </a:prstGeom>
          <a:solidFill>
            <a:srgbClr val="EBF0F6"/>
          </a:solidFill>
          <a:ln w="8890">
            <a:solidFill>
              <a:srgbClr val="EBF0F6"/>
            </a:solidFill>
            <a:prstDash val="solid"/>
          </a:ln>
        </p:spPr>
      </p:sp>
      <p:sp>
        <p:nvSpPr>
          <p:cNvPr id="12" name="Text 8"/>
          <p:cNvSpPr/>
          <p:nvPr/>
        </p:nvSpPr>
        <p:spPr>
          <a:xfrm>
            <a:off x="6620256" y="2272284"/>
            <a:ext cx="2176272" cy="155448"/>
          </a:xfrm>
          <a:prstGeom prst="rect">
            <a:avLst/>
          </a:prstGeom>
          <a:noFill/>
          <a:ln/>
        </p:spPr>
        <p:txBody>
          <a:bodyPr wrap="square" lIns="0" tIns="0" rIns="0" bIns="0" rtlCol="0" anchor="t">
            <a:normAutofit/>
          </a:bodyPr>
          <a:lstStyle/>
          <a:p>
            <a:pPr indent="0" marL="0">
              <a:buNone/>
            </a:pPr>
            <a:r>
              <a:rPr lang="en-US" sz="850" b="1" dirty="0">
                <a:solidFill>
                  <a:srgbClr val="456C91"/>
                </a:solidFill>
                <a:latin typeface="Aptos Display" pitchFamily="34" charset="0"/>
                <a:ea typeface="Aptos Display" pitchFamily="34" charset="-122"/>
                <a:cs typeface="Aptos Display" pitchFamily="34" charset="-120"/>
              </a:rPr>
              <a:t>OBSERVADO NO PRODUTO</a:t>
            </a:r>
            <a:endParaRPr lang="en-US" sz="850" dirty="0"/>
          </a:p>
        </p:txBody>
      </p:sp>
      <p:sp>
        <p:nvSpPr>
          <p:cNvPr id="13" name="Shape 9"/>
          <p:cNvSpPr/>
          <p:nvPr/>
        </p:nvSpPr>
        <p:spPr>
          <a:xfrm>
            <a:off x="6547104" y="2875788"/>
            <a:ext cx="64008" cy="64008"/>
          </a:xfrm>
          <a:prstGeom prst="ellipse">
            <a:avLst/>
          </a:prstGeom>
          <a:solidFill>
            <a:srgbClr val="0F766E"/>
          </a:solidFill>
          <a:ln w="12700">
            <a:solidFill>
              <a:srgbClr val="0F766E"/>
            </a:solidFill>
            <a:prstDash val="solid"/>
          </a:ln>
        </p:spPr>
      </p:sp>
      <p:sp>
        <p:nvSpPr>
          <p:cNvPr id="14" name="Text 10"/>
          <p:cNvSpPr/>
          <p:nvPr/>
        </p:nvSpPr>
        <p:spPr>
          <a:xfrm>
            <a:off x="6748272" y="2798064"/>
            <a:ext cx="4617720" cy="502920"/>
          </a:xfrm>
          <a:prstGeom prst="rect">
            <a:avLst/>
          </a:prstGeom>
          <a:noFill/>
          <a:ln/>
        </p:spPr>
        <p:txBody>
          <a:bodyPr wrap="square" lIns="0" tIns="0" rIns="0" bIns="0" rtlCol="0" anchor="t">
            <a:normAutofit/>
          </a:bodyPr>
          <a:lstStyle/>
          <a:p>
            <a:pPr indent="0" marL="0">
              <a:buNone/>
            </a:pPr>
            <a:r>
              <a:rPr lang="en-US" sz="1400" dirty="0">
                <a:solidFill>
                  <a:srgbClr val="17312F"/>
                </a:solidFill>
                <a:latin typeface="Aptos" pitchFamily="34" charset="0"/>
                <a:ea typeface="Aptos" pitchFamily="34" charset="-122"/>
                <a:cs typeface="Aptos" pitchFamily="34" charset="-120"/>
              </a:rPr>
              <a:t>Dashboard: conversão, fila humana e resposta.</a:t>
            </a:r>
            <a:endParaRPr lang="en-US" sz="1400" dirty="0"/>
          </a:p>
        </p:txBody>
      </p:sp>
      <p:sp>
        <p:nvSpPr>
          <p:cNvPr id="15" name="Shape 11"/>
          <p:cNvSpPr/>
          <p:nvPr/>
        </p:nvSpPr>
        <p:spPr>
          <a:xfrm>
            <a:off x="6547104" y="3488436"/>
            <a:ext cx="64008" cy="64008"/>
          </a:xfrm>
          <a:prstGeom prst="ellipse">
            <a:avLst/>
          </a:prstGeom>
          <a:solidFill>
            <a:srgbClr val="0F766E"/>
          </a:solidFill>
          <a:ln w="12700">
            <a:solidFill>
              <a:srgbClr val="0F766E"/>
            </a:solidFill>
            <a:prstDash val="solid"/>
          </a:ln>
        </p:spPr>
      </p:sp>
      <p:sp>
        <p:nvSpPr>
          <p:cNvPr id="16" name="Text 12"/>
          <p:cNvSpPr/>
          <p:nvPr/>
        </p:nvSpPr>
        <p:spPr>
          <a:xfrm>
            <a:off x="6748272" y="3410712"/>
            <a:ext cx="4617720" cy="502920"/>
          </a:xfrm>
          <a:prstGeom prst="rect">
            <a:avLst/>
          </a:prstGeom>
          <a:noFill/>
          <a:ln/>
        </p:spPr>
        <p:txBody>
          <a:bodyPr wrap="square" lIns="0" tIns="0" rIns="0" bIns="0" rtlCol="0" anchor="t">
            <a:normAutofit/>
          </a:bodyPr>
          <a:lstStyle/>
          <a:p>
            <a:pPr indent="0" marL="0">
              <a:buNone/>
            </a:pPr>
            <a:r>
              <a:rPr lang="en-US" sz="1400" dirty="0">
                <a:solidFill>
                  <a:srgbClr val="17312F"/>
                </a:solidFill>
                <a:latin typeface="Aptos" pitchFamily="34" charset="0"/>
                <a:ea typeface="Aptos" pitchFamily="34" charset="-122"/>
                <a:cs typeface="Aptos" pitchFamily="34" charset="-120"/>
              </a:rPr>
              <a:t>Navegação: conversas, clientes e calendário.</a:t>
            </a:r>
            <a:endParaRPr lang="en-US" sz="1400" dirty="0"/>
          </a:p>
        </p:txBody>
      </p:sp>
      <p:sp>
        <p:nvSpPr>
          <p:cNvPr id="17" name="Shape 13"/>
          <p:cNvSpPr/>
          <p:nvPr/>
        </p:nvSpPr>
        <p:spPr>
          <a:xfrm>
            <a:off x="6547104" y="4101084"/>
            <a:ext cx="64008" cy="64008"/>
          </a:xfrm>
          <a:prstGeom prst="ellipse">
            <a:avLst/>
          </a:prstGeom>
          <a:solidFill>
            <a:srgbClr val="0F766E"/>
          </a:solidFill>
          <a:ln w="12700">
            <a:solidFill>
              <a:srgbClr val="0F766E"/>
            </a:solidFill>
            <a:prstDash val="solid"/>
          </a:ln>
        </p:spPr>
      </p:sp>
      <p:sp>
        <p:nvSpPr>
          <p:cNvPr id="18" name="Text 14"/>
          <p:cNvSpPr/>
          <p:nvPr/>
        </p:nvSpPr>
        <p:spPr>
          <a:xfrm>
            <a:off x="6748272" y="4023360"/>
            <a:ext cx="4617720" cy="502920"/>
          </a:xfrm>
          <a:prstGeom prst="rect">
            <a:avLst/>
          </a:prstGeom>
          <a:noFill/>
          <a:ln/>
        </p:spPr>
        <p:txBody>
          <a:bodyPr wrap="square" lIns="0" tIns="0" rIns="0" bIns="0" rtlCol="0" anchor="t">
            <a:normAutofit/>
          </a:bodyPr>
          <a:lstStyle/>
          <a:p>
            <a:pPr indent="0" marL="0">
              <a:buNone/>
            </a:pPr>
            <a:r>
              <a:rPr lang="en-US" sz="1400" dirty="0">
                <a:solidFill>
                  <a:srgbClr val="17312F"/>
                </a:solidFill>
                <a:latin typeface="Aptos" pitchFamily="34" charset="0"/>
                <a:ea typeface="Aptos" pitchFamily="34" charset="-122"/>
                <a:cs typeface="Aptos" pitchFamily="34" charset="-120"/>
              </a:rPr>
              <a:t>Backend: agenda, cadastro, sinal Pix e políticas.</a:t>
            </a:r>
            <a:endParaRPr lang="en-US" sz="1400" dirty="0"/>
          </a:p>
        </p:txBody>
      </p:sp>
      <p:sp>
        <p:nvSpPr>
          <p:cNvPr id="19" name="Shape 15"/>
          <p:cNvSpPr/>
          <p:nvPr/>
        </p:nvSpPr>
        <p:spPr>
          <a:xfrm>
            <a:off x="6547104" y="4713732"/>
            <a:ext cx="64008" cy="64008"/>
          </a:xfrm>
          <a:prstGeom prst="ellipse">
            <a:avLst/>
          </a:prstGeom>
          <a:solidFill>
            <a:srgbClr val="0F766E"/>
          </a:solidFill>
          <a:ln w="12700">
            <a:solidFill>
              <a:srgbClr val="0F766E"/>
            </a:solidFill>
            <a:prstDash val="solid"/>
          </a:ln>
        </p:spPr>
      </p:sp>
      <p:sp>
        <p:nvSpPr>
          <p:cNvPr id="20" name="Text 16"/>
          <p:cNvSpPr/>
          <p:nvPr/>
        </p:nvSpPr>
        <p:spPr>
          <a:xfrm>
            <a:off x="6748272" y="4636008"/>
            <a:ext cx="4617720" cy="502920"/>
          </a:xfrm>
          <a:prstGeom prst="rect">
            <a:avLst/>
          </a:prstGeom>
          <a:noFill/>
          <a:ln/>
        </p:spPr>
        <p:txBody>
          <a:bodyPr wrap="square" lIns="0" tIns="0" rIns="0" bIns="0" rtlCol="0" anchor="t">
            <a:normAutofit/>
          </a:bodyPr>
          <a:lstStyle/>
          <a:p>
            <a:pPr indent="0" marL="0">
              <a:buNone/>
            </a:pPr>
            <a:r>
              <a:rPr lang="en-US" sz="1400" dirty="0">
                <a:solidFill>
                  <a:srgbClr val="17312F"/>
                </a:solidFill>
                <a:latin typeface="Aptos" pitchFamily="34" charset="0"/>
                <a:ea typeface="Aptos" pitchFamily="34" charset="-122"/>
                <a:cs typeface="Aptos" pitchFamily="34" charset="-120"/>
              </a:rPr>
              <a:t>Arquitetura: worker, ferramentas e trilha de execução.</a:t>
            </a:r>
            <a:endParaRPr lang="en-US" sz="1400" dirty="0"/>
          </a:p>
        </p:txBody>
      </p:sp>
      <p:sp>
        <p:nvSpPr>
          <p:cNvPr id="21" name="Text 17"/>
          <p:cNvSpPr/>
          <p:nvPr/>
        </p:nvSpPr>
        <p:spPr>
          <a:xfrm>
            <a:off x="6565392" y="5468112"/>
            <a:ext cx="4663440" cy="557784"/>
          </a:xfrm>
          <a:prstGeom prst="rect">
            <a:avLst/>
          </a:prstGeom>
          <a:noFill/>
          <a:ln/>
        </p:spPr>
        <p:txBody>
          <a:bodyPr wrap="square" lIns="0" tIns="0" rIns="0" bIns="0" rtlCol="0" anchor="t">
            <a:normAutofit/>
          </a:bodyPr>
          <a:lstStyle/>
          <a:p>
            <a:pPr indent="0" marL="0">
              <a:buNone/>
            </a:pPr>
            <a:r>
              <a:rPr lang="en-US" sz="1040" dirty="0">
                <a:solidFill>
                  <a:srgbClr val="657775"/>
                </a:solidFill>
                <a:latin typeface="Aptos" pitchFamily="34" charset="0"/>
                <a:ea typeface="Aptos" pitchFamily="34" charset="-122"/>
                <a:cs typeface="Aptos" pitchFamily="34" charset="-120"/>
              </a:rPr>
              <a:t>Não observado nesta análise: agendamento, pagamento ou mensagem enviados end-to-end. Rotas secundárias apresentaram carregamento persistente no navegador de inspeção.</a:t>
            </a:r>
            <a:endParaRPr lang="en-US" sz="104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04 / SINAIS DA CONTA</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17 novos pacientes não são PMF.</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Mas revelam onde medir e investigar.</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Período de 30 dias no dashboard observado; agregados, sem dados pessoais.</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O1 · Oria — dashboard autenticado</a:t>
            </a:r>
            <a:endParaRPr lang="en-US" sz="720" dirty="0"/>
          </a:p>
        </p:txBody>
      </p:sp>
      <p:sp>
        <p:nvSpPr>
          <p:cNvPr id="9" name="Shape 6"/>
          <p:cNvSpPr/>
          <p:nvPr/>
        </p:nvSpPr>
        <p:spPr>
          <a:xfrm>
            <a:off x="548640" y="2340864"/>
            <a:ext cx="2633472" cy="1481328"/>
          </a:xfrm>
          <a:prstGeom prst="roundRect">
            <a:avLst>
              <a:gd name="adj" fmla="val 7407"/>
            </a:avLst>
          </a:prstGeom>
          <a:solidFill>
            <a:srgbClr val="FFFFFF"/>
          </a:solidFill>
          <a:ln w="8890">
            <a:solidFill>
              <a:srgbClr val="DCE5DF"/>
            </a:solidFill>
            <a:prstDash val="solid"/>
          </a:ln>
        </p:spPr>
      </p:sp>
      <p:sp>
        <p:nvSpPr>
          <p:cNvPr id="10" name="Text 7"/>
          <p:cNvSpPr/>
          <p:nvPr/>
        </p:nvSpPr>
        <p:spPr>
          <a:xfrm>
            <a:off x="713232" y="2523744"/>
            <a:ext cx="2304288" cy="548640"/>
          </a:xfrm>
          <a:prstGeom prst="rect">
            <a:avLst/>
          </a:prstGeom>
          <a:noFill/>
          <a:ln/>
        </p:spPr>
        <p:txBody>
          <a:bodyPr wrap="square" lIns="0" tIns="0" rIns="0" bIns="0" rtlCol="0" anchor="t">
            <a:normAutofit/>
          </a:bodyPr>
          <a:lstStyle/>
          <a:p>
            <a:pPr indent="0" marL="0">
              <a:buNone/>
            </a:pPr>
            <a:r>
              <a:rPr lang="en-US" sz="3500" b="1" dirty="0">
                <a:solidFill>
                  <a:srgbClr val="0F766E"/>
                </a:solidFill>
                <a:latin typeface="Aptos Display" pitchFamily="34" charset="0"/>
                <a:ea typeface="Aptos Display" pitchFamily="34" charset="-122"/>
                <a:cs typeface="Aptos Display" pitchFamily="34" charset="-120"/>
              </a:rPr>
              <a:t>17</a:t>
            </a:r>
            <a:endParaRPr lang="en-US" sz="3500" dirty="0"/>
          </a:p>
        </p:txBody>
      </p:sp>
      <p:sp>
        <p:nvSpPr>
          <p:cNvPr id="11" name="Text 8"/>
          <p:cNvSpPr/>
          <p:nvPr/>
        </p:nvSpPr>
        <p:spPr>
          <a:xfrm>
            <a:off x="722376" y="3163824"/>
            <a:ext cx="2286000"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Novos pacientes</a:t>
            </a:r>
            <a:endParaRPr lang="en-US" sz="1320" dirty="0"/>
          </a:p>
        </p:txBody>
      </p:sp>
      <p:sp>
        <p:nvSpPr>
          <p:cNvPr id="12" name="Text 9"/>
          <p:cNvSpPr/>
          <p:nvPr/>
        </p:nvSpPr>
        <p:spPr>
          <a:xfrm>
            <a:off x="722376" y="3511296"/>
            <a:ext cx="2286000"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Definição ainda precisa de auditoria</a:t>
            </a:r>
            <a:endParaRPr lang="en-US" sz="900" dirty="0"/>
          </a:p>
        </p:txBody>
      </p:sp>
      <p:sp>
        <p:nvSpPr>
          <p:cNvPr id="13" name="Shape 10"/>
          <p:cNvSpPr/>
          <p:nvPr/>
        </p:nvSpPr>
        <p:spPr>
          <a:xfrm>
            <a:off x="3383280" y="2340864"/>
            <a:ext cx="2633472" cy="1481328"/>
          </a:xfrm>
          <a:prstGeom prst="roundRect">
            <a:avLst>
              <a:gd name="adj" fmla="val 7407"/>
            </a:avLst>
          </a:prstGeom>
          <a:solidFill>
            <a:srgbClr val="FFFFFF"/>
          </a:solidFill>
          <a:ln w="8890">
            <a:solidFill>
              <a:srgbClr val="DCE5DF"/>
            </a:solidFill>
            <a:prstDash val="solid"/>
          </a:ln>
        </p:spPr>
      </p:sp>
      <p:sp>
        <p:nvSpPr>
          <p:cNvPr id="14" name="Text 11"/>
          <p:cNvSpPr/>
          <p:nvPr/>
        </p:nvSpPr>
        <p:spPr>
          <a:xfrm>
            <a:off x="3547872" y="2523744"/>
            <a:ext cx="2304288" cy="548640"/>
          </a:xfrm>
          <a:prstGeom prst="rect">
            <a:avLst/>
          </a:prstGeom>
          <a:noFill/>
          <a:ln/>
        </p:spPr>
        <p:txBody>
          <a:bodyPr wrap="square" lIns="0" tIns="0" rIns="0" bIns="0" rtlCol="0" anchor="t">
            <a:normAutofit/>
          </a:bodyPr>
          <a:lstStyle/>
          <a:p>
            <a:pPr indent="0" marL="0">
              <a:buNone/>
            </a:pPr>
            <a:r>
              <a:rPr lang="en-US" sz="3500" b="1" dirty="0">
                <a:solidFill>
                  <a:srgbClr val="0F766E"/>
                </a:solidFill>
                <a:latin typeface="Aptos Display" pitchFamily="34" charset="0"/>
                <a:ea typeface="Aptos Display" pitchFamily="34" charset="-122"/>
                <a:cs typeface="Aptos Display" pitchFamily="34" charset="-120"/>
              </a:rPr>
              <a:t>4 / 17</a:t>
            </a:r>
            <a:endParaRPr lang="en-US" sz="3500" dirty="0"/>
          </a:p>
        </p:txBody>
      </p:sp>
      <p:sp>
        <p:nvSpPr>
          <p:cNvPr id="15" name="Text 12"/>
          <p:cNvSpPr/>
          <p:nvPr/>
        </p:nvSpPr>
        <p:spPr>
          <a:xfrm>
            <a:off x="3557016" y="3163824"/>
            <a:ext cx="2286000"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Com agendamento</a:t>
            </a:r>
            <a:endParaRPr lang="en-US" sz="1320" dirty="0"/>
          </a:p>
        </p:txBody>
      </p:sp>
      <p:sp>
        <p:nvSpPr>
          <p:cNvPr id="16" name="Text 13"/>
          <p:cNvSpPr/>
          <p:nvPr/>
        </p:nvSpPr>
        <p:spPr>
          <a:xfrm>
            <a:off x="3557016" y="3511296"/>
            <a:ext cx="2286000"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23,5% → interface mostra 24%</a:t>
            </a:r>
            <a:endParaRPr lang="en-US" sz="900" dirty="0"/>
          </a:p>
        </p:txBody>
      </p:sp>
      <p:sp>
        <p:nvSpPr>
          <p:cNvPr id="17" name="Shape 14"/>
          <p:cNvSpPr/>
          <p:nvPr/>
        </p:nvSpPr>
        <p:spPr>
          <a:xfrm>
            <a:off x="6217920" y="2340864"/>
            <a:ext cx="2633472" cy="1481328"/>
          </a:xfrm>
          <a:prstGeom prst="roundRect">
            <a:avLst>
              <a:gd name="adj" fmla="val 7407"/>
            </a:avLst>
          </a:prstGeom>
          <a:solidFill>
            <a:srgbClr val="FFFFFF"/>
          </a:solidFill>
          <a:ln w="8890">
            <a:solidFill>
              <a:srgbClr val="DCE5DF"/>
            </a:solidFill>
            <a:prstDash val="solid"/>
          </a:ln>
        </p:spPr>
      </p:sp>
      <p:sp>
        <p:nvSpPr>
          <p:cNvPr id="18" name="Text 15"/>
          <p:cNvSpPr/>
          <p:nvPr/>
        </p:nvSpPr>
        <p:spPr>
          <a:xfrm>
            <a:off x="6382512" y="2523744"/>
            <a:ext cx="2304288" cy="548640"/>
          </a:xfrm>
          <a:prstGeom prst="rect">
            <a:avLst/>
          </a:prstGeom>
          <a:noFill/>
          <a:ln/>
        </p:spPr>
        <p:txBody>
          <a:bodyPr wrap="square" lIns="0" tIns="0" rIns="0" bIns="0" rtlCol="0" anchor="t">
            <a:normAutofit/>
          </a:bodyPr>
          <a:lstStyle/>
          <a:p>
            <a:pPr indent="0" marL="0">
              <a:buNone/>
            </a:pPr>
            <a:r>
              <a:rPr lang="en-US" sz="3500" b="1" dirty="0">
                <a:solidFill>
                  <a:srgbClr val="0F766E"/>
                </a:solidFill>
                <a:latin typeface="Aptos Display" pitchFamily="34" charset="0"/>
                <a:ea typeface="Aptos Display" pitchFamily="34" charset="-122"/>
                <a:cs typeface="Aptos Display" pitchFamily="34" charset="-120"/>
              </a:rPr>
              <a:t>2</a:t>
            </a:r>
            <a:endParaRPr lang="en-US" sz="3500" dirty="0"/>
          </a:p>
        </p:txBody>
      </p:sp>
      <p:sp>
        <p:nvSpPr>
          <p:cNvPr id="19" name="Text 16"/>
          <p:cNvSpPr/>
          <p:nvPr/>
        </p:nvSpPr>
        <p:spPr>
          <a:xfrm>
            <a:off x="6391656" y="3163824"/>
            <a:ext cx="2286000"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Aguardando equipe</a:t>
            </a:r>
            <a:endParaRPr lang="en-US" sz="1320" dirty="0"/>
          </a:p>
        </p:txBody>
      </p:sp>
      <p:sp>
        <p:nvSpPr>
          <p:cNvPr id="20" name="Text 17"/>
          <p:cNvSpPr/>
          <p:nvPr/>
        </p:nvSpPr>
        <p:spPr>
          <a:xfrm>
            <a:off x="6391656" y="3511296"/>
            <a:ext cx="2286000"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Fila não equivale a SLA cumprido</a:t>
            </a:r>
            <a:endParaRPr lang="en-US" sz="900" dirty="0"/>
          </a:p>
        </p:txBody>
      </p:sp>
      <p:sp>
        <p:nvSpPr>
          <p:cNvPr id="21" name="Shape 18"/>
          <p:cNvSpPr/>
          <p:nvPr/>
        </p:nvSpPr>
        <p:spPr>
          <a:xfrm>
            <a:off x="9043416" y="2340864"/>
            <a:ext cx="2606040" cy="1481328"/>
          </a:xfrm>
          <a:prstGeom prst="roundRect">
            <a:avLst>
              <a:gd name="adj" fmla="val 7407"/>
            </a:avLst>
          </a:prstGeom>
          <a:solidFill>
            <a:srgbClr val="FFFFFF"/>
          </a:solidFill>
          <a:ln w="8890">
            <a:solidFill>
              <a:srgbClr val="DCE5DF"/>
            </a:solidFill>
            <a:prstDash val="solid"/>
          </a:ln>
        </p:spPr>
      </p:sp>
      <p:sp>
        <p:nvSpPr>
          <p:cNvPr id="22" name="Text 19"/>
          <p:cNvSpPr/>
          <p:nvPr/>
        </p:nvSpPr>
        <p:spPr>
          <a:xfrm>
            <a:off x="9208008" y="2523744"/>
            <a:ext cx="2276856" cy="548640"/>
          </a:xfrm>
          <a:prstGeom prst="rect">
            <a:avLst/>
          </a:prstGeom>
          <a:noFill/>
          <a:ln/>
        </p:spPr>
        <p:txBody>
          <a:bodyPr wrap="square" lIns="0" tIns="0" rIns="0" bIns="0" rtlCol="0" anchor="t">
            <a:normAutofit/>
          </a:bodyPr>
          <a:lstStyle/>
          <a:p>
            <a:pPr indent="0" marL="0">
              <a:buNone/>
            </a:pPr>
            <a:r>
              <a:rPr lang="en-US" sz="3500" b="1" dirty="0">
                <a:solidFill>
                  <a:srgbClr val="0F766E"/>
                </a:solidFill>
                <a:latin typeface="Aptos Display" pitchFamily="34" charset="0"/>
                <a:ea typeface="Aptos Display" pitchFamily="34" charset="-122"/>
                <a:cs typeface="Aptos Display" pitchFamily="34" charset="-120"/>
              </a:rPr>
              <a:t>10</a:t>
            </a:r>
            <a:endParaRPr lang="en-US" sz="3500" dirty="0"/>
          </a:p>
        </p:txBody>
      </p:sp>
      <p:sp>
        <p:nvSpPr>
          <p:cNvPr id="23" name="Text 20"/>
          <p:cNvSpPr/>
          <p:nvPr/>
        </p:nvSpPr>
        <p:spPr>
          <a:xfrm>
            <a:off x="9217152" y="3163824"/>
            <a:ext cx="2258568"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Mensagens pós-encerramento</a:t>
            </a:r>
            <a:endParaRPr lang="en-US" sz="1320" dirty="0"/>
          </a:p>
        </p:txBody>
      </p:sp>
      <p:sp>
        <p:nvSpPr>
          <p:cNvPr id="24" name="Text 21"/>
          <p:cNvSpPr/>
          <p:nvPr/>
        </p:nvSpPr>
        <p:spPr>
          <a:xfrm>
            <a:off x="9217152" y="3511296"/>
            <a:ext cx="2258568"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Alerta de revisão humana</a:t>
            </a:r>
            <a:endParaRPr lang="en-US" sz="900" dirty="0"/>
          </a:p>
        </p:txBody>
      </p:sp>
      <p:sp>
        <p:nvSpPr>
          <p:cNvPr id="25" name="Shape 22"/>
          <p:cNvSpPr/>
          <p:nvPr/>
        </p:nvSpPr>
        <p:spPr>
          <a:xfrm>
            <a:off x="548640" y="4187952"/>
            <a:ext cx="11109960" cy="1234440"/>
          </a:xfrm>
          <a:prstGeom prst="roundRect">
            <a:avLst>
              <a:gd name="adj" fmla="val 8889"/>
            </a:avLst>
          </a:prstGeom>
          <a:solidFill>
            <a:srgbClr val="E7F2EC"/>
          </a:solidFill>
          <a:ln w="8890">
            <a:solidFill>
              <a:srgbClr val="E7F2EC"/>
            </a:solidFill>
            <a:prstDash val="solid"/>
          </a:ln>
        </p:spPr>
      </p:sp>
      <p:sp>
        <p:nvSpPr>
          <p:cNvPr id="26" name="Text 23"/>
          <p:cNvSpPr/>
          <p:nvPr/>
        </p:nvSpPr>
        <p:spPr>
          <a:xfrm>
            <a:off x="768096" y="4389120"/>
            <a:ext cx="9875520" cy="320040"/>
          </a:xfrm>
          <a:prstGeom prst="rect">
            <a:avLst/>
          </a:prstGeom>
          <a:noFill/>
          <a:ln/>
        </p:spPr>
        <p:txBody>
          <a:bodyPr wrap="square" lIns="0" tIns="0" rIns="0" bIns="0" rtlCol="0" anchor="t">
            <a:normAutofit/>
          </a:bodyPr>
          <a:lstStyle/>
          <a:p>
            <a:pPr indent="0" marL="0">
              <a:buNone/>
            </a:pPr>
            <a:r>
              <a:rPr lang="en-US" sz="2000" b="1" dirty="0">
                <a:solidFill>
                  <a:srgbClr val="0F766E"/>
                </a:solidFill>
                <a:latin typeface="Aptos Display" pitchFamily="34" charset="0"/>
                <a:ea typeface="Aptos Display" pitchFamily="34" charset="-122"/>
                <a:cs typeface="Aptos Display" pitchFamily="34" charset="-120"/>
              </a:rPr>
              <a:t>Investigar antes de apresentar como tração</a:t>
            </a:r>
            <a:endParaRPr lang="en-US" sz="2000" dirty="0"/>
          </a:p>
        </p:txBody>
      </p:sp>
      <p:sp>
        <p:nvSpPr>
          <p:cNvPr id="27" name="Text 24"/>
          <p:cNvSpPr/>
          <p:nvPr/>
        </p:nvSpPr>
        <p:spPr>
          <a:xfrm>
            <a:off x="777240" y="4882896"/>
            <a:ext cx="10387584" cy="320040"/>
          </a:xfrm>
          <a:prstGeom prst="rect">
            <a:avLst/>
          </a:prstGeom>
          <a:noFill/>
          <a:ln/>
        </p:spPr>
        <p:txBody>
          <a:bodyPr wrap="square" lIns="0" tIns="0" rIns="0" bIns="0" rtlCol="0" anchor="t">
            <a:normAutofit/>
          </a:bodyPr>
          <a:lstStyle/>
          <a:p>
            <a:pPr indent="0" marL="0">
              <a:buNone/>
            </a:pPr>
            <a:r>
              <a:rPr lang="en-US" sz="1400" dirty="0">
                <a:solidFill>
                  <a:srgbClr val="17312F"/>
                </a:solidFill>
                <a:latin typeface="Aptos" pitchFamily="34" charset="0"/>
                <a:ea typeface="Aptos" pitchFamily="34" charset="-122"/>
                <a:cs typeface="Aptos" pitchFamily="34" charset="-120"/>
              </a:rPr>
              <a:t>Coorte e janela • atribuição do agendamento • duplicidades • denominadores • continuidade após encerramento</a:t>
            </a:r>
            <a:endParaRPr lang="en-US" sz="1400" dirty="0"/>
          </a:p>
        </p:txBody>
      </p:sp>
      <p:sp>
        <p:nvSpPr>
          <p:cNvPr id="28" name="Shape 25"/>
          <p:cNvSpPr/>
          <p:nvPr/>
        </p:nvSpPr>
        <p:spPr>
          <a:xfrm>
            <a:off x="521208" y="5797296"/>
            <a:ext cx="11128248" cy="393192"/>
          </a:xfrm>
          <a:prstGeom prst="rect">
            <a:avLst>
              <a:gd name="adj" fmla="val 27907"/>
            </a:avLst>
          </a:prstGeom>
          <a:solidFill>
            <a:srgbClr val="E7F2EC"/>
          </a:solidFill>
          <a:ln w="8890">
            <a:solidFill>
              <a:srgbClr val="E7F2EC"/>
            </a:solidFill>
            <a:prstDash val="solid"/>
          </a:ln>
        </p:spPr>
      </p:sp>
      <p:sp>
        <p:nvSpPr>
          <p:cNvPr id="29" name="Text 26"/>
          <p:cNvSpPr/>
          <p:nvPr/>
        </p:nvSpPr>
        <p:spPr>
          <a:xfrm>
            <a:off x="704088" y="5888736"/>
            <a:ext cx="10762488" cy="201168"/>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“&lt; 1 min” de resposta é um sinal operacional; não prova resolução, receita incremental ou satisfação.</a:t>
            </a:r>
            <a:endParaRPr lang="en-US" sz="12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05 / REUSO DO QUE EXISTE</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Sete capacidades habilitadas.</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Não é necessário reconstruir o núcleo.</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API autenticada confirma configuração ativa; código permite qualificar o nível de evidência.</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O2 · Oria — API autenticada do Agent Studio   |   C1 · Código — arquitetura e ferramentas   |   C2 · Código — configuração ativa e follow-up</a:t>
            </a:r>
            <a:endParaRPr lang="en-US" sz="720" dirty="0"/>
          </a:p>
        </p:txBody>
      </p:sp>
      <p:sp>
        <p:nvSpPr>
          <p:cNvPr id="9" name="Shape 6"/>
          <p:cNvSpPr/>
          <p:nvPr/>
        </p:nvSpPr>
        <p:spPr>
          <a:xfrm>
            <a:off x="548640" y="2249424"/>
            <a:ext cx="3547872" cy="1746504"/>
          </a:xfrm>
          <a:prstGeom prst="roundRect">
            <a:avLst>
              <a:gd name="adj" fmla="val 6283"/>
            </a:avLst>
          </a:prstGeom>
          <a:solidFill>
            <a:srgbClr val="FFFFFF"/>
          </a:solidFill>
          <a:ln w="8890">
            <a:solidFill>
              <a:srgbClr val="DCE5DF"/>
            </a:solidFill>
            <a:prstDash val="solid"/>
          </a:ln>
        </p:spPr>
      </p:sp>
      <p:sp>
        <p:nvSpPr>
          <p:cNvPr id="10" name="Shape 7"/>
          <p:cNvSpPr/>
          <p:nvPr/>
        </p:nvSpPr>
        <p:spPr>
          <a:xfrm>
            <a:off x="713232" y="2450592"/>
            <a:ext cx="50292" cy="320040"/>
          </a:xfrm>
          <a:prstGeom prst="rect">
            <a:avLst>
              <a:gd name="adj" fmla="val 218182"/>
            </a:avLst>
          </a:prstGeom>
          <a:solidFill>
            <a:srgbClr val="0F766E"/>
          </a:solidFill>
          <a:ln w="8890">
            <a:solidFill>
              <a:srgbClr val="0F766E"/>
            </a:solidFill>
            <a:prstDash val="solid"/>
          </a:ln>
        </p:spPr>
      </p:sp>
      <p:sp>
        <p:nvSpPr>
          <p:cNvPr id="11" name="Text 8"/>
          <p:cNvSpPr/>
          <p:nvPr/>
        </p:nvSpPr>
        <p:spPr>
          <a:xfrm>
            <a:off x="877824" y="2459736"/>
            <a:ext cx="3035808" cy="438912"/>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CADASTRO</a:t>
            </a:r>
            <a:endParaRPr lang="en-US" sz="1800" dirty="0"/>
          </a:p>
        </p:txBody>
      </p:sp>
      <p:sp>
        <p:nvSpPr>
          <p:cNvPr id="12" name="Text 9"/>
          <p:cNvSpPr/>
          <p:nvPr/>
        </p:nvSpPr>
        <p:spPr>
          <a:xfrm>
            <a:off x="758952" y="2944368"/>
            <a:ext cx="3127248" cy="923544"/>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Classificar novo/retorno</a:t>
            </a:r>
            <a:endParaRPr lang="en-US" sz="1350" dirty="0"/>
          </a:p>
          <a:p>
            <a:pPr indent="0" marL="0">
              <a:buNone/>
            </a:pPr>
            <a:r>
              <a:rPr lang="en-US" sz="1350" dirty="0">
                <a:solidFill>
                  <a:srgbClr val="17312F"/>
                </a:solidFill>
                <a:latin typeface="Aptos" pitchFamily="34" charset="0"/>
                <a:ea typeface="Aptos" pitchFamily="34" charset="-122"/>
                <a:cs typeface="Aptos" pitchFamily="34" charset="-120"/>
              </a:rPr>
              <a:t>Atualizar perfil</a:t>
            </a:r>
            <a:endParaRPr lang="en-US" sz="1350" dirty="0"/>
          </a:p>
        </p:txBody>
      </p:sp>
      <p:sp>
        <p:nvSpPr>
          <p:cNvPr id="13" name="Shape 10"/>
          <p:cNvSpPr/>
          <p:nvPr/>
        </p:nvSpPr>
        <p:spPr>
          <a:xfrm>
            <a:off x="4334256" y="2249424"/>
            <a:ext cx="3547872" cy="1746504"/>
          </a:xfrm>
          <a:prstGeom prst="roundRect">
            <a:avLst>
              <a:gd name="adj" fmla="val 6283"/>
            </a:avLst>
          </a:prstGeom>
          <a:solidFill>
            <a:srgbClr val="FFFFFF"/>
          </a:solidFill>
          <a:ln w="8890">
            <a:solidFill>
              <a:srgbClr val="DCE5DF"/>
            </a:solidFill>
            <a:prstDash val="solid"/>
          </a:ln>
        </p:spPr>
      </p:sp>
      <p:sp>
        <p:nvSpPr>
          <p:cNvPr id="14" name="Shape 11"/>
          <p:cNvSpPr/>
          <p:nvPr/>
        </p:nvSpPr>
        <p:spPr>
          <a:xfrm>
            <a:off x="4498848" y="2450592"/>
            <a:ext cx="50292" cy="320040"/>
          </a:xfrm>
          <a:prstGeom prst="rect">
            <a:avLst>
              <a:gd name="adj" fmla="val 218182"/>
            </a:avLst>
          </a:prstGeom>
          <a:solidFill>
            <a:srgbClr val="0F766E"/>
          </a:solidFill>
          <a:ln w="8890">
            <a:solidFill>
              <a:srgbClr val="0F766E"/>
            </a:solidFill>
            <a:prstDash val="solid"/>
          </a:ln>
        </p:spPr>
      </p:sp>
      <p:sp>
        <p:nvSpPr>
          <p:cNvPr id="15" name="Text 12"/>
          <p:cNvSpPr/>
          <p:nvPr/>
        </p:nvSpPr>
        <p:spPr>
          <a:xfrm>
            <a:off x="4663440" y="2459736"/>
            <a:ext cx="3035808" cy="438912"/>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AGENDA</a:t>
            </a:r>
            <a:endParaRPr lang="en-US" sz="1800" dirty="0"/>
          </a:p>
        </p:txBody>
      </p:sp>
      <p:sp>
        <p:nvSpPr>
          <p:cNvPr id="16" name="Text 13"/>
          <p:cNvSpPr/>
          <p:nvPr/>
        </p:nvSpPr>
        <p:spPr>
          <a:xfrm>
            <a:off x="4544568" y="2944368"/>
            <a:ext cx="3127248" cy="923544"/>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Buscar horários • reservar</a:t>
            </a:r>
            <a:endParaRPr lang="en-US" sz="1350" dirty="0"/>
          </a:p>
          <a:p>
            <a:pPr indent="0" marL="0">
              <a:buNone/>
            </a:pPr>
            <a:r>
              <a:rPr lang="en-US" sz="1350" dirty="0">
                <a:solidFill>
                  <a:srgbClr val="17312F"/>
                </a:solidFill>
                <a:latin typeface="Aptos" pitchFamily="34" charset="0"/>
                <a:ea typeface="Aptos" pitchFamily="34" charset="-122"/>
                <a:cs typeface="Aptos" pitchFamily="34" charset="-120"/>
              </a:rPr>
              <a:t>Confirmar • reagendar</a:t>
            </a:r>
            <a:endParaRPr lang="en-US" sz="1350" dirty="0"/>
          </a:p>
        </p:txBody>
      </p:sp>
      <p:sp>
        <p:nvSpPr>
          <p:cNvPr id="17" name="Shape 14"/>
          <p:cNvSpPr/>
          <p:nvPr/>
        </p:nvSpPr>
        <p:spPr>
          <a:xfrm>
            <a:off x="8119872" y="2249424"/>
            <a:ext cx="3547872" cy="1746504"/>
          </a:xfrm>
          <a:prstGeom prst="roundRect">
            <a:avLst>
              <a:gd name="adj" fmla="val 6283"/>
            </a:avLst>
          </a:prstGeom>
          <a:solidFill>
            <a:srgbClr val="FFFFFF"/>
          </a:solidFill>
          <a:ln w="8890">
            <a:solidFill>
              <a:srgbClr val="DCE5DF"/>
            </a:solidFill>
            <a:prstDash val="solid"/>
          </a:ln>
        </p:spPr>
      </p:sp>
      <p:sp>
        <p:nvSpPr>
          <p:cNvPr id="18" name="Shape 15"/>
          <p:cNvSpPr/>
          <p:nvPr/>
        </p:nvSpPr>
        <p:spPr>
          <a:xfrm>
            <a:off x="8284464" y="2450592"/>
            <a:ext cx="50292" cy="320040"/>
          </a:xfrm>
          <a:prstGeom prst="rect">
            <a:avLst>
              <a:gd name="adj" fmla="val 218182"/>
            </a:avLst>
          </a:prstGeom>
          <a:solidFill>
            <a:srgbClr val="0F766E"/>
          </a:solidFill>
          <a:ln w="8890">
            <a:solidFill>
              <a:srgbClr val="0F766E"/>
            </a:solidFill>
            <a:prstDash val="solid"/>
          </a:ln>
        </p:spPr>
      </p:sp>
      <p:sp>
        <p:nvSpPr>
          <p:cNvPr id="19" name="Text 16"/>
          <p:cNvSpPr/>
          <p:nvPr/>
        </p:nvSpPr>
        <p:spPr>
          <a:xfrm>
            <a:off x="8449056" y="2459736"/>
            <a:ext cx="3035808" cy="438912"/>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PAGAMENTO</a:t>
            </a:r>
            <a:endParaRPr lang="en-US" sz="1800" dirty="0"/>
          </a:p>
        </p:txBody>
      </p:sp>
      <p:sp>
        <p:nvSpPr>
          <p:cNvPr id="20" name="Text 17"/>
          <p:cNvSpPr/>
          <p:nvPr/>
        </p:nvSpPr>
        <p:spPr>
          <a:xfrm>
            <a:off x="8330184" y="2944368"/>
            <a:ext cx="3127248" cy="923544"/>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Solicitar sinal Pix</a:t>
            </a:r>
            <a:endParaRPr lang="en-US" sz="1350" dirty="0"/>
          </a:p>
          <a:p>
            <a:pPr indent="0" marL="0">
              <a:buNone/>
            </a:pPr>
            <a:r>
              <a:rPr lang="en-US" sz="1350" dirty="0">
                <a:solidFill>
                  <a:srgbClr val="17312F"/>
                </a:solidFill>
                <a:latin typeface="Aptos" pitchFamily="34" charset="0"/>
                <a:ea typeface="Aptos" pitchFamily="34" charset="-122"/>
                <a:cs typeface="Aptos" pitchFamily="34" charset="-120"/>
              </a:rPr>
              <a:t>Pré-requisitos configuráveis</a:t>
            </a:r>
            <a:endParaRPr lang="en-US" sz="1350" dirty="0"/>
          </a:p>
        </p:txBody>
      </p:sp>
      <p:sp>
        <p:nvSpPr>
          <p:cNvPr id="21" name="Shape 18"/>
          <p:cNvSpPr/>
          <p:nvPr/>
        </p:nvSpPr>
        <p:spPr>
          <a:xfrm>
            <a:off x="548640" y="4361688"/>
            <a:ext cx="3547872" cy="1481328"/>
          </a:xfrm>
          <a:prstGeom prst="roundRect">
            <a:avLst>
              <a:gd name="adj" fmla="val 7407"/>
            </a:avLst>
          </a:prstGeom>
          <a:solidFill>
            <a:srgbClr val="FFFFFF"/>
          </a:solidFill>
          <a:ln w="8890">
            <a:solidFill>
              <a:srgbClr val="DCE5DF"/>
            </a:solidFill>
            <a:prstDash val="solid"/>
          </a:ln>
        </p:spPr>
      </p:sp>
      <p:sp>
        <p:nvSpPr>
          <p:cNvPr id="22" name="Text 19"/>
          <p:cNvSpPr/>
          <p:nvPr/>
        </p:nvSpPr>
        <p:spPr>
          <a:xfrm>
            <a:off x="713232" y="4544568"/>
            <a:ext cx="3218688" cy="548640"/>
          </a:xfrm>
          <a:prstGeom prst="rect">
            <a:avLst/>
          </a:prstGeom>
          <a:noFill/>
          <a:ln/>
        </p:spPr>
        <p:txBody>
          <a:bodyPr wrap="square" lIns="0" tIns="0" rIns="0" bIns="0" rtlCol="0" anchor="t">
            <a:normAutofit/>
          </a:bodyPr>
          <a:lstStyle/>
          <a:p>
            <a:pPr indent="0" marL="0">
              <a:buNone/>
            </a:pPr>
            <a:r>
              <a:rPr lang="en-US" sz="3500" b="1" dirty="0">
                <a:solidFill>
                  <a:srgbClr val="456C91"/>
                </a:solidFill>
                <a:latin typeface="Aptos Display" pitchFamily="34" charset="0"/>
                <a:ea typeface="Aptos Display" pitchFamily="34" charset="-122"/>
                <a:cs typeface="Aptos Display" pitchFamily="34" charset="-120"/>
              </a:rPr>
              <a:t>1</a:t>
            </a:r>
            <a:endParaRPr lang="en-US" sz="3500" dirty="0"/>
          </a:p>
        </p:txBody>
      </p:sp>
      <p:sp>
        <p:nvSpPr>
          <p:cNvPr id="23" name="Text 20"/>
          <p:cNvSpPr/>
          <p:nvPr/>
        </p:nvSpPr>
        <p:spPr>
          <a:xfrm>
            <a:off x="722376" y="5184648"/>
            <a:ext cx="3200400"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Plano de agendamento</a:t>
            </a:r>
            <a:endParaRPr lang="en-US" sz="1320" dirty="0"/>
          </a:p>
        </p:txBody>
      </p:sp>
      <p:sp>
        <p:nvSpPr>
          <p:cNvPr id="24" name="Text 21"/>
          <p:cNvSpPr/>
          <p:nvPr/>
        </p:nvSpPr>
        <p:spPr>
          <a:xfrm>
            <a:off x="722376" y="5532120"/>
            <a:ext cx="3200400"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Configuração observada</a:t>
            </a:r>
            <a:endParaRPr lang="en-US" sz="900" dirty="0"/>
          </a:p>
        </p:txBody>
      </p:sp>
      <p:sp>
        <p:nvSpPr>
          <p:cNvPr id="25" name="Shape 22"/>
          <p:cNvSpPr/>
          <p:nvPr/>
        </p:nvSpPr>
        <p:spPr>
          <a:xfrm>
            <a:off x="4334256" y="4361688"/>
            <a:ext cx="3547872" cy="1481328"/>
          </a:xfrm>
          <a:prstGeom prst="roundRect">
            <a:avLst>
              <a:gd name="adj" fmla="val 7407"/>
            </a:avLst>
          </a:prstGeom>
          <a:solidFill>
            <a:srgbClr val="FFFFFF"/>
          </a:solidFill>
          <a:ln w="8890">
            <a:solidFill>
              <a:srgbClr val="DCE5DF"/>
            </a:solidFill>
            <a:prstDash val="solid"/>
          </a:ln>
        </p:spPr>
      </p:sp>
      <p:sp>
        <p:nvSpPr>
          <p:cNvPr id="26" name="Text 23"/>
          <p:cNvSpPr/>
          <p:nvPr/>
        </p:nvSpPr>
        <p:spPr>
          <a:xfrm>
            <a:off x="4498848" y="4544568"/>
            <a:ext cx="3218688" cy="548640"/>
          </a:xfrm>
          <a:prstGeom prst="rect">
            <a:avLst/>
          </a:prstGeom>
          <a:noFill/>
          <a:ln/>
        </p:spPr>
        <p:txBody>
          <a:bodyPr wrap="square" lIns="0" tIns="0" rIns="0" bIns="0" rtlCol="0" anchor="t">
            <a:normAutofit/>
          </a:bodyPr>
          <a:lstStyle/>
          <a:p>
            <a:pPr indent="0" marL="0">
              <a:buNone/>
            </a:pPr>
            <a:r>
              <a:rPr lang="en-US" sz="3500" b="1" dirty="0">
                <a:solidFill>
                  <a:srgbClr val="456C91"/>
                </a:solidFill>
                <a:latin typeface="Aptos Display" pitchFamily="34" charset="0"/>
                <a:ea typeface="Aptos Display" pitchFamily="34" charset="-122"/>
                <a:cs typeface="Aptos Display" pitchFamily="34" charset="-120"/>
              </a:rPr>
              <a:t>2</a:t>
            </a:r>
            <a:endParaRPr lang="en-US" sz="3500" dirty="0"/>
          </a:p>
        </p:txBody>
      </p:sp>
      <p:sp>
        <p:nvSpPr>
          <p:cNvPr id="27" name="Text 24"/>
          <p:cNvSpPr/>
          <p:nvPr/>
        </p:nvSpPr>
        <p:spPr>
          <a:xfrm>
            <a:off x="4507992" y="5184648"/>
            <a:ext cx="3200400"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Tipos de evento agendáveis</a:t>
            </a:r>
            <a:endParaRPr lang="en-US" sz="1320" dirty="0"/>
          </a:p>
        </p:txBody>
      </p:sp>
      <p:sp>
        <p:nvSpPr>
          <p:cNvPr id="28" name="Text 25"/>
          <p:cNvSpPr/>
          <p:nvPr/>
        </p:nvSpPr>
        <p:spPr>
          <a:xfrm>
            <a:off x="4507992" y="5532120"/>
            <a:ext cx="3200400"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Não é contagem de especialidades</a:t>
            </a:r>
            <a:endParaRPr lang="en-US" sz="900" dirty="0"/>
          </a:p>
        </p:txBody>
      </p:sp>
      <p:sp>
        <p:nvSpPr>
          <p:cNvPr id="29" name="Shape 26"/>
          <p:cNvSpPr/>
          <p:nvPr/>
        </p:nvSpPr>
        <p:spPr>
          <a:xfrm>
            <a:off x="8119872" y="4361688"/>
            <a:ext cx="3547872" cy="1481328"/>
          </a:xfrm>
          <a:prstGeom prst="roundRect">
            <a:avLst>
              <a:gd name="adj" fmla="val 7407"/>
            </a:avLst>
          </a:prstGeom>
          <a:solidFill>
            <a:srgbClr val="FFFFFF"/>
          </a:solidFill>
          <a:ln w="8890">
            <a:solidFill>
              <a:srgbClr val="DCE5DF"/>
            </a:solidFill>
            <a:prstDash val="solid"/>
          </a:ln>
        </p:spPr>
      </p:sp>
      <p:sp>
        <p:nvSpPr>
          <p:cNvPr id="30" name="Text 27"/>
          <p:cNvSpPr/>
          <p:nvPr/>
        </p:nvSpPr>
        <p:spPr>
          <a:xfrm>
            <a:off x="8284464" y="4544568"/>
            <a:ext cx="3218688" cy="548640"/>
          </a:xfrm>
          <a:prstGeom prst="rect">
            <a:avLst/>
          </a:prstGeom>
          <a:noFill/>
          <a:ln/>
        </p:spPr>
        <p:txBody>
          <a:bodyPr wrap="square" lIns="0" tIns="0" rIns="0" bIns="0" rtlCol="0" anchor="t">
            <a:normAutofit/>
          </a:bodyPr>
          <a:lstStyle/>
          <a:p>
            <a:pPr indent="0" marL="0">
              <a:buNone/>
            </a:pPr>
            <a:r>
              <a:rPr lang="en-US" sz="3500" b="1" dirty="0">
                <a:solidFill>
                  <a:srgbClr val="456C91"/>
                </a:solidFill>
                <a:latin typeface="Aptos Display" pitchFamily="34" charset="0"/>
                <a:ea typeface="Aptos Display" pitchFamily="34" charset="-122"/>
                <a:cs typeface="Aptos Display" pitchFamily="34" charset="-120"/>
              </a:rPr>
              <a:t>9</a:t>
            </a:r>
            <a:endParaRPr lang="en-US" sz="3500" dirty="0"/>
          </a:p>
        </p:txBody>
      </p:sp>
      <p:sp>
        <p:nvSpPr>
          <p:cNvPr id="31" name="Text 28"/>
          <p:cNvSpPr/>
          <p:nvPr/>
        </p:nvSpPr>
        <p:spPr>
          <a:xfrm>
            <a:off x="8293608" y="5184648"/>
            <a:ext cx="3200400"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Regras de coleta de dados</a:t>
            </a:r>
            <a:endParaRPr lang="en-US" sz="1320" dirty="0"/>
          </a:p>
        </p:txBody>
      </p:sp>
      <p:sp>
        <p:nvSpPr>
          <p:cNvPr id="32" name="Text 29"/>
          <p:cNvSpPr/>
          <p:nvPr/>
        </p:nvSpPr>
        <p:spPr>
          <a:xfrm>
            <a:off x="8293608" y="5532120"/>
            <a:ext cx="3200400"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Rever necessidade de cada campo</a:t>
            </a:r>
            <a:endParaRPr lang="en-US" sz="9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06 / AUDITORIA DE MATURIDADE</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Presença no código, operação validada</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e prontidão SaaS são coisas diferentes.</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O “mínimo” deve fechar os gaps relevantes, sem rotular tudo como recurso ausente.</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O1 · Oria — dashboard autenticado   |   O2 · Oria — API autenticada do Agent Studio   |   C1 · Código — arquitetura e ferramentas   |   C2 · Código — configuração ativa e follow-up</a:t>
            </a:r>
            <a:endParaRPr lang="en-US" sz="720" dirty="0"/>
          </a:p>
        </p:txBody>
      </p:sp>
      <p:sp>
        <p:nvSpPr>
          <p:cNvPr id="9" name="Shape 6"/>
          <p:cNvSpPr/>
          <p:nvPr/>
        </p:nvSpPr>
        <p:spPr>
          <a:xfrm>
            <a:off x="548640" y="2185416"/>
            <a:ext cx="11109960" cy="384048"/>
          </a:xfrm>
          <a:prstGeom prst="rect">
            <a:avLst>
              <a:gd name="adj" fmla="val 28571"/>
            </a:avLst>
          </a:prstGeom>
          <a:solidFill>
            <a:srgbClr val="0B3430"/>
          </a:solidFill>
          <a:ln w="8890">
            <a:solidFill>
              <a:srgbClr val="0B3430"/>
            </a:solidFill>
            <a:prstDash val="solid"/>
          </a:ln>
        </p:spPr>
      </p:sp>
      <p:sp>
        <p:nvSpPr>
          <p:cNvPr id="10" name="Text 7"/>
          <p:cNvSpPr/>
          <p:nvPr/>
        </p:nvSpPr>
        <p:spPr>
          <a:xfrm>
            <a:off x="640080" y="2286000"/>
            <a:ext cx="1975104"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Superfície</a:t>
            </a:r>
            <a:endParaRPr lang="en-US" sz="1050" dirty="0"/>
          </a:p>
        </p:txBody>
      </p:sp>
      <p:sp>
        <p:nvSpPr>
          <p:cNvPr id="11" name="Text 8"/>
          <p:cNvSpPr/>
          <p:nvPr/>
        </p:nvSpPr>
        <p:spPr>
          <a:xfrm>
            <a:off x="2798064" y="2286000"/>
            <a:ext cx="3849624"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Evidência atual</a:t>
            </a:r>
            <a:endParaRPr lang="en-US" sz="1050" dirty="0"/>
          </a:p>
        </p:txBody>
      </p:sp>
      <p:sp>
        <p:nvSpPr>
          <p:cNvPr id="12" name="Text 9"/>
          <p:cNvSpPr/>
          <p:nvPr/>
        </p:nvSpPr>
        <p:spPr>
          <a:xfrm>
            <a:off x="6830568" y="2286000"/>
            <a:ext cx="4736592"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Próximo passo</a:t>
            </a:r>
            <a:endParaRPr lang="en-US" sz="1050" dirty="0"/>
          </a:p>
        </p:txBody>
      </p:sp>
      <p:sp>
        <p:nvSpPr>
          <p:cNvPr id="13" name="Shape 10"/>
          <p:cNvSpPr/>
          <p:nvPr/>
        </p:nvSpPr>
        <p:spPr>
          <a:xfrm>
            <a:off x="548640" y="2569464"/>
            <a:ext cx="11109960" cy="521208"/>
          </a:xfrm>
          <a:prstGeom prst="rect">
            <a:avLst>
              <a:gd name="adj" fmla="val 21053"/>
            </a:avLst>
          </a:prstGeom>
          <a:solidFill>
            <a:srgbClr val="FFFFFF"/>
          </a:solidFill>
          <a:ln w="8890">
            <a:solidFill>
              <a:srgbClr val="DCE5DF"/>
            </a:solidFill>
            <a:prstDash val="solid"/>
          </a:ln>
        </p:spPr>
      </p:sp>
      <p:sp>
        <p:nvSpPr>
          <p:cNvPr id="14" name="Text 11"/>
          <p:cNvSpPr/>
          <p:nvPr/>
        </p:nvSpPr>
        <p:spPr>
          <a:xfrm>
            <a:off x="640080" y="2660904"/>
            <a:ext cx="1975104" cy="374904"/>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Agenda + sinal Pix</a:t>
            </a:r>
            <a:endParaRPr lang="en-US" sz="1200" dirty="0"/>
          </a:p>
        </p:txBody>
      </p:sp>
      <p:sp>
        <p:nvSpPr>
          <p:cNvPr id="15" name="Text 12"/>
          <p:cNvSpPr/>
          <p:nvPr/>
        </p:nvSpPr>
        <p:spPr>
          <a:xfrm>
            <a:off x="2798064" y="2660904"/>
            <a:ext cx="3849624" cy="374904"/>
          </a:xfrm>
          <a:prstGeom prst="rect">
            <a:avLst/>
          </a:prstGeom>
          <a:noFill/>
          <a:ln/>
        </p:spPr>
        <p:txBody>
          <a:bodyPr wrap="square" lIns="0" tIns="0" rIns="0" bIns="0" rtlCol="0" anchor="t">
            <a:normAutofit/>
          </a:bodyPr>
          <a:lstStyle/>
          <a:p>
            <a:pPr indent="0" marL="0">
              <a:buNone/>
            </a:pPr>
            <a:r>
              <a:rPr lang="en-US" sz="1200" dirty="0">
                <a:solidFill>
                  <a:srgbClr val="17312F"/>
                </a:solidFill>
                <a:latin typeface="Aptos" pitchFamily="34" charset="0"/>
                <a:ea typeface="Aptos" pitchFamily="34" charset="-122"/>
                <a:cs typeface="Aptos" pitchFamily="34" charset="-120"/>
              </a:rPr>
              <a:t>Ferramentas e regras presentes</a:t>
            </a:r>
            <a:endParaRPr lang="en-US" sz="1200" dirty="0"/>
          </a:p>
        </p:txBody>
      </p:sp>
      <p:sp>
        <p:nvSpPr>
          <p:cNvPr id="16" name="Text 13"/>
          <p:cNvSpPr/>
          <p:nvPr/>
        </p:nvSpPr>
        <p:spPr>
          <a:xfrm>
            <a:off x="6830568" y="2660904"/>
            <a:ext cx="4736592" cy="374904"/>
          </a:xfrm>
          <a:prstGeom prst="rect">
            <a:avLst/>
          </a:prstGeom>
          <a:noFill/>
          <a:ln/>
        </p:spPr>
        <p:txBody>
          <a:bodyPr wrap="square" lIns="0" tIns="0" rIns="0" bIns="0" rtlCol="0" anchor="t">
            <a:normAutofit/>
          </a:bodyPr>
          <a:lstStyle/>
          <a:p>
            <a:pPr indent="0" marL="0">
              <a:buNone/>
            </a:pPr>
            <a:r>
              <a:rPr lang="en-US" sz="1200" dirty="0">
                <a:solidFill>
                  <a:srgbClr val="17312F"/>
                </a:solidFill>
                <a:latin typeface="Aptos" pitchFamily="34" charset="0"/>
                <a:ea typeface="Aptos" pitchFamily="34" charset="-122"/>
                <a:cs typeface="Aptos" pitchFamily="34" charset="-120"/>
              </a:rPr>
              <a:t>Testar conflito, retries e confirmação real</a:t>
            </a:r>
            <a:endParaRPr lang="en-US" sz="1200" dirty="0"/>
          </a:p>
        </p:txBody>
      </p:sp>
      <p:sp>
        <p:nvSpPr>
          <p:cNvPr id="17" name="Shape 14"/>
          <p:cNvSpPr/>
          <p:nvPr/>
        </p:nvSpPr>
        <p:spPr>
          <a:xfrm>
            <a:off x="548640" y="3090672"/>
            <a:ext cx="11109960" cy="521208"/>
          </a:xfrm>
          <a:prstGeom prst="rect">
            <a:avLst>
              <a:gd name="adj" fmla="val 21053"/>
            </a:avLst>
          </a:prstGeom>
          <a:solidFill>
            <a:srgbClr val="FCFAF6"/>
          </a:solidFill>
          <a:ln w="8890">
            <a:solidFill>
              <a:srgbClr val="DCE5DF"/>
            </a:solidFill>
            <a:prstDash val="solid"/>
          </a:ln>
        </p:spPr>
      </p:sp>
      <p:sp>
        <p:nvSpPr>
          <p:cNvPr id="18" name="Text 15"/>
          <p:cNvSpPr/>
          <p:nvPr/>
        </p:nvSpPr>
        <p:spPr>
          <a:xfrm>
            <a:off x="640080" y="3182112"/>
            <a:ext cx="1975104" cy="374904"/>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Handoff + fila</a:t>
            </a:r>
            <a:endParaRPr lang="en-US" sz="1200" dirty="0"/>
          </a:p>
        </p:txBody>
      </p:sp>
      <p:sp>
        <p:nvSpPr>
          <p:cNvPr id="19" name="Text 16"/>
          <p:cNvSpPr/>
          <p:nvPr/>
        </p:nvSpPr>
        <p:spPr>
          <a:xfrm>
            <a:off x="2798064" y="3182112"/>
            <a:ext cx="3849624" cy="374904"/>
          </a:xfrm>
          <a:prstGeom prst="rect">
            <a:avLst/>
          </a:prstGeom>
          <a:noFill/>
          <a:ln/>
        </p:spPr>
        <p:txBody>
          <a:bodyPr wrap="square" lIns="0" tIns="0" rIns="0" bIns="0" rtlCol="0" anchor="t">
            <a:normAutofit/>
          </a:bodyPr>
          <a:lstStyle/>
          <a:p>
            <a:pPr indent="0" marL="0">
              <a:buNone/>
            </a:pPr>
            <a:r>
              <a:rPr lang="en-US" sz="1200" dirty="0">
                <a:solidFill>
                  <a:srgbClr val="17312F"/>
                </a:solidFill>
                <a:latin typeface="Aptos" pitchFamily="34" charset="0"/>
                <a:ea typeface="Aptos" pitchFamily="34" charset="-122"/>
                <a:cs typeface="Aptos" pitchFamily="34" charset="-120"/>
              </a:rPr>
              <a:t>Política e alerta observados</a:t>
            </a:r>
            <a:endParaRPr lang="en-US" sz="1200" dirty="0"/>
          </a:p>
        </p:txBody>
      </p:sp>
      <p:sp>
        <p:nvSpPr>
          <p:cNvPr id="20" name="Text 17"/>
          <p:cNvSpPr/>
          <p:nvPr/>
        </p:nvSpPr>
        <p:spPr>
          <a:xfrm>
            <a:off x="6830568" y="3182112"/>
            <a:ext cx="4736592" cy="374904"/>
          </a:xfrm>
          <a:prstGeom prst="rect">
            <a:avLst/>
          </a:prstGeom>
          <a:noFill/>
          <a:ln/>
        </p:spPr>
        <p:txBody>
          <a:bodyPr wrap="square" lIns="0" tIns="0" rIns="0" bIns="0" rtlCol="0" anchor="t">
            <a:normAutofit/>
          </a:bodyPr>
          <a:lstStyle/>
          <a:p>
            <a:pPr indent="0" marL="0">
              <a:buNone/>
            </a:pPr>
            <a:r>
              <a:rPr lang="en-US" sz="1200" dirty="0">
                <a:solidFill>
                  <a:srgbClr val="17312F"/>
                </a:solidFill>
                <a:latin typeface="Aptos" pitchFamily="34" charset="0"/>
                <a:ea typeface="Aptos" pitchFamily="34" charset="-122"/>
                <a:cs typeface="Aptos" pitchFamily="34" charset="-120"/>
              </a:rPr>
              <a:t>Medir aceite, contexto e tempo de retomada</a:t>
            </a:r>
            <a:endParaRPr lang="en-US" sz="1200" dirty="0"/>
          </a:p>
        </p:txBody>
      </p:sp>
      <p:sp>
        <p:nvSpPr>
          <p:cNvPr id="21" name="Shape 18"/>
          <p:cNvSpPr/>
          <p:nvPr/>
        </p:nvSpPr>
        <p:spPr>
          <a:xfrm>
            <a:off x="548640" y="3611880"/>
            <a:ext cx="11109960" cy="521208"/>
          </a:xfrm>
          <a:prstGeom prst="rect">
            <a:avLst>
              <a:gd name="adj" fmla="val 21053"/>
            </a:avLst>
          </a:prstGeom>
          <a:solidFill>
            <a:srgbClr val="FFFFFF"/>
          </a:solidFill>
          <a:ln w="8890">
            <a:solidFill>
              <a:srgbClr val="DCE5DF"/>
            </a:solidFill>
            <a:prstDash val="solid"/>
          </a:ln>
        </p:spPr>
      </p:sp>
      <p:sp>
        <p:nvSpPr>
          <p:cNvPr id="22" name="Text 19"/>
          <p:cNvSpPr/>
          <p:nvPr/>
        </p:nvSpPr>
        <p:spPr>
          <a:xfrm>
            <a:off x="640080" y="3703320"/>
            <a:ext cx="1975104" cy="374904"/>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Áudio + follow-up</a:t>
            </a:r>
            <a:endParaRPr lang="en-US" sz="1200" dirty="0"/>
          </a:p>
        </p:txBody>
      </p:sp>
      <p:sp>
        <p:nvSpPr>
          <p:cNvPr id="23" name="Text 20"/>
          <p:cNvSpPr/>
          <p:nvPr/>
        </p:nvSpPr>
        <p:spPr>
          <a:xfrm>
            <a:off x="2798064" y="3703320"/>
            <a:ext cx="3849624" cy="374904"/>
          </a:xfrm>
          <a:prstGeom prst="rect">
            <a:avLst/>
          </a:prstGeom>
          <a:noFill/>
          <a:ln/>
        </p:spPr>
        <p:txBody>
          <a:bodyPr wrap="square" lIns="0" tIns="0" rIns="0" bIns="0" rtlCol="0" anchor="t">
            <a:normAutofit/>
          </a:bodyPr>
          <a:lstStyle/>
          <a:p>
            <a:pPr indent="0" marL="0">
              <a:buNone/>
            </a:pPr>
            <a:r>
              <a:rPr lang="en-US" sz="1200" dirty="0">
                <a:solidFill>
                  <a:srgbClr val="17312F"/>
                </a:solidFill>
                <a:latin typeface="Aptos" pitchFamily="34" charset="0"/>
                <a:ea typeface="Aptos" pitchFamily="34" charset="-122"/>
                <a:cs typeface="Aptos" pitchFamily="34" charset="-120"/>
              </a:rPr>
              <a:t>Implementação documentada</a:t>
            </a:r>
            <a:endParaRPr lang="en-US" sz="1200" dirty="0"/>
          </a:p>
        </p:txBody>
      </p:sp>
      <p:sp>
        <p:nvSpPr>
          <p:cNvPr id="24" name="Text 21"/>
          <p:cNvSpPr/>
          <p:nvPr/>
        </p:nvSpPr>
        <p:spPr>
          <a:xfrm>
            <a:off x="6830568" y="3703320"/>
            <a:ext cx="4736592" cy="374904"/>
          </a:xfrm>
          <a:prstGeom prst="rect">
            <a:avLst/>
          </a:prstGeom>
          <a:noFill/>
          <a:ln/>
        </p:spPr>
        <p:txBody>
          <a:bodyPr wrap="square" lIns="0" tIns="0" rIns="0" bIns="0" rtlCol="0" anchor="t">
            <a:normAutofit/>
          </a:bodyPr>
          <a:lstStyle/>
          <a:p>
            <a:pPr indent="0" marL="0">
              <a:buNone/>
            </a:pPr>
            <a:r>
              <a:rPr lang="en-US" sz="1200" dirty="0">
                <a:solidFill>
                  <a:srgbClr val="17312F"/>
                </a:solidFill>
                <a:latin typeface="Aptos" pitchFamily="34" charset="0"/>
                <a:ea typeface="Aptos" pitchFamily="34" charset="-122"/>
                <a:cs typeface="Aptos" pitchFamily="34" charset="-120"/>
              </a:rPr>
              <a:t>Verificar modelo, entrega e janela de 24h</a:t>
            </a:r>
            <a:endParaRPr lang="en-US" sz="1200" dirty="0"/>
          </a:p>
        </p:txBody>
      </p:sp>
      <p:sp>
        <p:nvSpPr>
          <p:cNvPr id="25" name="Shape 22"/>
          <p:cNvSpPr/>
          <p:nvPr/>
        </p:nvSpPr>
        <p:spPr>
          <a:xfrm>
            <a:off x="548640" y="4133088"/>
            <a:ext cx="11109960" cy="521208"/>
          </a:xfrm>
          <a:prstGeom prst="rect">
            <a:avLst>
              <a:gd name="adj" fmla="val 21053"/>
            </a:avLst>
          </a:prstGeom>
          <a:solidFill>
            <a:srgbClr val="FCFAF6"/>
          </a:solidFill>
          <a:ln w="8890">
            <a:solidFill>
              <a:srgbClr val="DCE5DF"/>
            </a:solidFill>
            <a:prstDash val="solid"/>
          </a:ln>
        </p:spPr>
      </p:sp>
      <p:sp>
        <p:nvSpPr>
          <p:cNvPr id="26" name="Text 23"/>
          <p:cNvSpPr/>
          <p:nvPr/>
        </p:nvSpPr>
        <p:spPr>
          <a:xfrm>
            <a:off x="640080" y="4224528"/>
            <a:ext cx="1975104" cy="374904"/>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Cancelamento pela IA</a:t>
            </a:r>
            <a:endParaRPr lang="en-US" sz="1200" dirty="0"/>
          </a:p>
        </p:txBody>
      </p:sp>
      <p:sp>
        <p:nvSpPr>
          <p:cNvPr id="27" name="Text 24"/>
          <p:cNvSpPr/>
          <p:nvPr/>
        </p:nvSpPr>
        <p:spPr>
          <a:xfrm>
            <a:off x="2798064" y="4224528"/>
            <a:ext cx="3849624" cy="374904"/>
          </a:xfrm>
          <a:prstGeom prst="rect">
            <a:avLst/>
          </a:prstGeom>
          <a:noFill/>
          <a:ln/>
        </p:spPr>
        <p:txBody>
          <a:bodyPr wrap="square" lIns="0" tIns="0" rIns="0" bIns="0" rtlCol="0" anchor="t">
            <a:normAutofit/>
          </a:bodyPr>
          <a:lstStyle/>
          <a:p>
            <a:pPr indent="0" marL="0">
              <a:buNone/>
            </a:pPr>
            <a:r>
              <a:rPr lang="en-US" sz="1200" dirty="0">
                <a:solidFill>
                  <a:srgbClr val="17312F"/>
                </a:solidFill>
                <a:latin typeface="Aptos" pitchFamily="34" charset="0"/>
                <a:ea typeface="Aptos" pitchFamily="34" charset="-122"/>
                <a:cs typeface="Aptos" pitchFamily="34" charset="-120"/>
              </a:rPr>
              <a:t>Não consta no registro consultado</a:t>
            </a:r>
            <a:endParaRPr lang="en-US" sz="1200" dirty="0"/>
          </a:p>
        </p:txBody>
      </p:sp>
      <p:sp>
        <p:nvSpPr>
          <p:cNvPr id="28" name="Text 25"/>
          <p:cNvSpPr/>
          <p:nvPr/>
        </p:nvSpPr>
        <p:spPr>
          <a:xfrm>
            <a:off x="6830568" y="4224528"/>
            <a:ext cx="4736592" cy="374904"/>
          </a:xfrm>
          <a:prstGeom prst="rect">
            <a:avLst/>
          </a:prstGeom>
          <a:noFill/>
          <a:ln/>
        </p:spPr>
        <p:txBody>
          <a:bodyPr wrap="square" lIns="0" tIns="0" rIns="0" bIns="0" rtlCol="0" anchor="t">
            <a:normAutofit/>
          </a:bodyPr>
          <a:lstStyle/>
          <a:p>
            <a:pPr indent="0" marL="0">
              <a:buNone/>
            </a:pPr>
            <a:r>
              <a:rPr lang="en-US" sz="1200" dirty="0">
                <a:solidFill>
                  <a:srgbClr val="17312F"/>
                </a:solidFill>
                <a:latin typeface="Aptos" pitchFamily="34" charset="0"/>
                <a:ea typeface="Aptos" pitchFamily="34" charset="-122"/>
                <a:cs typeface="Aptos" pitchFamily="34" charset="-120"/>
              </a:rPr>
              <a:t>Adicionar ação determinística + auditoria</a:t>
            </a:r>
            <a:endParaRPr lang="en-US" sz="1200" dirty="0"/>
          </a:p>
        </p:txBody>
      </p:sp>
      <p:sp>
        <p:nvSpPr>
          <p:cNvPr id="29" name="Shape 26"/>
          <p:cNvSpPr/>
          <p:nvPr/>
        </p:nvSpPr>
        <p:spPr>
          <a:xfrm>
            <a:off x="548640" y="4654296"/>
            <a:ext cx="11109960" cy="521208"/>
          </a:xfrm>
          <a:prstGeom prst="rect">
            <a:avLst>
              <a:gd name="adj" fmla="val 21053"/>
            </a:avLst>
          </a:prstGeom>
          <a:solidFill>
            <a:srgbClr val="FFFFFF"/>
          </a:solidFill>
          <a:ln w="8890">
            <a:solidFill>
              <a:srgbClr val="DCE5DF"/>
            </a:solidFill>
            <a:prstDash val="solid"/>
          </a:ln>
        </p:spPr>
      </p:sp>
      <p:sp>
        <p:nvSpPr>
          <p:cNvPr id="30" name="Text 27"/>
          <p:cNvSpPr/>
          <p:nvPr/>
        </p:nvSpPr>
        <p:spPr>
          <a:xfrm>
            <a:off x="640080" y="4745736"/>
            <a:ext cx="1975104" cy="374904"/>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Resultado por interação</a:t>
            </a:r>
            <a:endParaRPr lang="en-US" sz="1200" dirty="0"/>
          </a:p>
        </p:txBody>
      </p:sp>
      <p:sp>
        <p:nvSpPr>
          <p:cNvPr id="31" name="Text 28"/>
          <p:cNvSpPr/>
          <p:nvPr/>
        </p:nvSpPr>
        <p:spPr>
          <a:xfrm>
            <a:off x="2798064" y="4745736"/>
            <a:ext cx="3849624" cy="374904"/>
          </a:xfrm>
          <a:prstGeom prst="rect">
            <a:avLst/>
          </a:prstGeom>
          <a:noFill/>
          <a:ln/>
        </p:spPr>
        <p:txBody>
          <a:bodyPr wrap="square" lIns="0" tIns="0" rIns="0" bIns="0" rtlCol="0" anchor="t">
            <a:normAutofit/>
          </a:bodyPr>
          <a:lstStyle/>
          <a:p>
            <a:pPr indent="0" marL="0">
              <a:buNone/>
            </a:pPr>
            <a:r>
              <a:rPr lang="en-US" sz="1200" dirty="0">
                <a:solidFill>
                  <a:srgbClr val="17312F"/>
                </a:solidFill>
                <a:latin typeface="Aptos" pitchFamily="34" charset="0"/>
                <a:ea typeface="Aptos" pitchFamily="34" charset="-122"/>
                <a:cs typeface="Aptos" pitchFamily="34" charset="-120"/>
              </a:rPr>
              <a:t>Logs e métricas já existem</a:t>
            </a:r>
            <a:endParaRPr lang="en-US" sz="1200" dirty="0"/>
          </a:p>
        </p:txBody>
      </p:sp>
      <p:sp>
        <p:nvSpPr>
          <p:cNvPr id="32" name="Text 29"/>
          <p:cNvSpPr/>
          <p:nvPr/>
        </p:nvSpPr>
        <p:spPr>
          <a:xfrm>
            <a:off x="6830568" y="4745736"/>
            <a:ext cx="4736592" cy="374904"/>
          </a:xfrm>
          <a:prstGeom prst="rect">
            <a:avLst/>
          </a:prstGeom>
          <a:noFill/>
          <a:ln/>
        </p:spPr>
        <p:txBody>
          <a:bodyPr wrap="square" lIns="0" tIns="0" rIns="0" bIns="0" rtlCol="0" anchor="t">
            <a:normAutofit/>
          </a:bodyPr>
          <a:lstStyle/>
          <a:p>
            <a:pPr indent="0" marL="0">
              <a:buNone/>
            </a:pPr>
            <a:r>
              <a:rPr lang="en-US" sz="1200" dirty="0">
                <a:solidFill>
                  <a:srgbClr val="17312F"/>
                </a:solidFill>
                <a:latin typeface="Aptos" pitchFamily="34" charset="0"/>
                <a:ea typeface="Aptos" pitchFamily="34" charset="-122"/>
                <a:cs typeface="Aptos" pitchFamily="34" charset="-120"/>
              </a:rPr>
              <a:t>Unificar coorte, eventos e custo por resultado</a:t>
            </a:r>
            <a:endParaRPr lang="en-US" sz="1200" dirty="0"/>
          </a:p>
        </p:txBody>
      </p:sp>
      <p:sp>
        <p:nvSpPr>
          <p:cNvPr id="33" name="Shape 30"/>
          <p:cNvSpPr/>
          <p:nvPr/>
        </p:nvSpPr>
        <p:spPr>
          <a:xfrm>
            <a:off x="548640" y="5175504"/>
            <a:ext cx="11109960" cy="521208"/>
          </a:xfrm>
          <a:prstGeom prst="rect">
            <a:avLst>
              <a:gd name="adj" fmla="val 21053"/>
            </a:avLst>
          </a:prstGeom>
          <a:solidFill>
            <a:srgbClr val="FCFAF6"/>
          </a:solidFill>
          <a:ln w="8890">
            <a:solidFill>
              <a:srgbClr val="DCE5DF"/>
            </a:solidFill>
            <a:prstDash val="solid"/>
          </a:ln>
        </p:spPr>
      </p:sp>
      <p:sp>
        <p:nvSpPr>
          <p:cNvPr id="34" name="Text 31"/>
          <p:cNvSpPr/>
          <p:nvPr/>
        </p:nvSpPr>
        <p:spPr>
          <a:xfrm>
            <a:off x="640080" y="5266944"/>
            <a:ext cx="1975104" cy="374904"/>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Multi-clínica + governança</a:t>
            </a:r>
            <a:endParaRPr lang="en-US" sz="1200" dirty="0"/>
          </a:p>
        </p:txBody>
      </p:sp>
      <p:sp>
        <p:nvSpPr>
          <p:cNvPr id="35" name="Text 32"/>
          <p:cNvSpPr/>
          <p:nvPr/>
        </p:nvSpPr>
        <p:spPr>
          <a:xfrm>
            <a:off x="2798064" y="5266944"/>
            <a:ext cx="3849624" cy="374904"/>
          </a:xfrm>
          <a:prstGeom prst="rect">
            <a:avLst/>
          </a:prstGeom>
          <a:noFill/>
          <a:ln/>
        </p:spPr>
        <p:txBody>
          <a:bodyPr wrap="square" lIns="0" tIns="0" rIns="0" bIns="0" rtlCol="0" anchor="t">
            <a:normAutofit/>
          </a:bodyPr>
          <a:lstStyle/>
          <a:p>
            <a:pPr indent="0" marL="0">
              <a:buNone/>
            </a:pPr>
            <a:r>
              <a:rPr lang="en-US" sz="1200" dirty="0">
                <a:solidFill>
                  <a:srgbClr val="17312F"/>
                </a:solidFill>
                <a:latin typeface="Aptos" pitchFamily="34" charset="0"/>
                <a:ea typeface="Aptos" pitchFamily="34" charset="-122"/>
                <a:cs typeface="Aptos" pitchFamily="34" charset="-120"/>
              </a:rPr>
              <a:t>Configuração ativa por banco</a:t>
            </a:r>
            <a:endParaRPr lang="en-US" sz="1200" dirty="0"/>
          </a:p>
        </p:txBody>
      </p:sp>
      <p:sp>
        <p:nvSpPr>
          <p:cNvPr id="36" name="Text 33"/>
          <p:cNvSpPr/>
          <p:nvPr/>
        </p:nvSpPr>
        <p:spPr>
          <a:xfrm>
            <a:off x="6830568" y="5266944"/>
            <a:ext cx="4736592" cy="374904"/>
          </a:xfrm>
          <a:prstGeom prst="rect">
            <a:avLst/>
          </a:prstGeom>
          <a:noFill/>
          <a:ln/>
        </p:spPr>
        <p:txBody>
          <a:bodyPr wrap="square" lIns="0" tIns="0" rIns="0" bIns="0" rtlCol="0" anchor="t">
            <a:normAutofit/>
          </a:bodyPr>
          <a:lstStyle/>
          <a:p>
            <a:pPr indent="0" marL="0">
              <a:buNone/>
            </a:pPr>
            <a:r>
              <a:rPr lang="en-US" sz="1200" dirty="0">
                <a:solidFill>
                  <a:srgbClr val="17312F"/>
                </a:solidFill>
                <a:latin typeface="Aptos" pitchFamily="34" charset="0"/>
                <a:ea typeface="Aptos" pitchFamily="34" charset="-122"/>
                <a:cs typeface="Aptos" pitchFamily="34" charset="-120"/>
              </a:rPr>
              <a:t>Validar isolamento antes de compartilhar dados</a:t>
            </a:r>
            <a:endParaRPr lang="en-US" sz="1200" dirty="0"/>
          </a:p>
        </p:txBody>
      </p:sp>
      <p:sp>
        <p:nvSpPr>
          <p:cNvPr id="37" name="Shape 34"/>
          <p:cNvSpPr/>
          <p:nvPr/>
        </p:nvSpPr>
        <p:spPr>
          <a:xfrm>
            <a:off x="521208" y="5797296"/>
            <a:ext cx="11128248" cy="393192"/>
          </a:xfrm>
          <a:prstGeom prst="rect">
            <a:avLst>
              <a:gd name="adj" fmla="val 27907"/>
            </a:avLst>
          </a:prstGeom>
          <a:solidFill>
            <a:srgbClr val="E7F2EC"/>
          </a:solidFill>
          <a:ln w="8890">
            <a:solidFill>
              <a:srgbClr val="E7F2EC"/>
            </a:solidFill>
            <a:prstDash val="solid"/>
          </a:ln>
        </p:spPr>
      </p:sp>
      <p:sp>
        <p:nvSpPr>
          <p:cNvPr id="38" name="Text 35"/>
          <p:cNvSpPr/>
          <p:nvPr/>
        </p:nvSpPr>
        <p:spPr>
          <a:xfrm>
            <a:off x="704088" y="5888736"/>
            <a:ext cx="10762488" cy="201168"/>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Prioridade: testar e completar a cadeia operacional; não criar novas telas só para aumentar a percepção de escopo.</a:t>
            </a:r>
            <a:endParaRPr lang="en-US" sz="12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07 / BRASIL EM NÚMEROS</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O contexto brasileiro é grande.</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O mercado comprável ainda precisa ser delimitado.</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Números de contexto — não uma multiplicação automática para construir TAM.</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S1 · NIC.br / CGI.br — TIC Saúde 2024   |   S2 · FMUSP — Demografia Médica no Brasil 2025   |   S3 · ANS — Dados Gerais</a:t>
            </a:r>
            <a:endParaRPr lang="en-US" sz="720" dirty="0"/>
          </a:p>
        </p:txBody>
      </p:sp>
      <p:sp>
        <p:nvSpPr>
          <p:cNvPr id="9" name="Shape 6"/>
          <p:cNvSpPr/>
          <p:nvPr/>
        </p:nvSpPr>
        <p:spPr>
          <a:xfrm>
            <a:off x="548640" y="2295144"/>
            <a:ext cx="5413248" cy="1481328"/>
          </a:xfrm>
          <a:prstGeom prst="roundRect">
            <a:avLst>
              <a:gd name="adj" fmla="val 7407"/>
            </a:avLst>
          </a:prstGeom>
          <a:solidFill>
            <a:srgbClr val="FFFFFF"/>
          </a:solidFill>
          <a:ln w="8890">
            <a:solidFill>
              <a:srgbClr val="DCE5DF"/>
            </a:solidFill>
            <a:prstDash val="solid"/>
          </a:ln>
        </p:spPr>
      </p:sp>
      <p:sp>
        <p:nvSpPr>
          <p:cNvPr id="10" name="Text 7"/>
          <p:cNvSpPr/>
          <p:nvPr/>
        </p:nvSpPr>
        <p:spPr>
          <a:xfrm>
            <a:off x="713232" y="2478024"/>
            <a:ext cx="5084064" cy="548640"/>
          </a:xfrm>
          <a:prstGeom prst="rect">
            <a:avLst/>
          </a:prstGeom>
          <a:noFill/>
          <a:ln/>
        </p:spPr>
        <p:txBody>
          <a:bodyPr wrap="square" lIns="0" tIns="0" rIns="0" bIns="0" rtlCol="0" anchor="t">
            <a:normAutofit/>
          </a:bodyPr>
          <a:lstStyle/>
          <a:p>
            <a:pPr indent="0" marL="0">
              <a:buNone/>
            </a:pPr>
            <a:r>
              <a:rPr lang="en-US" sz="3500" b="1" dirty="0">
                <a:solidFill>
                  <a:srgbClr val="0F766E"/>
                </a:solidFill>
                <a:latin typeface="Aptos Display" pitchFamily="34" charset="0"/>
                <a:ea typeface="Aptos Display" pitchFamily="34" charset="-122"/>
                <a:cs typeface="Aptos Display" pitchFamily="34" charset="-120"/>
              </a:rPr>
              <a:t>53,06 mi</a:t>
            </a:r>
            <a:endParaRPr lang="en-US" sz="3500" dirty="0"/>
          </a:p>
        </p:txBody>
      </p:sp>
      <p:sp>
        <p:nvSpPr>
          <p:cNvPr id="11" name="Text 8"/>
          <p:cNvSpPr/>
          <p:nvPr/>
        </p:nvSpPr>
        <p:spPr>
          <a:xfrm>
            <a:off x="722376" y="3118104"/>
            <a:ext cx="5065776"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Vínculos em planos médicos</a:t>
            </a:r>
            <a:endParaRPr lang="en-US" sz="1320" dirty="0"/>
          </a:p>
        </p:txBody>
      </p:sp>
      <p:sp>
        <p:nvSpPr>
          <p:cNvPr id="12" name="Text 9"/>
          <p:cNvSpPr/>
          <p:nvPr/>
        </p:nvSpPr>
        <p:spPr>
          <a:xfrm>
            <a:off x="722376" y="3465576"/>
            <a:ext cx="5065776"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ANS • junho/2026 • não pessoas únicas</a:t>
            </a:r>
            <a:endParaRPr lang="en-US" sz="900" dirty="0"/>
          </a:p>
        </p:txBody>
      </p:sp>
      <p:sp>
        <p:nvSpPr>
          <p:cNvPr id="13" name="Shape 10"/>
          <p:cNvSpPr/>
          <p:nvPr/>
        </p:nvSpPr>
        <p:spPr>
          <a:xfrm>
            <a:off x="6227064" y="2295144"/>
            <a:ext cx="5413248" cy="1481328"/>
          </a:xfrm>
          <a:prstGeom prst="roundRect">
            <a:avLst>
              <a:gd name="adj" fmla="val 7407"/>
            </a:avLst>
          </a:prstGeom>
          <a:solidFill>
            <a:srgbClr val="FFFFFF"/>
          </a:solidFill>
          <a:ln w="8890">
            <a:solidFill>
              <a:srgbClr val="DCE5DF"/>
            </a:solidFill>
            <a:prstDash val="solid"/>
          </a:ln>
        </p:spPr>
      </p:sp>
      <p:sp>
        <p:nvSpPr>
          <p:cNvPr id="14" name="Text 11"/>
          <p:cNvSpPr/>
          <p:nvPr/>
        </p:nvSpPr>
        <p:spPr>
          <a:xfrm>
            <a:off x="6391656" y="2478024"/>
            <a:ext cx="5084064" cy="548640"/>
          </a:xfrm>
          <a:prstGeom prst="rect">
            <a:avLst/>
          </a:prstGeom>
          <a:noFill/>
          <a:ln/>
        </p:spPr>
        <p:txBody>
          <a:bodyPr wrap="square" lIns="0" tIns="0" rIns="0" bIns="0" rtlCol="0" anchor="t">
            <a:normAutofit/>
          </a:bodyPr>
          <a:lstStyle/>
          <a:p>
            <a:pPr indent="0" marL="0">
              <a:buNone/>
            </a:pPr>
            <a:r>
              <a:rPr lang="en-US" sz="3500" b="1" dirty="0">
                <a:solidFill>
                  <a:srgbClr val="0F766E"/>
                </a:solidFill>
                <a:latin typeface="Aptos Display" pitchFamily="34" charset="0"/>
                <a:ea typeface="Aptos Display" pitchFamily="34" charset="-122"/>
                <a:cs typeface="Aptos Display" pitchFamily="34" charset="-120"/>
              </a:rPr>
              <a:t>353 mil</a:t>
            </a:r>
            <a:endParaRPr lang="en-US" sz="3500" dirty="0"/>
          </a:p>
        </p:txBody>
      </p:sp>
      <p:sp>
        <p:nvSpPr>
          <p:cNvPr id="15" name="Text 12"/>
          <p:cNvSpPr/>
          <p:nvPr/>
        </p:nvSpPr>
        <p:spPr>
          <a:xfrm>
            <a:off x="6400800" y="3118104"/>
            <a:ext cx="5065776"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Médicos especialistas</a:t>
            </a:r>
            <a:endParaRPr lang="en-US" sz="1320" dirty="0"/>
          </a:p>
        </p:txBody>
      </p:sp>
      <p:sp>
        <p:nvSpPr>
          <p:cNvPr id="16" name="Text 13"/>
          <p:cNvSpPr/>
          <p:nvPr/>
        </p:nvSpPr>
        <p:spPr>
          <a:xfrm>
            <a:off x="6400800" y="3465576"/>
            <a:ext cx="5065776"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FMUSP • dezembro/2024 • não clínicas</a:t>
            </a:r>
            <a:endParaRPr lang="en-US" sz="900" dirty="0"/>
          </a:p>
        </p:txBody>
      </p:sp>
      <p:sp>
        <p:nvSpPr>
          <p:cNvPr id="17" name="Shape 14"/>
          <p:cNvSpPr/>
          <p:nvPr/>
        </p:nvSpPr>
        <p:spPr>
          <a:xfrm>
            <a:off x="548640" y="4069080"/>
            <a:ext cx="5413248" cy="1481328"/>
          </a:xfrm>
          <a:prstGeom prst="roundRect">
            <a:avLst>
              <a:gd name="adj" fmla="val 7407"/>
            </a:avLst>
          </a:prstGeom>
          <a:solidFill>
            <a:srgbClr val="FFFFFF"/>
          </a:solidFill>
          <a:ln w="8890">
            <a:solidFill>
              <a:srgbClr val="DCE5DF"/>
            </a:solidFill>
            <a:prstDash val="solid"/>
          </a:ln>
        </p:spPr>
      </p:sp>
      <p:sp>
        <p:nvSpPr>
          <p:cNvPr id="18" name="Text 15"/>
          <p:cNvSpPr/>
          <p:nvPr/>
        </p:nvSpPr>
        <p:spPr>
          <a:xfrm>
            <a:off x="713232" y="4251960"/>
            <a:ext cx="5084064" cy="548640"/>
          </a:xfrm>
          <a:prstGeom prst="rect">
            <a:avLst/>
          </a:prstGeom>
          <a:noFill/>
          <a:ln/>
        </p:spPr>
        <p:txBody>
          <a:bodyPr wrap="square" lIns="0" tIns="0" rIns="0" bIns="0" rtlCol="0" anchor="t">
            <a:normAutofit/>
          </a:bodyPr>
          <a:lstStyle/>
          <a:p>
            <a:pPr indent="0" marL="0">
              <a:buNone/>
            </a:pPr>
            <a:r>
              <a:rPr lang="en-US" sz="3500" b="1" dirty="0">
                <a:solidFill>
                  <a:srgbClr val="0F766E"/>
                </a:solidFill>
                <a:latin typeface="Aptos Display" pitchFamily="34" charset="0"/>
                <a:ea typeface="Aptos Display" pitchFamily="34" charset="-122"/>
                <a:cs typeface="Aptos Display" pitchFamily="34" charset="-120"/>
              </a:rPr>
              <a:t>92%</a:t>
            </a:r>
            <a:endParaRPr lang="en-US" sz="3500" dirty="0"/>
          </a:p>
        </p:txBody>
      </p:sp>
      <p:sp>
        <p:nvSpPr>
          <p:cNvPr id="19" name="Text 16"/>
          <p:cNvSpPr/>
          <p:nvPr/>
        </p:nvSpPr>
        <p:spPr>
          <a:xfrm>
            <a:off x="722376" y="4892040"/>
            <a:ext cx="5065776"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Estabelecimentos com sistema eletrônico</a:t>
            </a:r>
            <a:endParaRPr lang="en-US" sz="1320" dirty="0"/>
          </a:p>
        </p:txBody>
      </p:sp>
      <p:sp>
        <p:nvSpPr>
          <p:cNvPr id="20" name="Text 17"/>
          <p:cNvSpPr/>
          <p:nvPr/>
        </p:nvSpPr>
        <p:spPr>
          <a:xfrm>
            <a:off x="722376" y="5239512"/>
            <a:ext cx="5065776"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TIC Saúde 2024 • públicos + privados</a:t>
            </a:r>
            <a:endParaRPr lang="en-US" sz="900" dirty="0"/>
          </a:p>
        </p:txBody>
      </p:sp>
      <p:sp>
        <p:nvSpPr>
          <p:cNvPr id="21" name="Shape 18"/>
          <p:cNvSpPr/>
          <p:nvPr/>
        </p:nvSpPr>
        <p:spPr>
          <a:xfrm>
            <a:off x="6227064" y="4069080"/>
            <a:ext cx="5413248" cy="1481328"/>
          </a:xfrm>
          <a:prstGeom prst="roundRect">
            <a:avLst>
              <a:gd name="adj" fmla="val 7407"/>
            </a:avLst>
          </a:prstGeom>
          <a:solidFill>
            <a:srgbClr val="FFFFFF"/>
          </a:solidFill>
          <a:ln w="8890">
            <a:solidFill>
              <a:srgbClr val="DCE5DF"/>
            </a:solidFill>
            <a:prstDash val="solid"/>
          </a:ln>
        </p:spPr>
      </p:sp>
      <p:sp>
        <p:nvSpPr>
          <p:cNvPr id="22" name="Text 19"/>
          <p:cNvSpPr/>
          <p:nvPr/>
        </p:nvSpPr>
        <p:spPr>
          <a:xfrm>
            <a:off x="6391656" y="4251960"/>
            <a:ext cx="5084064" cy="548640"/>
          </a:xfrm>
          <a:prstGeom prst="rect">
            <a:avLst/>
          </a:prstGeom>
          <a:noFill/>
          <a:ln/>
        </p:spPr>
        <p:txBody>
          <a:bodyPr wrap="square" lIns="0" tIns="0" rIns="0" bIns="0" rtlCol="0" anchor="t">
            <a:normAutofit/>
          </a:bodyPr>
          <a:lstStyle/>
          <a:p>
            <a:pPr indent="0" marL="0">
              <a:buNone/>
            </a:pPr>
            <a:r>
              <a:rPr lang="en-US" sz="3500" b="1" dirty="0">
                <a:solidFill>
                  <a:srgbClr val="0F766E"/>
                </a:solidFill>
                <a:latin typeface="Aptos Display" pitchFamily="34" charset="0"/>
                <a:ea typeface="Aptos Display" pitchFamily="34" charset="-122"/>
                <a:cs typeface="Aptos Display" pitchFamily="34" charset="-120"/>
              </a:rPr>
              <a:t>~4%</a:t>
            </a:r>
            <a:endParaRPr lang="en-US" sz="3500" dirty="0"/>
          </a:p>
        </p:txBody>
      </p:sp>
      <p:sp>
        <p:nvSpPr>
          <p:cNvPr id="23" name="Text 20"/>
          <p:cNvSpPr/>
          <p:nvPr/>
        </p:nvSpPr>
        <p:spPr>
          <a:xfrm>
            <a:off x="6400800" y="4892040"/>
            <a:ext cx="5065776"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Estabelecimentos que usam IA</a:t>
            </a:r>
            <a:endParaRPr lang="en-US" sz="1320" dirty="0"/>
          </a:p>
        </p:txBody>
      </p:sp>
      <p:sp>
        <p:nvSpPr>
          <p:cNvPr id="24" name="Text 21"/>
          <p:cNvSpPr/>
          <p:nvPr/>
        </p:nvSpPr>
        <p:spPr>
          <a:xfrm>
            <a:off x="6400800" y="5239512"/>
            <a:ext cx="5065776"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TIC Saúde 2024 • indicador amplo</a:t>
            </a:r>
            <a:endParaRPr lang="en-US" sz="900" dirty="0"/>
          </a:p>
        </p:txBody>
      </p:sp>
      <p:sp>
        <p:nvSpPr>
          <p:cNvPr id="25" name="Shape 22"/>
          <p:cNvSpPr/>
          <p:nvPr/>
        </p:nvSpPr>
        <p:spPr>
          <a:xfrm>
            <a:off x="521208" y="5907024"/>
            <a:ext cx="11128248" cy="393192"/>
          </a:xfrm>
          <a:prstGeom prst="rect">
            <a:avLst>
              <a:gd name="adj" fmla="val 27907"/>
            </a:avLst>
          </a:prstGeom>
          <a:solidFill>
            <a:srgbClr val="E7F2EC"/>
          </a:solidFill>
          <a:ln w="8890">
            <a:solidFill>
              <a:srgbClr val="E7F2EC"/>
            </a:solidFill>
            <a:prstDash val="solid"/>
          </a:ln>
        </p:spPr>
      </p:sp>
      <p:sp>
        <p:nvSpPr>
          <p:cNvPr id="26" name="Text 23"/>
          <p:cNvSpPr/>
          <p:nvPr/>
        </p:nvSpPr>
        <p:spPr>
          <a:xfrm>
            <a:off x="704088" y="5998464"/>
            <a:ext cx="10762488" cy="201168"/>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Implicação: integrar-se ao sistema existente e vender um resultado simples; não pressupor ausência de software.</a:t>
            </a:r>
            <a:endParaRPr lang="en-US" sz="12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08 / DISPOSIÇÃO A ADOTAR</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O maior obstáculo pode ser prioridade.</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Não a qualidade do modelo.</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Razões declaradas pelos estabelecimentos que não usam IA; respostas não são mutuamente exclusivas.</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S1 · NIC.br / CGI.br — TIC Saúde 2024</a:t>
            </a:r>
            <a:endParaRPr lang="en-US" sz="720" dirty="0"/>
          </a:p>
        </p:txBody>
      </p:sp>
      <p:sp>
        <p:nvSpPr>
          <p:cNvPr id="9" name="Text 6"/>
          <p:cNvSpPr/>
          <p:nvPr/>
        </p:nvSpPr>
        <p:spPr>
          <a:xfrm>
            <a:off x="640080" y="2514600"/>
            <a:ext cx="2880360" cy="310896"/>
          </a:xfrm>
          <a:prstGeom prst="rect">
            <a:avLst/>
          </a:prstGeom>
          <a:noFill/>
          <a:ln/>
        </p:spPr>
        <p:txBody>
          <a:bodyPr wrap="square" lIns="0" tIns="0" rIns="0" bIns="0" rtlCol="0" anchor="t">
            <a:normAutofit/>
          </a:bodyPr>
          <a:lstStyle/>
          <a:p>
            <a:pPr indent="0" marL="0">
              <a:buNone/>
            </a:pPr>
            <a:r>
              <a:rPr lang="en-US" sz="1700" b="1" dirty="0">
                <a:solidFill>
                  <a:srgbClr val="17312F"/>
                </a:solidFill>
                <a:latin typeface="Aptos Display" pitchFamily="34" charset="0"/>
                <a:ea typeface="Aptos Display" pitchFamily="34" charset="-122"/>
                <a:cs typeface="Aptos Display" pitchFamily="34" charset="-120"/>
              </a:rPr>
              <a:t>Não é prioridade</a:t>
            </a:r>
            <a:endParaRPr lang="en-US" sz="1700" dirty="0"/>
          </a:p>
        </p:txBody>
      </p:sp>
      <p:sp>
        <p:nvSpPr>
          <p:cNvPr id="10" name="Shape 7"/>
          <p:cNvSpPr/>
          <p:nvPr/>
        </p:nvSpPr>
        <p:spPr>
          <a:xfrm>
            <a:off x="3575304" y="2487168"/>
            <a:ext cx="5340096" cy="393192"/>
          </a:xfrm>
          <a:prstGeom prst="rect">
            <a:avLst>
              <a:gd name="adj" fmla="val 27907"/>
            </a:avLst>
          </a:prstGeom>
          <a:solidFill>
            <a:srgbClr val="E5EAE4"/>
          </a:solidFill>
          <a:ln w="8890">
            <a:solidFill>
              <a:srgbClr val="E5EAE4"/>
            </a:solidFill>
            <a:prstDash val="solid"/>
          </a:ln>
        </p:spPr>
      </p:sp>
      <p:sp>
        <p:nvSpPr>
          <p:cNvPr id="11" name="Shape 8"/>
          <p:cNvSpPr/>
          <p:nvPr/>
        </p:nvSpPr>
        <p:spPr>
          <a:xfrm>
            <a:off x="3575304" y="2487168"/>
            <a:ext cx="4653512" cy="393192"/>
          </a:xfrm>
          <a:prstGeom prst="rect">
            <a:avLst>
              <a:gd name="adj" fmla="val 27907"/>
            </a:avLst>
          </a:prstGeom>
          <a:solidFill>
            <a:srgbClr val="0F766E"/>
          </a:solidFill>
          <a:ln w="8890">
            <a:solidFill>
              <a:srgbClr val="0F766E"/>
            </a:solidFill>
            <a:prstDash val="solid"/>
          </a:ln>
        </p:spPr>
      </p:sp>
      <p:sp>
        <p:nvSpPr>
          <p:cNvPr id="12" name="Text 9"/>
          <p:cNvSpPr/>
          <p:nvPr/>
        </p:nvSpPr>
        <p:spPr>
          <a:xfrm>
            <a:off x="9171432" y="2487168"/>
            <a:ext cx="1207008" cy="393192"/>
          </a:xfrm>
          <a:prstGeom prst="rect">
            <a:avLst/>
          </a:prstGeom>
          <a:noFill/>
          <a:ln/>
        </p:spPr>
        <p:txBody>
          <a:bodyPr wrap="square" lIns="0" tIns="0" rIns="0" bIns="0" rtlCol="0" anchor="t">
            <a:normAutofit/>
          </a:bodyPr>
          <a:lstStyle/>
          <a:p>
            <a:pPr indent="0" marL="0">
              <a:buNone/>
            </a:pPr>
            <a:r>
              <a:rPr lang="en-US" sz="2500" b="1" dirty="0">
                <a:solidFill>
                  <a:srgbClr val="0F766E"/>
                </a:solidFill>
                <a:latin typeface="Aptos Display" pitchFamily="34" charset="0"/>
                <a:ea typeface="Aptos Display" pitchFamily="34" charset="-122"/>
                <a:cs typeface="Aptos Display" pitchFamily="34" charset="-120"/>
              </a:rPr>
              <a:t>61%</a:t>
            </a:r>
            <a:endParaRPr lang="en-US" sz="2500" dirty="0"/>
          </a:p>
        </p:txBody>
      </p:sp>
      <p:sp>
        <p:nvSpPr>
          <p:cNvPr id="13" name="Text 10"/>
          <p:cNvSpPr/>
          <p:nvPr/>
        </p:nvSpPr>
        <p:spPr>
          <a:xfrm>
            <a:off x="640080" y="3337560"/>
            <a:ext cx="2880360" cy="310896"/>
          </a:xfrm>
          <a:prstGeom prst="rect">
            <a:avLst/>
          </a:prstGeom>
          <a:noFill/>
          <a:ln/>
        </p:spPr>
        <p:txBody>
          <a:bodyPr wrap="square" lIns="0" tIns="0" rIns="0" bIns="0" rtlCol="0" anchor="t">
            <a:normAutofit/>
          </a:bodyPr>
          <a:lstStyle/>
          <a:p>
            <a:pPr indent="0" marL="0">
              <a:buNone/>
            </a:pPr>
            <a:r>
              <a:rPr lang="en-US" sz="1700" b="1" dirty="0">
                <a:solidFill>
                  <a:srgbClr val="17312F"/>
                </a:solidFill>
                <a:latin typeface="Aptos Display" pitchFamily="34" charset="0"/>
                <a:ea typeface="Aptos Display" pitchFamily="34" charset="-122"/>
                <a:cs typeface="Aptos Display" pitchFamily="34" charset="-120"/>
              </a:rPr>
              <a:t>Não vê necessidade</a:t>
            </a:r>
            <a:endParaRPr lang="en-US" sz="1700" dirty="0"/>
          </a:p>
        </p:txBody>
      </p:sp>
      <p:sp>
        <p:nvSpPr>
          <p:cNvPr id="14" name="Shape 11"/>
          <p:cNvSpPr/>
          <p:nvPr/>
        </p:nvSpPr>
        <p:spPr>
          <a:xfrm>
            <a:off x="3575304" y="3310128"/>
            <a:ext cx="5340096" cy="393192"/>
          </a:xfrm>
          <a:prstGeom prst="rect">
            <a:avLst>
              <a:gd name="adj" fmla="val 27907"/>
            </a:avLst>
          </a:prstGeom>
          <a:solidFill>
            <a:srgbClr val="E5EAE4"/>
          </a:solidFill>
          <a:ln w="8890">
            <a:solidFill>
              <a:srgbClr val="E5EAE4"/>
            </a:solidFill>
            <a:prstDash val="solid"/>
          </a:ln>
        </p:spPr>
      </p:sp>
      <p:sp>
        <p:nvSpPr>
          <p:cNvPr id="15" name="Shape 12"/>
          <p:cNvSpPr/>
          <p:nvPr/>
        </p:nvSpPr>
        <p:spPr>
          <a:xfrm>
            <a:off x="3575304" y="3310128"/>
            <a:ext cx="4500938" cy="393192"/>
          </a:xfrm>
          <a:prstGeom prst="rect">
            <a:avLst>
              <a:gd name="adj" fmla="val 27907"/>
            </a:avLst>
          </a:prstGeom>
          <a:solidFill>
            <a:srgbClr val="0F766E"/>
          </a:solidFill>
          <a:ln w="8890">
            <a:solidFill>
              <a:srgbClr val="0F766E"/>
            </a:solidFill>
            <a:prstDash val="solid"/>
          </a:ln>
        </p:spPr>
      </p:sp>
      <p:sp>
        <p:nvSpPr>
          <p:cNvPr id="16" name="Text 13"/>
          <p:cNvSpPr/>
          <p:nvPr/>
        </p:nvSpPr>
        <p:spPr>
          <a:xfrm>
            <a:off x="9171432" y="3310128"/>
            <a:ext cx="1207008" cy="393192"/>
          </a:xfrm>
          <a:prstGeom prst="rect">
            <a:avLst/>
          </a:prstGeom>
          <a:noFill/>
          <a:ln/>
        </p:spPr>
        <p:txBody>
          <a:bodyPr wrap="square" lIns="0" tIns="0" rIns="0" bIns="0" rtlCol="0" anchor="t">
            <a:normAutofit/>
          </a:bodyPr>
          <a:lstStyle/>
          <a:p>
            <a:pPr indent="0" marL="0">
              <a:buNone/>
            </a:pPr>
            <a:r>
              <a:rPr lang="en-US" sz="2500" b="1" dirty="0">
                <a:solidFill>
                  <a:srgbClr val="0F766E"/>
                </a:solidFill>
                <a:latin typeface="Aptos Display" pitchFamily="34" charset="0"/>
                <a:ea typeface="Aptos Display" pitchFamily="34" charset="-122"/>
                <a:cs typeface="Aptos Display" pitchFamily="34" charset="-120"/>
              </a:rPr>
              <a:t>59%</a:t>
            </a:r>
            <a:endParaRPr lang="en-US" sz="2500" dirty="0"/>
          </a:p>
        </p:txBody>
      </p:sp>
      <p:sp>
        <p:nvSpPr>
          <p:cNvPr id="17" name="Text 14"/>
          <p:cNvSpPr/>
          <p:nvPr/>
        </p:nvSpPr>
        <p:spPr>
          <a:xfrm>
            <a:off x="640080" y="4160520"/>
            <a:ext cx="2880360" cy="310896"/>
          </a:xfrm>
          <a:prstGeom prst="rect">
            <a:avLst/>
          </a:prstGeom>
          <a:noFill/>
          <a:ln/>
        </p:spPr>
        <p:txBody>
          <a:bodyPr wrap="square" lIns="0" tIns="0" rIns="0" bIns="0" rtlCol="0" anchor="t">
            <a:normAutofit/>
          </a:bodyPr>
          <a:lstStyle/>
          <a:p>
            <a:pPr indent="0" marL="0">
              <a:buNone/>
            </a:pPr>
            <a:r>
              <a:rPr lang="en-US" sz="1700" b="1" dirty="0">
                <a:solidFill>
                  <a:srgbClr val="17312F"/>
                </a:solidFill>
                <a:latin typeface="Aptos Display" pitchFamily="34" charset="0"/>
                <a:ea typeface="Aptos Display" pitchFamily="34" charset="-122"/>
                <a:cs typeface="Aptos Display" pitchFamily="34" charset="-120"/>
              </a:rPr>
              <a:t>Custo muito alto</a:t>
            </a:r>
            <a:endParaRPr lang="en-US" sz="1700" dirty="0"/>
          </a:p>
        </p:txBody>
      </p:sp>
      <p:sp>
        <p:nvSpPr>
          <p:cNvPr id="18" name="Shape 15"/>
          <p:cNvSpPr/>
          <p:nvPr/>
        </p:nvSpPr>
        <p:spPr>
          <a:xfrm>
            <a:off x="3575304" y="4133088"/>
            <a:ext cx="5340096" cy="393192"/>
          </a:xfrm>
          <a:prstGeom prst="rect">
            <a:avLst>
              <a:gd name="adj" fmla="val 27907"/>
            </a:avLst>
          </a:prstGeom>
          <a:solidFill>
            <a:srgbClr val="E5EAE4"/>
          </a:solidFill>
          <a:ln w="8890">
            <a:solidFill>
              <a:srgbClr val="E5EAE4"/>
            </a:solidFill>
            <a:prstDash val="solid"/>
          </a:ln>
        </p:spPr>
      </p:sp>
      <p:sp>
        <p:nvSpPr>
          <p:cNvPr id="19" name="Shape 16"/>
          <p:cNvSpPr/>
          <p:nvPr/>
        </p:nvSpPr>
        <p:spPr>
          <a:xfrm>
            <a:off x="3575304" y="4133088"/>
            <a:ext cx="3738067" cy="393192"/>
          </a:xfrm>
          <a:prstGeom prst="rect">
            <a:avLst>
              <a:gd name="adj" fmla="val 27907"/>
            </a:avLst>
          </a:prstGeom>
          <a:solidFill>
            <a:srgbClr val="E67861"/>
          </a:solidFill>
          <a:ln w="8890">
            <a:solidFill>
              <a:srgbClr val="E67861"/>
            </a:solidFill>
            <a:prstDash val="solid"/>
          </a:ln>
        </p:spPr>
      </p:sp>
      <p:sp>
        <p:nvSpPr>
          <p:cNvPr id="20" name="Text 17"/>
          <p:cNvSpPr/>
          <p:nvPr/>
        </p:nvSpPr>
        <p:spPr>
          <a:xfrm>
            <a:off x="9171432" y="4133088"/>
            <a:ext cx="1207008" cy="393192"/>
          </a:xfrm>
          <a:prstGeom prst="rect">
            <a:avLst/>
          </a:prstGeom>
          <a:noFill/>
          <a:ln/>
        </p:spPr>
        <p:txBody>
          <a:bodyPr wrap="square" lIns="0" tIns="0" rIns="0" bIns="0" rtlCol="0" anchor="t">
            <a:normAutofit/>
          </a:bodyPr>
          <a:lstStyle/>
          <a:p>
            <a:pPr indent="0" marL="0">
              <a:buNone/>
            </a:pPr>
            <a:r>
              <a:rPr lang="en-US" sz="2500" b="1" dirty="0">
                <a:solidFill>
                  <a:srgbClr val="E67861"/>
                </a:solidFill>
                <a:latin typeface="Aptos Display" pitchFamily="34" charset="0"/>
                <a:ea typeface="Aptos Display" pitchFamily="34" charset="-122"/>
                <a:cs typeface="Aptos Display" pitchFamily="34" charset="-120"/>
              </a:rPr>
              <a:t>49%</a:t>
            </a:r>
            <a:endParaRPr lang="en-US" sz="2500" dirty="0"/>
          </a:p>
        </p:txBody>
      </p:sp>
      <p:sp>
        <p:nvSpPr>
          <p:cNvPr id="21" name="Text 18"/>
          <p:cNvSpPr/>
          <p:nvPr/>
        </p:nvSpPr>
        <p:spPr>
          <a:xfrm>
            <a:off x="649224" y="5230368"/>
            <a:ext cx="2103120" cy="310896"/>
          </a:xfrm>
          <a:prstGeom prst="rect">
            <a:avLst/>
          </a:prstGeom>
          <a:noFill/>
          <a:ln/>
        </p:spPr>
        <p:txBody>
          <a:bodyPr wrap="square" lIns="0" tIns="0" rIns="0" bIns="0" rtlCol="0" anchor="t">
            <a:normAutofit/>
          </a:bodyPr>
          <a:lstStyle/>
          <a:p>
            <a:pPr indent="0" marL="0">
              <a:buNone/>
            </a:pPr>
            <a:r>
              <a:rPr lang="en-US" sz="1800" b="1" dirty="0">
                <a:solidFill>
                  <a:srgbClr val="17312F"/>
                </a:solidFill>
                <a:latin typeface="Aptos Display" pitchFamily="34" charset="0"/>
                <a:ea typeface="Aptos Display" pitchFamily="34" charset="-122"/>
                <a:cs typeface="Aptos Display" pitchFamily="34" charset="-120"/>
              </a:rPr>
              <a:t>Venda recomendada</a:t>
            </a:r>
            <a:endParaRPr lang="en-US" sz="1800" dirty="0"/>
          </a:p>
        </p:txBody>
      </p:sp>
      <p:sp>
        <p:nvSpPr>
          <p:cNvPr id="22" name="Text 19"/>
          <p:cNvSpPr/>
          <p:nvPr/>
        </p:nvSpPr>
        <p:spPr>
          <a:xfrm>
            <a:off x="3575304" y="5138928"/>
            <a:ext cx="7589520" cy="585216"/>
          </a:xfrm>
          <a:prstGeom prst="rect">
            <a:avLst/>
          </a:prstGeom>
          <a:noFill/>
          <a:ln/>
        </p:spPr>
        <p:txBody>
          <a:bodyPr wrap="square" lIns="0" tIns="0" rIns="0" bIns="0" rtlCol="0" anchor="t">
            <a:normAutofit/>
          </a:bodyPr>
          <a:lstStyle/>
          <a:p>
            <a:pPr indent="0" marL="0">
              <a:buNone/>
            </a:pPr>
            <a:r>
              <a:rPr lang="en-US" sz="1700" dirty="0">
                <a:solidFill>
                  <a:srgbClr val="17312F"/>
                </a:solidFill>
                <a:latin typeface="Aptos" pitchFamily="34" charset="0"/>
                <a:ea typeface="Aptos" pitchFamily="34" charset="-122"/>
                <a:cs typeface="Aptos" pitchFamily="34" charset="-120"/>
              </a:rPr>
              <a:t>“Quantos contatos ficaram sem agenda e quanto isso custa?”</a:t>
            </a:r>
            <a:endParaRPr lang="en-US" sz="1700" dirty="0"/>
          </a:p>
          <a:p>
            <a:pPr indent="0" marL="0">
              <a:buNone/>
            </a:pPr>
            <a:r>
              <a:rPr lang="en-US" sz="1700" dirty="0">
                <a:solidFill>
                  <a:srgbClr val="17312F"/>
                </a:solidFill>
                <a:latin typeface="Aptos" pitchFamily="34" charset="0"/>
                <a:ea typeface="Aptos" pitchFamily="34" charset="-122"/>
                <a:cs typeface="Aptos" pitchFamily="34" charset="-120"/>
              </a:rPr>
              <a:t>É melhor do que “Sua clínica precisa de IA”.</a:t>
            </a:r>
            <a:endParaRPr lang="en-US" sz="17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09 / NICHO INICIAL RECOMENDADO</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Escolha o comprador antes</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de escolher mais recursos.</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Hipótese de partida alinhada à agenda em etapas já existente; confirmar nas primeiras entrevistas.</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D1 · Documento de partida — v1.md   |   O2 · Oria — API autenticada do Agent Studio</a:t>
            </a:r>
            <a:endParaRPr lang="en-US" sz="720" dirty="0"/>
          </a:p>
        </p:txBody>
      </p:sp>
      <p:sp>
        <p:nvSpPr>
          <p:cNvPr id="9" name="Shape 6"/>
          <p:cNvSpPr/>
          <p:nvPr/>
        </p:nvSpPr>
        <p:spPr>
          <a:xfrm>
            <a:off x="557784" y="2157984"/>
            <a:ext cx="1901952" cy="256032"/>
          </a:xfrm>
          <a:prstGeom prst="roundRect">
            <a:avLst>
              <a:gd name="adj" fmla="val 42857"/>
            </a:avLst>
          </a:prstGeom>
          <a:solidFill>
            <a:srgbClr val="F4ECDE"/>
          </a:solidFill>
          <a:ln w="8890">
            <a:solidFill>
              <a:srgbClr val="F4ECDE"/>
            </a:solidFill>
            <a:prstDash val="solid"/>
          </a:ln>
        </p:spPr>
      </p:sp>
      <p:sp>
        <p:nvSpPr>
          <p:cNvPr id="10" name="Text 7"/>
          <p:cNvSpPr/>
          <p:nvPr/>
        </p:nvSpPr>
        <p:spPr>
          <a:xfrm>
            <a:off x="649224" y="2189988"/>
            <a:ext cx="1719072" cy="155448"/>
          </a:xfrm>
          <a:prstGeom prst="rect">
            <a:avLst/>
          </a:prstGeom>
          <a:noFill/>
          <a:ln/>
        </p:spPr>
        <p:txBody>
          <a:bodyPr wrap="square" lIns="0" tIns="0" rIns="0" bIns="0" rtlCol="0" anchor="t">
            <a:normAutofit/>
          </a:bodyPr>
          <a:lstStyle/>
          <a:p>
            <a:pPr indent="0" marL="0">
              <a:buNone/>
            </a:pPr>
            <a:r>
              <a:rPr lang="en-US" sz="850" b="1" dirty="0">
                <a:solidFill>
                  <a:srgbClr val="997039"/>
                </a:solidFill>
                <a:latin typeface="Aptos Display" pitchFamily="34" charset="0"/>
                <a:ea typeface="Aptos Display" pitchFamily="34" charset="-122"/>
                <a:cs typeface="Aptos Display" pitchFamily="34" charset="-120"/>
              </a:rPr>
              <a:t>HIPÓTESE DE ICP</a:t>
            </a:r>
            <a:endParaRPr lang="en-US" sz="850" dirty="0"/>
          </a:p>
        </p:txBody>
      </p:sp>
      <p:sp>
        <p:nvSpPr>
          <p:cNvPr id="11" name="Text 8"/>
          <p:cNvSpPr/>
          <p:nvPr/>
        </p:nvSpPr>
        <p:spPr>
          <a:xfrm>
            <a:off x="594360" y="2670048"/>
            <a:ext cx="6830568" cy="1051560"/>
          </a:xfrm>
          <a:prstGeom prst="rect">
            <a:avLst/>
          </a:prstGeom>
          <a:noFill/>
          <a:ln/>
        </p:spPr>
        <p:txBody>
          <a:bodyPr wrap="square" lIns="0" tIns="0" rIns="0" bIns="0" rtlCol="0" anchor="t">
            <a:normAutofit/>
          </a:bodyPr>
          <a:lstStyle/>
          <a:p>
            <a:pPr indent="0" marL="0">
              <a:buNone/>
            </a:pPr>
            <a:r>
              <a:rPr lang="en-US" sz="2600" b="1" dirty="0">
                <a:solidFill>
                  <a:srgbClr val="17312F"/>
                </a:solidFill>
                <a:latin typeface="Aptos Display" pitchFamily="34" charset="0"/>
                <a:ea typeface="Aptos Display" pitchFamily="34" charset="-122"/>
                <a:cs typeface="Aptos Display" pitchFamily="34" charset="-120"/>
              </a:rPr>
              <a:t>Clínicas particulares de consulta + avaliação</a:t>
            </a:r>
            <a:endParaRPr lang="en-US" sz="2600" dirty="0"/>
          </a:p>
          <a:p>
            <a:pPr indent="0" marL="0">
              <a:buNone/>
            </a:pPr>
            <a:r>
              <a:rPr lang="en-US" sz="2600" b="1" dirty="0">
                <a:solidFill>
                  <a:srgbClr val="17312F"/>
                </a:solidFill>
                <a:latin typeface="Aptos Display" pitchFamily="34" charset="0"/>
                <a:ea typeface="Aptos Display" pitchFamily="34" charset="-122"/>
                <a:cs typeface="Aptos Display" pitchFamily="34" charset="-120"/>
              </a:rPr>
              <a:t>(ex.: nutrologia), para pacientes adultos.</a:t>
            </a:r>
            <a:endParaRPr lang="en-US" sz="2600" dirty="0"/>
          </a:p>
        </p:txBody>
      </p:sp>
      <p:sp>
        <p:nvSpPr>
          <p:cNvPr id="12" name="Shape 9"/>
          <p:cNvSpPr/>
          <p:nvPr/>
        </p:nvSpPr>
        <p:spPr>
          <a:xfrm>
            <a:off x="630936" y="4009644"/>
            <a:ext cx="64008" cy="64008"/>
          </a:xfrm>
          <a:prstGeom prst="ellipse">
            <a:avLst/>
          </a:prstGeom>
          <a:solidFill>
            <a:srgbClr val="0F766E"/>
          </a:solidFill>
          <a:ln w="12700">
            <a:solidFill>
              <a:srgbClr val="0F766E"/>
            </a:solidFill>
            <a:prstDash val="solid"/>
          </a:ln>
        </p:spPr>
      </p:sp>
      <p:sp>
        <p:nvSpPr>
          <p:cNvPr id="13" name="Text 10"/>
          <p:cNvSpPr/>
          <p:nvPr/>
        </p:nvSpPr>
        <p:spPr>
          <a:xfrm>
            <a:off x="832104" y="3931920"/>
            <a:ext cx="6263640" cy="320040"/>
          </a:xfrm>
          <a:prstGeom prst="rect">
            <a:avLst/>
          </a:prstGeom>
          <a:noFill/>
          <a:ln/>
        </p:spPr>
        <p:txBody>
          <a:bodyPr wrap="square" lIns="0" tIns="0" rIns="0" bIns="0" rtlCol="0" anchor="t">
            <a:normAutofit/>
          </a:bodyPr>
          <a:lstStyle/>
          <a:p>
            <a:pPr indent="0" marL="0">
              <a:buNone/>
            </a:pPr>
            <a:r>
              <a:rPr lang="en-US" sz="1450" dirty="0">
                <a:solidFill>
                  <a:srgbClr val="17312F"/>
                </a:solidFill>
                <a:latin typeface="Aptos" pitchFamily="34" charset="0"/>
                <a:ea typeface="Aptos" pitchFamily="34" charset="-122"/>
                <a:cs typeface="Aptos" pitchFamily="34" charset="-120"/>
              </a:rPr>
              <a:t>2–6 profissionais; dono ou gestor decide.</a:t>
            </a:r>
            <a:endParaRPr lang="en-US" sz="1450" dirty="0"/>
          </a:p>
        </p:txBody>
      </p:sp>
      <p:sp>
        <p:nvSpPr>
          <p:cNvPr id="14" name="Shape 11"/>
          <p:cNvSpPr/>
          <p:nvPr/>
        </p:nvSpPr>
        <p:spPr>
          <a:xfrm>
            <a:off x="630936" y="4439412"/>
            <a:ext cx="64008" cy="64008"/>
          </a:xfrm>
          <a:prstGeom prst="ellipse">
            <a:avLst/>
          </a:prstGeom>
          <a:solidFill>
            <a:srgbClr val="0F766E"/>
          </a:solidFill>
          <a:ln w="12700">
            <a:solidFill>
              <a:srgbClr val="0F766E"/>
            </a:solidFill>
            <a:prstDash val="solid"/>
          </a:ln>
        </p:spPr>
      </p:sp>
      <p:sp>
        <p:nvSpPr>
          <p:cNvPr id="15" name="Text 12"/>
          <p:cNvSpPr/>
          <p:nvPr/>
        </p:nvSpPr>
        <p:spPr>
          <a:xfrm>
            <a:off x="832104" y="4361688"/>
            <a:ext cx="6263640" cy="320040"/>
          </a:xfrm>
          <a:prstGeom prst="rect">
            <a:avLst/>
          </a:prstGeom>
          <a:noFill/>
          <a:ln/>
        </p:spPr>
        <p:txBody>
          <a:bodyPr wrap="square" lIns="0" tIns="0" rIns="0" bIns="0" rtlCol="0" anchor="t">
            <a:normAutofit/>
          </a:bodyPr>
          <a:lstStyle/>
          <a:p>
            <a:pPr indent="0" marL="0">
              <a:buNone/>
            </a:pPr>
            <a:r>
              <a:rPr lang="en-US" sz="1450" dirty="0">
                <a:solidFill>
                  <a:srgbClr val="17312F"/>
                </a:solidFill>
                <a:latin typeface="Aptos" pitchFamily="34" charset="0"/>
                <a:ea typeface="Aptos" pitchFamily="34" charset="-122"/>
                <a:cs typeface="Aptos" pitchFamily="34" charset="-120"/>
              </a:rPr>
              <a:t>≥ 500 contatos administrativos por mês.</a:t>
            </a:r>
            <a:endParaRPr lang="en-US" sz="1450" dirty="0"/>
          </a:p>
        </p:txBody>
      </p:sp>
      <p:sp>
        <p:nvSpPr>
          <p:cNvPr id="16" name="Shape 13"/>
          <p:cNvSpPr/>
          <p:nvPr/>
        </p:nvSpPr>
        <p:spPr>
          <a:xfrm>
            <a:off x="630936" y="4869180"/>
            <a:ext cx="64008" cy="64008"/>
          </a:xfrm>
          <a:prstGeom prst="ellipse">
            <a:avLst/>
          </a:prstGeom>
          <a:solidFill>
            <a:srgbClr val="0F766E"/>
          </a:solidFill>
          <a:ln w="12700">
            <a:solidFill>
              <a:srgbClr val="0F766E"/>
            </a:solidFill>
            <a:prstDash val="solid"/>
          </a:ln>
        </p:spPr>
      </p:sp>
      <p:sp>
        <p:nvSpPr>
          <p:cNvPr id="17" name="Text 14"/>
          <p:cNvSpPr/>
          <p:nvPr/>
        </p:nvSpPr>
        <p:spPr>
          <a:xfrm>
            <a:off x="832104" y="4791456"/>
            <a:ext cx="6263640" cy="320040"/>
          </a:xfrm>
          <a:prstGeom prst="rect">
            <a:avLst/>
          </a:prstGeom>
          <a:noFill/>
          <a:ln/>
        </p:spPr>
        <p:txBody>
          <a:bodyPr wrap="square" lIns="0" tIns="0" rIns="0" bIns="0" rtlCol="0" anchor="t">
            <a:normAutofit/>
          </a:bodyPr>
          <a:lstStyle/>
          <a:p>
            <a:pPr indent="0" marL="0">
              <a:buNone/>
            </a:pPr>
            <a:r>
              <a:rPr lang="en-US" sz="1450" dirty="0">
                <a:solidFill>
                  <a:srgbClr val="17312F"/>
                </a:solidFill>
                <a:latin typeface="Aptos" pitchFamily="34" charset="0"/>
                <a:ea typeface="Aptos" pitchFamily="34" charset="-122"/>
                <a:cs typeface="Aptos" pitchFamily="34" charset="-120"/>
              </a:rPr>
              <a:t>Agenda com capacidade e perdas recuperáveis.</a:t>
            </a:r>
            <a:endParaRPr lang="en-US" sz="1450" dirty="0"/>
          </a:p>
        </p:txBody>
      </p:sp>
      <p:sp>
        <p:nvSpPr>
          <p:cNvPr id="18" name="Shape 15"/>
          <p:cNvSpPr/>
          <p:nvPr/>
        </p:nvSpPr>
        <p:spPr>
          <a:xfrm>
            <a:off x="630936" y="5298948"/>
            <a:ext cx="64008" cy="64008"/>
          </a:xfrm>
          <a:prstGeom prst="ellipse">
            <a:avLst/>
          </a:prstGeom>
          <a:solidFill>
            <a:srgbClr val="0F766E"/>
          </a:solidFill>
          <a:ln w="12700">
            <a:solidFill>
              <a:srgbClr val="0F766E"/>
            </a:solidFill>
            <a:prstDash val="solid"/>
          </a:ln>
        </p:spPr>
      </p:sp>
      <p:sp>
        <p:nvSpPr>
          <p:cNvPr id="19" name="Text 16"/>
          <p:cNvSpPr/>
          <p:nvPr/>
        </p:nvSpPr>
        <p:spPr>
          <a:xfrm>
            <a:off x="832104" y="5221224"/>
            <a:ext cx="6263640" cy="320040"/>
          </a:xfrm>
          <a:prstGeom prst="rect">
            <a:avLst/>
          </a:prstGeom>
          <a:noFill/>
          <a:ln/>
        </p:spPr>
        <p:txBody>
          <a:bodyPr wrap="square" lIns="0" tIns="0" rIns="0" bIns="0" rtlCol="0" anchor="t">
            <a:normAutofit/>
          </a:bodyPr>
          <a:lstStyle/>
          <a:p>
            <a:pPr indent="0" marL="0">
              <a:buNone/>
            </a:pPr>
            <a:r>
              <a:rPr lang="en-US" sz="1450" dirty="0">
                <a:solidFill>
                  <a:srgbClr val="17312F"/>
                </a:solidFill>
                <a:latin typeface="Aptos" pitchFamily="34" charset="0"/>
                <a:ea typeface="Aptos" pitchFamily="34" charset="-122"/>
                <a:cs typeface="Aptos" pitchFamily="34" charset="-120"/>
              </a:rPr>
              <a:t>Equipe disponível para supervisionar exceções.</a:t>
            </a:r>
            <a:endParaRPr lang="en-US" sz="1450" dirty="0"/>
          </a:p>
        </p:txBody>
      </p:sp>
      <p:sp>
        <p:nvSpPr>
          <p:cNvPr id="20" name="Shape 17"/>
          <p:cNvSpPr/>
          <p:nvPr/>
        </p:nvSpPr>
        <p:spPr>
          <a:xfrm>
            <a:off x="7827264" y="2688336"/>
            <a:ext cx="3813048" cy="1499616"/>
          </a:xfrm>
          <a:prstGeom prst="roundRect">
            <a:avLst>
              <a:gd name="adj" fmla="val 7317"/>
            </a:avLst>
          </a:prstGeom>
          <a:solidFill>
            <a:srgbClr val="FFFFFF"/>
          </a:solidFill>
          <a:ln w="8890">
            <a:solidFill>
              <a:srgbClr val="DCE5DF"/>
            </a:solidFill>
            <a:prstDash val="solid"/>
          </a:ln>
        </p:spPr>
      </p:sp>
      <p:sp>
        <p:nvSpPr>
          <p:cNvPr id="21" name="Shape 18"/>
          <p:cNvSpPr/>
          <p:nvPr/>
        </p:nvSpPr>
        <p:spPr>
          <a:xfrm>
            <a:off x="7991856" y="2889504"/>
            <a:ext cx="50292" cy="320040"/>
          </a:xfrm>
          <a:prstGeom prst="rect">
            <a:avLst>
              <a:gd name="adj" fmla="val 218182"/>
            </a:avLst>
          </a:prstGeom>
          <a:solidFill>
            <a:srgbClr val="0F766E"/>
          </a:solidFill>
          <a:ln w="8890">
            <a:solidFill>
              <a:srgbClr val="0F766E"/>
            </a:solidFill>
            <a:prstDash val="solid"/>
          </a:ln>
        </p:spPr>
      </p:sp>
      <p:sp>
        <p:nvSpPr>
          <p:cNvPr id="22" name="Text 19"/>
          <p:cNvSpPr/>
          <p:nvPr/>
        </p:nvSpPr>
        <p:spPr>
          <a:xfrm>
            <a:off x="8156448" y="2898648"/>
            <a:ext cx="3300984" cy="438912"/>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ENTRAR SÓ SE</a:t>
            </a:r>
            <a:endParaRPr lang="en-US" sz="1800" dirty="0"/>
          </a:p>
        </p:txBody>
      </p:sp>
      <p:sp>
        <p:nvSpPr>
          <p:cNvPr id="23" name="Text 20"/>
          <p:cNvSpPr/>
          <p:nvPr/>
        </p:nvSpPr>
        <p:spPr>
          <a:xfrm>
            <a:off x="8037576" y="3383280"/>
            <a:ext cx="3392424" cy="676656"/>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Autoriza medir a linha de base, dá acesso à agenda e aceita definir valor por atendimento realizado.</a:t>
            </a:r>
            <a:endParaRPr lang="en-US" sz="1350" dirty="0"/>
          </a:p>
        </p:txBody>
      </p:sp>
      <p:sp>
        <p:nvSpPr>
          <p:cNvPr id="24" name="Shape 21"/>
          <p:cNvSpPr/>
          <p:nvPr/>
        </p:nvSpPr>
        <p:spPr>
          <a:xfrm>
            <a:off x="7827264" y="4471416"/>
            <a:ext cx="3813048" cy="1508760"/>
          </a:xfrm>
          <a:prstGeom prst="roundRect">
            <a:avLst>
              <a:gd name="adj" fmla="val 7273"/>
            </a:avLst>
          </a:prstGeom>
          <a:solidFill>
            <a:srgbClr val="FFFFFF"/>
          </a:solidFill>
          <a:ln w="8890">
            <a:solidFill>
              <a:srgbClr val="DCE5DF"/>
            </a:solidFill>
            <a:prstDash val="solid"/>
          </a:ln>
        </p:spPr>
      </p:sp>
      <p:sp>
        <p:nvSpPr>
          <p:cNvPr id="25" name="Shape 22"/>
          <p:cNvSpPr/>
          <p:nvPr/>
        </p:nvSpPr>
        <p:spPr>
          <a:xfrm>
            <a:off x="7991856" y="4672584"/>
            <a:ext cx="50292" cy="320040"/>
          </a:xfrm>
          <a:prstGeom prst="rect">
            <a:avLst>
              <a:gd name="adj" fmla="val 218182"/>
            </a:avLst>
          </a:prstGeom>
          <a:solidFill>
            <a:srgbClr val="E67861"/>
          </a:solidFill>
          <a:ln w="8890">
            <a:solidFill>
              <a:srgbClr val="E67861"/>
            </a:solidFill>
            <a:prstDash val="solid"/>
          </a:ln>
        </p:spPr>
      </p:sp>
      <p:sp>
        <p:nvSpPr>
          <p:cNvPr id="26" name="Text 23"/>
          <p:cNvSpPr/>
          <p:nvPr/>
        </p:nvSpPr>
        <p:spPr>
          <a:xfrm>
            <a:off x="8156448" y="4681728"/>
            <a:ext cx="3300984" cy="438912"/>
          </a:xfrm>
          <a:prstGeom prst="rect">
            <a:avLst/>
          </a:prstGeom>
          <a:noFill/>
          <a:ln/>
        </p:spPr>
        <p:txBody>
          <a:bodyPr wrap="square" lIns="0" tIns="0" rIns="0" bIns="0" rtlCol="0" anchor="t">
            <a:normAutofit/>
          </a:bodyPr>
          <a:lstStyle/>
          <a:p>
            <a:pPr indent="0" marL="0">
              <a:buNone/>
            </a:pPr>
            <a:r>
              <a:rPr lang="en-US" sz="1800" b="1" dirty="0">
                <a:solidFill>
                  <a:srgbClr val="E67861"/>
                </a:solidFill>
                <a:latin typeface="Aptos Display" pitchFamily="34" charset="0"/>
                <a:ea typeface="Aptos Display" pitchFamily="34" charset="-122"/>
                <a:cs typeface="Aptos Display" pitchFamily="34" charset="-120"/>
              </a:rPr>
              <a:t>EVITAR NO PILOTO</a:t>
            </a:r>
            <a:endParaRPr lang="en-US" sz="1800" dirty="0"/>
          </a:p>
        </p:txBody>
      </p:sp>
      <p:sp>
        <p:nvSpPr>
          <p:cNvPr id="27" name="Text 24"/>
          <p:cNvSpPr/>
          <p:nvPr/>
        </p:nvSpPr>
        <p:spPr>
          <a:xfrm>
            <a:off x="8037576" y="5166360"/>
            <a:ext cx="3392424" cy="685800"/>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Hospitais, convênios complexos, menores de idade e autonomia clínica. Não são necessários para provar a tese.</a:t>
            </a:r>
            <a:endParaRPr lang="en-US" sz="135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10 / CAMPO COMPETITIVO</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A concorrência real já controla</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a agenda, o orçamento ou a conversa.</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Não confundir uma lista de empresas de IA com alternativas que o comprador realmente considera.</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D1 · Documento de partida — v1.md   |   S4 · Feegow — Preços e Planos   |   S6 · Hyro — comunicado de financiamento   |   S8 · Abridge — site e posicionamento atuais</a:t>
            </a:r>
            <a:endParaRPr lang="en-US" sz="720" dirty="0"/>
          </a:p>
        </p:txBody>
      </p:sp>
      <p:sp>
        <p:nvSpPr>
          <p:cNvPr id="9" name="Shape 6"/>
          <p:cNvSpPr/>
          <p:nvPr/>
        </p:nvSpPr>
        <p:spPr>
          <a:xfrm>
            <a:off x="548640" y="2194560"/>
            <a:ext cx="5404104" cy="1481328"/>
          </a:xfrm>
          <a:prstGeom prst="roundRect">
            <a:avLst>
              <a:gd name="adj" fmla="val 7407"/>
            </a:avLst>
          </a:prstGeom>
          <a:solidFill>
            <a:srgbClr val="FFFFFF"/>
          </a:solidFill>
          <a:ln w="8890">
            <a:solidFill>
              <a:srgbClr val="DCE5DF"/>
            </a:solidFill>
            <a:prstDash val="solid"/>
          </a:ln>
        </p:spPr>
      </p:sp>
      <p:sp>
        <p:nvSpPr>
          <p:cNvPr id="10" name="Shape 7"/>
          <p:cNvSpPr/>
          <p:nvPr/>
        </p:nvSpPr>
        <p:spPr>
          <a:xfrm>
            <a:off x="713232" y="2395728"/>
            <a:ext cx="50292" cy="320040"/>
          </a:xfrm>
          <a:prstGeom prst="rect">
            <a:avLst>
              <a:gd name="adj" fmla="val 218182"/>
            </a:avLst>
          </a:prstGeom>
          <a:solidFill>
            <a:srgbClr val="0F766E"/>
          </a:solidFill>
          <a:ln w="8890">
            <a:solidFill>
              <a:srgbClr val="0F766E"/>
            </a:solidFill>
            <a:prstDash val="solid"/>
          </a:ln>
        </p:spPr>
      </p:sp>
      <p:sp>
        <p:nvSpPr>
          <p:cNvPr id="11" name="Text 8"/>
          <p:cNvSpPr/>
          <p:nvPr/>
        </p:nvSpPr>
        <p:spPr>
          <a:xfrm>
            <a:off x="877824" y="2404872"/>
            <a:ext cx="4892040" cy="438912"/>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SOFTWARE DA CLÍNICA</a:t>
            </a:r>
            <a:endParaRPr lang="en-US" sz="1800" dirty="0"/>
          </a:p>
        </p:txBody>
      </p:sp>
      <p:sp>
        <p:nvSpPr>
          <p:cNvPr id="12" name="Text 9"/>
          <p:cNvSpPr/>
          <p:nvPr/>
        </p:nvSpPr>
        <p:spPr>
          <a:xfrm>
            <a:off x="758952" y="2889504"/>
            <a:ext cx="4983480" cy="658368"/>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Feegow / Doctoralia, iClinic, Amplimed, Ninsaúde.</a:t>
            </a:r>
            <a:endParaRPr lang="en-US" sz="1350" dirty="0"/>
          </a:p>
          <a:p>
            <a:pPr indent="0" marL="0">
              <a:buNone/>
            </a:pPr>
            <a:r>
              <a:rPr lang="en-US" sz="1350" dirty="0">
                <a:solidFill>
                  <a:srgbClr val="17312F"/>
                </a:solidFill>
                <a:latin typeface="Aptos" pitchFamily="34" charset="0"/>
                <a:ea typeface="Aptos" pitchFamily="34" charset="-122"/>
                <a:cs typeface="Aptos" pitchFamily="34" charset="-120"/>
              </a:rPr>
              <a:t>Vantagem: base instalada, agenda e prontuário.</a:t>
            </a:r>
            <a:endParaRPr lang="en-US" sz="1350" dirty="0"/>
          </a:p>
        </p:txBody>
      </p:sp>
      <p:sp>
        <p:nvSpPr>
          <p:cNvPr id="13" name="Shape 10"/>
          <p:cNvSpPr/>
          <p:nvPr/>
        </p:nvSpPr>
        <p:spPr>
          <a:xfrm>
            <a:off x="6227064" y="2194560"/>
            <a:ext cx="5404104" cy="1481328"/>
          </a:xfrm>
          <a:prstGeom prst="roundRect">
            <a:avLst>
              <a:gd name="adj" fmla="val 7407"/>
            </a:avLst>
          </a:prstGeom>
          <a:solidFill>
            <a:srgbClr val="FFFFFF"/>
          </a:solidFill>
          <a:ln w="8890">
            <a:solidFill>
              <a:srgbClr val="DCE5DF"/>
            </a:solidFill>
            <a:prstDash val="solid"/>
          </a:ln>
        </p:spPr>
      </p:sp>
      <p:sp>
        <p:nvSpPr>
          <p:cNvPr id="14" name="Shape 11"/>
          <p:cNvSpPr/>
          <p:nvPr/>
        </p:nvSpPr>
        <p:spPr>
          <a:xfrm>
            <a:off x="6391656" y="2395728"/>
            <a:ext cx="50292" cy="320040"/>
          </a:xfrm>
          <a:prstGeom prst="rect">
            <a:avLst>
              <a:gd name="adj" fmla="val 218182"/>
            </a:avLst>
          </a:prstGeom>
          <a:solidFill>
            <a:srgbClr val="0F766E"/>
          </a:solidFill>
          <a:ln w="8890">
            <a:solidFill>
              <a:srgbClr val="0F766E"/>
            </a:solidFill>
            <a:prstDash val="solid"/>
          </a:ln>
        </p:spPr>
      </p:sp>
      <p:sp>
        <p:nvSpPr>
          <p:cNvPr id="15" name="Text 12"/>
          <p:cNvSpPr/>
          <p:nvPr/>
        </p:nvSpPr>
        <p:spPr>
          <a:xfrm>
            <a:off x="6556248" y="2404872"/>
            <a:ext cx="4892040" cy="438912"/>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AUTOMAÇÃO DE ACESSO</a:t>
            </a:r>
            <a:endParaRPr lang="en-US" sz="1800" dirty="0"/>
          </a:p>
        </p:txBody>
      </p:sp>
      <p:sp>
        <p:nvSpPr>
          <p:cNvPr id="16" name="Text 13"/>
          <p:cNvSpPr/>
          <p:nvPr/>
        </p:nvSpPr>
        <p:spPr>
          <a:xfrm>
            <a:off x="6437376" y="2889504"/>
            <a:ext cx="4983480" cy="658368"/>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Hyro, Orbita, Avaamo, Kore.ai.</a:t>
            </a:r>
            <a:endParaRPr lang="en-US" sz="1350" dirty="0"/>
          </a:p>
          <a:p>
            <a:pPr indent="0" marL="0">
              <a:buNone/>
            </a:pPr>
            <a:r>
              <a:rPr lang="en-US" sz="1350" dirty="0">
                <a:solidFill>
                  <a:srgbClr val="17312F"/>
                </a:solidFill>
                <a:latin typeface="Aptos" pitchFamily="34" charset="0"/>
                <a:ea typeface="Aptos" pitchFamily="34" charset="-122"/>
                <a:cs typeface="Aptos" pitchFamily="34" charset="-120"/>
              </a:rPr>
              <a:t>Vantagem: resolução integrada e contratos de escala.</a:t>
            </a:r>
            <a:endParaRPr lang="en-US" sz="1350" dirty="0"/>
          </a:p>
        </p:txBody>
      </p:sp>
      <p:sp>
        <p:nvSpPr>
          <p:cNvPr id="17" name="Shape 14"/>
          <p:cNvSpPr/>
          <p:nvPr/>
        </p:nvSpPr>
        <p:spPr>
          <a:xfrm>
            <a:off x="548640" y="3986784"/>
            <a:ext cx="5404104" cy="1481328"/>
          </a:xfrm>
          <a:prstGeom prst="roundRect">
            <a:avLst>
              <a:gd name="adj" fmla="val 7407"/>
            </a:avLst>
          </a:prstGeom>
          <a:solidFill>
            <a:srgbClr val="FFFFFF"/>
          </a:solidFill>
          <a:ln w="8890">
            <a:solidFill>
              <a:srgbClr val="DCE5DF"/>
            </a:solidFill>
            <a:prstDash val="solid"/>
          </a:ln>
        </p:spPr>
      </p:sp>
      <p:sp>
        <p:nvSpPr>
          <p:cNvPr id="18" name="Shape 15"/>
          <p:cNvSpPr/>
          <p:nvPr/>
        </p:nvSpPr>
        <p:spPr>
          <a:xfrm>
            <a:off x="713232" y="4187952"/>
            <a:ext cx="50292" cy="320040"/>
          </a:xfrm>
          <a:prstGeom prst="rect">
            <a:avLst>
              <a:gd name="adj" fmla="val 218182"/>
            </a:avLst>
          </a:prstGeom>
          <a:solidFill>
            <a:srgbClr val="456C91"/>
          </a:solidFill>
          <a:ln w="8890">
            <a:solidFill>
              <a:srgbClr val="456C91"/>
            </a:solidFill>
            <a:prstDash val="solid"/>
          </a:ln>
        </p:spPr>
      </p:sp>
      <p:sp>
        <p:nvSpPr>
          <p:cNvPr id="19" name="Text 16"/>
          <p:cNvSpPr/>
          <p:nvPr/>
        </p:nvSpPr>
        <p:spPr>
          <a:xfrm>
            <a:off x="877824" y="4197096"/>
            <a:ext cx="4892040" cy="438912"/>
          </a:xfrm>
          <a:prstGeom prst="rect">
            <a:avLst/>
          </a:prstGeom>
          <a:noFill/>
          <a:ln/>
        </p:spPr>
        <p:txBody>
          <a:bodyPr wrap="square" lIns="0" tIns="0" rIns="0" bIns="0" rtlCol="0" anchor="t">
            <a:normAutofit/>
          </a:bodyPr>
          <a:lstStyle/>
          <a:p>
            <a:pPr indent="0" marL="0">
              <a:buNone/>
            </a:pPr>
            <a:r>
              <a:rPr lang="en-US" sz="1800" b="1" dirty="0">
                <a:solidFill>
                  <a:srgbClr val="456C91"/>
                </a:solidFill>
                <a:latin typeface="Aptos Display" pitchFamily="34" charset="0"/>
                <a:ea typeface="Aptos Display" pitchFamily="34" charset="-122"/>
                <a:cs typeface="Aptos Display" pitchFamily="34" charset="-120"/>
              </a:rPr>
              <a:t>IA CLÍNICA E ENTERPRISE</a:t>
            </a:r>
            <a:endParaRPr lang="en-US" sz="1800" dirty="0"/>
          </a:p>
        </p:txBody>
      </p:sp>
      <p:sp>
        <p:nvSpPr>
          <p:cNvPr id="20" name="Text 17"/>
          <p:cNvSpPr/>
          <p:nvPr/>
        </p:nvSpPr>
        <p:spPr>
          <a:xfrm>
            <a:off x="758952" y="4681728"/>
            <a:ext cx="4983480" cy="658368"/>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Abridge, Dragon Copilot, Nabla, Suki, Ambience.</a:t>
            </a:r>
            <a:endParaRPr lang="en-US" sz="1350" dirty="0"/>
          </a:p>
          <a:p>
            <a:pPr indent="0" marL="0">
              <a:buNone/>
            </a:pPr>
            <a:r>
              <a:rPr lang="en-US" sz="1350" dirty="0">
                <a:solidFill>
                  <a:srgbClr val="17312F"/>
                </a:solidFill>
                <a:latin typeface="Aptos" pitchFamily="34" charset="0"/>
                <a:ea typeface="Aptos" pitchFamily="34" charset="-122"/>
                <a:cs typeface="Aptos" pitchFamily="34" charset="-120"/>
              </a:rPr>
              <a:t>Vantagem: workflow clínico; adjacências em expansão.</a:t>
            </a:r>
            <a:endParaRPr lang="en-US" sz="1350" dirty="0"/>
          </a:p>
        </p:txBody>
      </p:sp>
      <p:sp>
        <p:nvSpPr>
          <p:cNvPr id="21" name="Shape 18"/>
          <p:cNvSpPr/>
          <p:nvPr/>
        </p:nvSpPr>
        <p:spPr>
          <a:xfrm>
            <a:off x="6227064" y="3986784"/>
            <a:ext cx="5404104" cy="1481328"/>
          </a:xfrm>
          <a:prstGeom prst="roundRect">
            <a:avLst>
              <a:gd name="adj" fmla="val 7407"/>
            </a:avLst>
          </a:prstGeom>
          <a:solidFill>
            <a:srgbClr val="FFFFFF"/>
          </a:solidFill>
          <a:ln w="8890">
            <a:solidFill>
              <a:srgbClr val="DCE5DF"/>
            </a:solidFill>
            <a:prstDash val="solid"/>
          </a:ln>
        </p:spPr>
      </p:sp>
      <p:sp>
        <p:nvSpPr>
          <p:cNvPr id="22" name="Shape 19"/>
          <p:cNvSpPr/>
          <p:nvPr/>
        </p:nvSpPr>
        <p:spPr>
          <a:xfrm>
            <a:off x="6391656" y="4187952"/>
            <a:ext cx="50292" cy="320040"/>
          </a:xfrm>
          <a:prstGeom prst="rect">
            <a:avLst>
              <a:gd name="adj" fmla="val 218182"/>
            </a:avLst>
          </a:prstGeom>
          <a:solidFill>
            <a:srgbClr val="997039"/>
          </a:solidFill>
          <a:ln w="8890">
            <a:solidFill>
              <a:srgbClr val="997039"/>
            </a:solidFill>
            <a:prstDash val="solid"/>
          </a:ln>
        </p:spPr>
      </p:sp>
      <p:sp>
        <p:nvSpPr>
          <p:cNvPr id="23" name="Text 20"/>
          <p:cNvSpPr/>
          <p:nvPr/>
        </p:nvSpPr>
        <p:spPr>
          <a:xfrm>
            <a:off x="6556248" y="4197096"/>
            <a:ext cx="4892040" cy="438912"/>
          </a:xfrm>
          <a:prstGeom prst="rect">
            <a:avLst/>
          </a:prstGeom>
          <a:noFill/>
          <a:ln/>
        </p:spPr>
        <p:txBody>
          <a:bodyPr wrap="square" lIns="0" tIns="0" rIns="0" bIns="0" rtlCol="0" anchor="t">
            <a:normAutofit/>
          </a:bodyPr>
          <a:lstStyle/>
          <a:p>
            <a:pPr indent="0" marL="0">
              <a:buNone/>
            </a:pPr>
            <a:r>
              <a:rPr lang="en-US" sz="1800" b="1" dirty="0">
                <a:solidFill>
                  <a:srgbClr val="997039"/>
                </a:solidFill>
                <a:latin typeface="Aptos Display" pitchFamily="34" charset="0"/>
                <a:ea typeface="Aptos Display" pitchFamily="34" charset="-122"/>
                <a:cs typeface="Aptos Display" pitchFamily="34" charset="-120"/>
              </a:rPr>
              <a:t>SUBSTITUTOS ECONÔMICOS</a:t>
            </a:r>
            <a:endParaRPr lang="en-US" sz="1800" dirty="0"/>
          </a:p>
        </p:txBody>
      </p:sp>
      <p:sp>
        <p:nvSpPr>
          <p:cNvPr id="24" name="Text 21"/>
          <p:cNvSpPr/>
          <p:nvPr/>
        </p:nvSpPr>
        <p:spPr>
          <a:xfrm>
            <a:off x="6437376" y="4681728"/>
            <a:ext cx="4983480" cy="658368"/>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Recepção humana, call center, WhatsApp Business e automações genéricas.</a:t>
            </a:r>
            <a:endParaRPr lang="en-US" sz="1350" dirty="0"/>
          </a:p>
          <a:p>
            <a:pPr indent="0" marL="0">
              <a:buNone/>
            </a:pPr>
            <a:r>
              <a:rPr lang="en-US" sz="1350" dirty="0">
                <a:solidFill>
                  <a:srgbClr val="17312F"/>
                </a:solidFill>
                <a:latin typeface="Aptos" pitchFamily="34" charset="0"/>
                <a:ea typeface="Aptos" pitchFamily="34" charset="-122"/>
                <a:cs typeface="Aptos" pitchFamily="34" charset="-120"/>
              </a:rPr>
              <a:t>Vantagem: hábito e custo já conhecidos.</a:t>
            </a:r>
            <a:endParaRPr lang="en-US" sz="1350" dirty="0"/>
          </a:p>
        </p:txBody>
      </p:sp>
      <p:sp>
        <p:nvSpPr>
          <p:cNvPr id="25" name="Shape 22"/>
          <p:cNvSpPr/>
          <p:nvPr/>
        </p:nvSpPr>
        <p:spPr>
          <a:xfrm>
            <a:off x="521208" y="5797296"/>
            <a:ext cx="11128248" cy="393192"/>
          </a:xfrm>
          <a:prstGeom prst="rect">
            <a:avLst>
              <a:gd name="adj" fmla="val 27907"/>
            </a:avLst>
          </a:prstGeom>
          <a:solidFill>
            <a:srgbClr val="E7F2EC"/>
          </a:solidFill>
          <a:ln w="8890">
            <a:solidFill>
              <a:srgbClr val="E7F2EC"/>
            </a:solidFill>
            <a:prstDash val="solid"/>
          </a:ln>
        </p:spPr>
      </p:sp>
      <p:sp>
        <p:nvSpPr>
          <p:cNvPr id="26" name="Text 23"/>
          <p:cNvSpPr/>
          <p:nvPr/>
        </p:nvSpPr>
        <p:spPr>
          <a:xfrm>
            <a:off x="704088" y="5888736"/>
            <a:ext cx="10762488" cy="201168"/>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Oria precisa mostrar valor incremental sobre o software existente — e não pedir sua substituição.</a:t>
            </a:r>
            <a:endParaRPr lang="en-US" sz="12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11 / BENCHMARK BRASILEIRO — FEEGOW</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O software clínico já cabe no orçamento.</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Uma segunda assinatura precisa justificar-se.</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Captura real da página de preços em 14/10/2026; valores exibidos por profissional/mês.</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S4 · Feegow — Preços e Planos   |   S5 · Feegow — site institucional</a:t>
            </a:r>
            <a:endParaRPr lang="en-US" sz="720" dirty="0"/>
          </a:p>
        </p:txBody>
      </p:sp>
      <p:sp>
        <p:nvSpPr>
          <p:cNvPr id="9" name="Shape 6"/>
          <p:cNvSpPr/>
          <p:nvPr/>
        </p:nvSpPr>
        <p:spPr>
          <a:xfrm>
            <a:off x="557784" y="2185416"/>
            <a:ext cx="6912864" cy="3959352"/>
          </a:xfrm>
          <a:prstGeom prst="roundRect">
            <a:avLst>
              <a:gd name="adj" fmla="val 2771"/>
            </a:avLst>
          </a:prstGeom>
          <a:solidFill>
            <a:srgbClr val="FFFFFF"/>
          </a:solidFill>
          <a:ln w="8890">
            <a:solidFill>
              <a:srgbClr val="DCE5DF"/>
            </a:solidFill>
            <a:prstDash val="solid"/>
          </a:ln>
        </p:spPr>
      </p:sp>
      <p:pic>
        <p:nvPicPr>
          <p:cNvPr id="10" name="Image 1" descr="C:\Users\lvecchi\.copilot\session-state\f4c612c3-5b8b-4a56-8f7e-a421bea8a771\files\oria-deck\assets\feegow.png">    </p:cNvPr>
          <p:cNvPicPr>
            <a:picLocks noChangeAspect="1"/>
          </p:cNvPicPr>
          <p:nvPr/>
        </p:nvPicPr>
        <p:blipFill>
          <a:blip r:embed="rId2"/>
          <a:stretch>
            <a:fillRect/>
          </a:stretch>
        </p:blipFill>
        <p:spPr>
          <a:xfrm>
            <a:off x="1477423" y="2286000"/>
            <a:ext cx="5064443" cy="3739896"/>
          </a:xfrm>
          <a:prstGeom prst="rect">
            <a:avLst/>
          </a:prstGeom>
        </p:spPr>
      </p:pic>
      <p:sp>
        <p:nvSpPr>
          <p:cNvPr id="11" name="Shape 7"/>
          <p:cNvSpPr/>
          <p:nvPr/>
        </p:nvSpPr>
        <p:spPr>
          <a:xfrm>
            <a:off x="7790688" y="2240280"/>
            <a:ext cx="2761488" cy="256032"/>
          </a:xfrm>
          <a:prstGeom prst="roundRect">
            <a:avLst>
              <a:gd name="adj" fmla="val 42857"/>
            </a:avLst>
          </a:prstGeom>
          <a:solidFill>
            <a:srgbClr val="E7F2EC"/>
          </a:solidFill>
          <a:ln w="8890">
            <a:solidFill>
              <a:srgbClr val="E7F2EC"/>
            </a:solidFill>
            <a:prstDash val="solid"/>
          </a:ln>
        </p:spPr>
      </p:sp>
      <p:sp>
        <p:nvSpPr>
          <p:cNvPr id="12" name="Text 8"/>
          <p:cNvSpPr/>
          <p:nvPr/>
        </p:nvSpPr>
        <p:spPr>
          <a:xfrm>
            <a:off x="7882128" y="2272284"/>
            <a:ext cx="2578608" cy="155448"/>
          </a:xfrm>
          <a:prstGeom prst="rect">
            <a:avLst/>
          </a:prstGeom>
          <a:noFill/>
          <a:ln/>
        </p:spPr>
        <p:txBody>
          <a:bodyPr wrap="square" lIns="0" tIns="0" rIns="0" bIns="0" rtlCol="0" anchor="t">
            <a:normAutofit/>
          </a:bodyPr>
          <a:lstStyle/>
          <a:p>
            <a:pPr indent="0" marL="0">
              <a:buNone/>
            </a:pPr>
            <a:r>
              <a:rPr lang="en-US" sz="850" b="1" dirty="0">
                <a:solidFill>
                  <a:srgbClr val="0F766E"/>
                </a:solidFill>
                <a:latin typeface="Aptos Display" pitchFamily="34" charset="0"/>
                <a:ea typeface="Aptos Display" pitchFamily="34" charset="-122"/>
                <a:cs typeface="Aptos Display" pitchFamily="34" charset="-120"/>
              </a:rPr>
              <a:t>PREÇO PÚBLICO OBSERVADO</a:t>
            </a:r>
            <a:endParaRPr lang="en-US" sz="850" dirty="0"/>
          </a:p>
        </p:txBody>
      </p:sp>
      <p:sp>
        <p:nvSpPr>
          <p:cNvPr id="13" name="Text 9"/>
          <p:cNvSpPr/>
          <p:nvPr/>
        </p:nvSpPr>
        <p:spPr>
          <a:xfrm>
            <a:off x="7827264" y="2788920"/>
            <a:ext cx="3675888" cy="576072"/>
          </a:xfrm>
          <a:prstGeom prst="rect">
            <a:avLst/>
          </a:prstGeom>
          <a:noFill/>
          <a:ln/>
        </p:spPr>
        <p:txBody>
          <a:bodyPr wrap="square" lIns="0" tIns="0" rIns="0" bIns="0" rtlCol="0" anchor="t">
            <a:normAutofit/>
          </a:bodyPr>
          <a:lstStyle/>
          <a:p>
            <a:pPr indent="0" marL="0">
              <a:buNone/>
            </a:pPr>
            <a:r>
              <a:rPr lang="en-US" sz="2800" b="1" dirty="0">
                <a:solidFill>
                  <a:srgbClr val="0F766E"/>
                </a:solidFill>
                <a:latin typeface="Aptos Display" pitchFamily="34" charset="0"/>
                <a:ea typeface="Aptos Display" pitchFamily="34" charset="-122"/>
                <a:cs typeface="Aptos Display" pitchFamily="34" charset="-120"/>
              </a:rPr>
              <a:t>R$129 / 199 / 249</a:t>
            </a:r>
            <a:endParaRPr lang="en-US" sz="2800" dirty="0"/>
          </a:p>
        </p:txBody>
      </p:sp>
      <p:sp>
        <p:nvSpPr>
          <p:cNvPr id="14" name="Text 10"/>
          <p:cNvSpPr/>
          <p:nvPr/>
        </p:nvSpPr>
        <p:spPr>
          <a:xfrm>
            <a:off x="7836408" y="3538728"/>
            <a:ext cx="3584448" cy="566928"/>
          </a:xfrm>
          <a:prstGeom prst="rect">
            <a:avLst/>
          </a:prstGeom>
          <a:noFill/>
          <a:ln/>
        </p:spPr>
        <p:txBody>
          <a:bodyPr wrap="square" lIns="0" tIns="0" rIns="0" bIns="0" rtlCol="0" anchor="t">
            <a:normAutofit/>
          </a:bodyPr>
          <a:lstStyle/>
          <a:p>
            <a:pPr indent="0" marL="0">
              <a:buNone/>
            </a:pPr>
            <a:r>
              <a:rPr lang="en-US" sz="1500" dirty="0">
                <a:solidFill>
                  <a:srgbClr val="17312F"/>
                </a:solidFill>
                <a:latin typeface="Aptos" pitchFamily="34" charset="0"/>
                <a:ea typeface="Aptos" pitchFamily="34" charset="-122"/>
                <a:cs typeface="Aptos" pitchFamily="34" charset="-120"/>
              </a:rPr>
              <a:t>Starter / Plus / VIP</a:t>
            </a:r>
            <a:endParaRPr lang="en-US" sz="1500" dirty="0"/>
          </a:p>
          <a:p>
            <a:pPr indent="0" marL="0">
              <a:buNone/>
            </a:pPr>
            <a:r>
              <a:rPr lang="en-US" sz="1500" dirty="0">
                <a:solidFill>
                  <a:srgbClr val="17312F"/>
                </a:solidFill>
                <a:latin typeface="Aptos" pitchFamily="34" charset="0"/>
                <a:ea typeface="Aptos" pitchFamily="34" charset="-122"/>
                <a:cs typeface="Aptos" pitchFamily="34" charset="-120"/>
              </a:rPr>
              <a:t>por profissional, por mês</a:t>
            </a:r>
            <a:endParaRPr lang="en-US" sz="1500" dirty="0"/>
          </a:p>
        </p:txBody>
      </p:sp>
      <p:sp>
        <p:nvSpPr>
          <p:cNvPr id="15" name="Shape 11"/>
          <p:cNvSpPr/>
          <p:nvPr/>
        </p:nvSpPr>
        <p:spPr>
          <a:xfrm>
            <a:off x="7790688" y="4407408"/>
            <a:ext cx="3840480" cy="950976"/>
          </a:xfrm>
          <a:prstGeom prst="roundRect">
            <a:avLst>
              <a:gd name="adj" fmla="val 11538"/>
            </a:avLst>
          </a:prstGeom>
          <a:solidFill>
            <a:srgbClr val="E7F2EC"/>
          </a:solidFill>
          <a:ln w="8890">
            <a:solidFill>
              <a:srgbClr val="E7F2EC"/>
            </a:solidFill>
            <a:prstDash val="solid"/>
          </a:ln>
        </p:spPr>
      </p:sp>
      <p:sp>
        <p:nvSpPr>
          <p:cNvPr id="16" name="Text 12"/>
          <p:cNvSpPr/>
          <p:nvPr/>
        </p:nvSpPr>
        <p:spPr>
          <a:xfrm>
            <a:off x="7973568" y="4572000"/>
            <a:ext cx="3474720" cy="228600"/>
          </a:xfrm>
          <a:prstGeom prst="rect">
            <a:avLst/>
          </a:prstGeom>
          <a:noFill/>
          <a:ln/>
        </p:spPr>
        <p:txBody>
          <a:bodyPr wrap="square" lIns="0" tIns="0" rIns="0" bIns="0" rtlCol="0" anchor="t">
            <a:normAutofit/>
          </a:bodyPr>
          <a:lstStyle/>
          <a:p>
            <a:pPr indent="0" marL="0">
              <a:buNone/>
            </a:pPr>
            <a:r>
              <a:rPr lang="en-US" sz="1300" b="1" dirty="0">
                <a:solidFill>
                  <a:srgbClr val="17312F"/>
                </a:solidFill>
                <a:latin typeface="Aptos Display" pitchFamily="34" charset="0"/>
                <a:ea typeface="Aptos Display" pitchFamily="34" charset="-122"/>
                <a:cs typeface="Aptos Display" pitchFamily="34" charset="-120"/>
              </a:rPr>
              <a:t>5 profissionais no Plus</a:t>
            </a:r>
            <a:endParaRPr lang="en-US" sz="1300" dirty="0"/>
          </a:p>
        </p:txBody>
      </p:sp>
      <p:sp>
        <p:nvSpPr>
          <p:cNvPr id="17" name="Text 13"/>
          <p:cNvSpPr/>
          <p:nvPr/>
        </p:nvSpPr>
        <p:spPr>
          <a:xfrm>
            <a:off x="7973568" y="4946904"/>
            <a:ext cx="3474720" cy="265176"/>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5 × R$199 = R$995/mês</a:t>
            </a:r>
            <a:endParaRPr lang="en-US" sz="1800" dirty="0"/>
          </a:p>
        </p:txBody>
      </p:sp>
      <p:sp>
        <p:nvSpPr>
          <p:cNvPr id="18" name="Text 14"/>
          <p:cNvSpPr/>
          <p:nvPr/>
        </p:nvSpPr>
        <p:spPr>
          <a:xfrm>
            <a:off x="7836408" y="5623560"/>
            <a:ext cx="3575304" cy="402336"/>
          </a:xfrm>
          <a:prstGeom prst="rect">
            <a:avLst/>
          </a:prstGeom>
          <a:noFill/>
          <a:ln/>
        </p:spPr>
        <p:txBody>
          <a:bodyPr wrap="square" lIns="0" tIns="0" rIns="0" bIns="0" rtlCol="0" anchor="t">
            <a:normAutofit/>
          </a:bodyPr>
          <a:lstStyle/>
          <a:p>
            <a:pPr indent="0" marL="0">
              <a:buNone/>
            </a:pPr>
            <a:r>
              <a:rPr lang="en-US" sz="1040" dirty="0">
                <a:solidFill>
                  <a:srgbClr val="657775"/>
                </a:solidFill>
                <a:latin typeface="Aptos" pitchFamily="34" charset="0"/>
                <a:ea typeface="Aptos" pitchFamily="34" charset="-122"/>
                <a:cs typeface="Aptos" pitchFamily="34" charset="-120"/>
              </a:rPr>
              <a:t>Não há equivalência de funções: é uma âncora de orçamento, não comparação “mais barato”.</a:t>
            </a:r>
            <a:endParaRPr lang="en-US" sz="104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12 / REFERÊNCIA DE ACESSO AO PACIENTE</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Hyro ensina a vender resolução.</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Não “uma IA que conversa”.</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Interface real do site; escala e resolução são claims do fornecedor, com data explícita.</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S6 · Hyro — comunicado de financiamento</a:t>
            </a:r>
            <a:endParaRPr lang="en-US" sz="720" dirty="0"/>
          </a:p>
        </p:txBody>
      </p:sp>
      <p:sp>
        <p:nvSpPr>
          <p:cNvPr id="9" name="Shape 6"/>
          <p:cNvSpPr/>
          <p:nvPr/>
        </p:nvSpPr>
        <p:spPr>
          <a:xfrm>
            <a:off x="548640" y="2185416"/>
            <a:ext cx="6775704" cy="3849624"/>
          </a:xfrm>
          <a:prstGeom prst="roundRect">
            <a:avLst>
              <a:gd name="adj" fmla="val 2850"/>
            </a:avLst>
          </a:prstGeom>
          <a:solidFill>
            <a:srgbClr val="FFFFFF"/>
          </a:solidFill>
          <a:ln w="8890">
            <a:solidFill>
              <a:srgbClr val="DCE5DF"/>
            </a:solidFill>
            <a:prstDash val="solid"/>
          </a:ln>
        </p:spPr>
      </p:sp>
      <p:pic>
        <p:nvPicPr>
          <p:cNvPr id="10" name="Image 1" descr="C:\Users\lvecchi\.copilot\session-state\f4c612c3-5b8b-4a56-8f7e-a421bea8a771\files\oria-deck\assets\hyro.png">    </p:cNvPr>
          <p:cNvPicPr>
            <a:picLocks noChangeAspect="1"/>
          </p:cNvPicPr>
          <p:nvPr/>
        </p:nvPicPr>
        <p:blipFill>
          <a:blip r:embed="rId2"/>
          <a:stretch>
            <a:fillRect/>
          </a:stretch>
        </p:blipFill>
        <p:spPr>
          <a:xfrm>
            <a:off x="1374978" y="2313432"/>
            <a:ext cx="5104740" cy="3575304"/>
          </a:xfrm>
          <a:prstGeom prst="rect">
            <a:avLst/>
          </a:prstGeom>
        </p:spPr>
      </p:pic>
      <p:sp>
        <p:nvSpPr>
          <p:cNvPr id="11" name="Shape 7"/>
          <p:cNvSpPr/>
          <p:nvPr/>
        </p:nvSpPr>
        <p:spPr>
          <a:xfrm>
            <a:off x="7607808" y="2221992"/>
            <a:ext cx="4014216" cy="1481328"/>
          </a:xfrm>
          <a:prstGeom prst="roundRect">
            <a:avLst>
              <a:gd name="adj" fmla="val 7407"/>
            </a:avLst>
          </a:prstGeom>
          <a:solidFill>
            <a:srgbClr val="FFFFFF"/>
          </a:solidFill>
          <a:ln w="8890">
            <a:solidFill>
              <a:srgbClr val="DCE5DF"/>
            </a:solidFill>
            <a:prstDash val="solid"/>
          </a:ln>
        </p:spPr>
      </p:sp>
      <p:sp>
        <p:nvSpPr>
          <p:cNvPr id="12" name="Text 8"/>
          <p:cNvSpPr/>
          <p:nvPr/>
        </p:nvSpPr>
        <p:spPr>
          <a:xfrm>
            <a:off x="7772400" y="2404872"/>
            <a:ext cx="3685032" cy="548640"/>
          </a:xfrm>
          <a:prstGeom prst="rect">
            <a:avLst/>
          </a:prstGeom>
          <a:noFill/>
          <a:ln/>
        </p:spPr>
        <p:txBody>
          <a:bodyPr wrap="square" lIns="0" tIns="0" rIns="0" bIns="0" rtlCol="0" anchor="t">
            <a:normAutofit/>
          </a:bodyPr>
          <a:lstStyle/>
          <a:p>
            <a:pPr indent="0" marL="0">
              <a:buNone/>
            </a:pPr>
            <a:r>
              <a:rPr lang="en-US" sz="3500" b="1" dirty="0">
                <a:solidFill>
                  <a:srgbClr val="0F766E"/>
                </a:solidFill>
                <a:latin typeface="Aptos Display" pitchFamily="34" charset="0"/>
                <a:ea typeface="Aptos Display" pitchFamily="34" charset="-122"/>
                <a:cs typeface="Aptos Display" pitchFamily="34" charset="-120"/>
              </a:rPr>
              <a:t>US$95 mi</a:t>
            </a:r>
            <a:endParaRPr lang="en-US" sz="3500" dirty="0"/>
          </a:p>
        </p:txBody>
      </p:sp>
      <p:sp>
        <p:nvSpPr>
          <p:cNvPr id="13" name="Text 9"/>
          <p:cNvSpPr/>
          <p:nvPr/>
        </p:nvSpPr>
        <p:spPr>
          <a:xfrm>
            <a:off x="7781544" y="3044952"/>
            <a:ext cx="3666744"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Capital total anunciado</a:t>
            </a:r>
            <a:endParaRPr lang="en-US" sz="1320" dirty="0"/>
          </a:p>
        </p:txBody>
      </p:sp>
      <p:sp>
        <p:nvSpPr>
          <p:cNvPr id="14" name="Text 10"/>
          <p:cNvSpPr/>
          <p:nvPr/>
        </p:nvSpPr>
        <p:spPr>
          <a:xfrm>
            <a:off x="7781544" y="3392424"/>
            <a:ext cx="3666744"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Rodada de US$45 mi • out/2025</a:t>
            </a:r>
            <a:endParaRPr lang="en-US" sz="900" dirty="0"/>
          </a:p>
        </p:txBody>
      </p:sp>
      <p:sp>
        <p:nvSpPr>
          <p:cNvPr id="15" name="Shape 11"/>
          <p:cNvSpPr/>
          <p:nvPr/>
        </p:nvSpPr>
        <p:spPr>
          <a:xfrm>
            <a:off x="7607808" y="3968496"/>
            <a:ext cx="4014216" cy="1481328"/>
          </a:xfrm>
          <a:prstGeom prst="roundRect">
            <a:avLst>
              <a:gd name="adj" fmla="val 7407"/>
            </a:avLst>
          </a:prstGeom>
          <a:solidFill>
            <a:srgbClr val="FFFFFF"/>
          </a:solidFill>
          <a:ln w="8890">
            <a:solidFill>
              <a:srgbClr val="DCE5DF"/>
            </a:solidFill>
            <a:prstDash val="solid"/>
          </a:ln>
        </p:spPr>
      </p:sp>
      <p:sp>
        <p:nvSpPr>
          <p:cNvPr id="16" name="Text 12"/>
          <p:cNvSpPr/>
          <p:nvPr/>
        </p:nvSpPr>
        <p:spPr>
          <a:xfrm>
            <a:off x="7772400" y="4151376"/>
            <a:ext cx="3685032" cy="548640"/>
          </a:xfrm>
          <a:prstGeom prst="rect">
            <a:avLst/>
          </a:prstGeom>
          <a:noFill/>
          <a:ln/>
        </p:spPr>
        <p:txBody>
          <a:bodyPr wrap="square" lIns="0" tIns="0" rIns="0" bIns="0" rtlCol="0" anchor="t">
            <a:normAutofit/>
          </a:bodyPr>
          <a:lstStyle/>
          <a:p>
            <a:pPr indent="0" marL="0">
              <a:buNone/>
            </a:pPr>
            <a:r>
              <a:rPr lang="en-US" sz="3500" b="1" dirty="0">
                <a:solidFill>
                  <a:srgbClr val="0F766E"/>
                </a:solidFill>
                <a:latin typeface="Aptos Display" pitchFamily="34" charset="0"/>
                <a:ea typeface="Aptos Display" pitchFamily="34" charset="-122"/>
                <a:cs typeface="Aptos Display" pitchFamily="34" charset="-120"/>
              </a:rPr>
              <a:t>Até 85%</a:t>
            </a:r>
            <a:endParaRPr lang="en-US" sz="3500" dirty="0"/>
          </a:p>
        </p:txBody>
      </p:sp>
      <p:sp>
        <p:nvSpPr>
          <p:cNvPr id="17" name="Text 13"/>
          <p:cNvSpPr/>
          <p:nvPr/>
        </p:nvSpPr>
        <p:spPr>
          <a:xfrm>
            <a:off x="7781544" y="4791456"/>
            <a:ext cx="3666744"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Resolução de rotina alegada</a:t>
            </a:r>
            <a:endParaRPr lang="en-US" sz="1320" dirty="0"/>
          </a:p>
        </p:txBody>
      </p:sp>
      <p:sp>
        <p:nvSpPr>
          <p:cNvPr id="18" name="Text 14"/>
          <p:cNvSpPr/>
          <p:nvPr/>
        </p:nvSpPr>
        <p:spPr>
          <a:xfrm>
            <a:off x="7781544" y="5138928"/>
            <a:ext cx="3666744"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Claim; não meta automática da Oria</a:t>
            </a:r>
            <a:endParaRPr lang="en-US" sz="9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13 / REFERÊNCIA ADJACENTE — ABRIDGE</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A IA clínica está virando plataforma.</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Isso torna o foco ainda mais importante.</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Abridge não é preço comparável para a Oria; é um sinal de expansão competitiva.</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S8 · Abridge — site e posicionamento atuais   |   S7 · Nabla — comunicado de Série C</a:t>
            </a:r>
            <a:endParaRPr lang="en-US" sz="720" dirty="0"/>
          </a:p>
        </p:txBody>
      </p:sp>
      <p:sp>
        <p:nvSpPr>
          <p:cNvPr id="9" name="Shape 6"/>
          <p:cNvSpPr/>
          <p:nvPr/>
        </p:nvSpPr>
        <p:spPr>
          <a:xfrm>
            <a:off x="548640" y="2185416"/>
            <a:ext cx="6775704" cy="3849624"/>
          </a:xfrm>
          <a:prstGeom prst="roundRect">
            <a:avLst>
              <a:gd name="adj" fmla="val 2850"/>
            </a:avLst>
          </a:prstGeom>
          <a:solidFill>
            <a:srgbClr val="FFFFFF"/>
          </a:solidFill>
          <a:ln w="8890">
            <a:solidFill>
              <a:srgbClr val="DCE5DF"/>
            </a:solidFill>
            <a:prstDash val="solid"/>
          </a:ln>
        </p:spPr>
      </p:sp>
      <p:pic>
        <p:nvPicPr>
          <p:cNvPr id="10" name="Image 1" descr="C:\Users\lvecchi\.copilot\session-state\f4c612c3-5b8b-4a56-8f7e-a421bea8a771\files\oria-deck\assets\abridge.png">    </p:cNvPr>
          <p:cNvPicPr>
            <a:picLocks noChangeAspect="1"/>
          </p:cNvPicPr>
          <p:nvPr/>
        </p:nvPicPr>
        <p:blipFill>
          <a:blip r:embed="rId2"/>
          <a:stretch>
            <a:fillRect/>
          </a:stretch>
        </p:blipFill>
        <p:spPr>
          <a:xfrm>
            <a:off x="1315390" y="2313432"/>
            <a:ext cx="5223916" cy="3575304"/>
          </a:xfrm>
          <a:prstGeom prst="rect">
            <a:avLst/>
          </a:prstGeom>
        </p:spPr>
      </p:pic>
      <p:sp>
        <p:nvSpPr>
          <p:cNvPr id="11" name="Shape 7"/>
          <p:cNvSpPr/>
          <p:nvPr/>
        </p:nvSpPr>
        <p:spPr>
          <a:xfrm>
            <a:off x="7607808" y="2221992"/>
            <a:ext cx="4014216" cy="1481328"/>
          </a:xfrm>
          <a:prstGeom prst="roundRect">
            <a:avLst>
              <a:gd name="adj" fmla="val 7407"/>
            </a:avLst>
          </a:prstGeom>
          <a:solidFill>
            <a:srgbClr val="FFFFFF"/>
          </a:solidFill>
          <a:ln w="8890">
            <a:solidFill>
              <a:srgbClr val="DCE5DF"/>
            </a:solidFill>
            <a:prstDash val="solid"/>
          </a:ln>
        </p:spPr>
      </p:sp>
      <p:sp>
        <p:nvSpPr>
          <p:cNvPr id="12" name="Text 8"/>
          <p:cNvSpPr/>
          <p:nvPr/>
        </p:nvSpPr>
        <p:spPr>
          <a:xfrm>
            <a:off x="7772400" y="2404872"/>
            <a:ext cx="3685032" cy="548640"/>
          </a:xfrm>
          <a:prstGeom prst="rect">
            <a:avLst/>
          </a:prstGeom>
          <a:noFill/>
          <a:ln/>
        </p:spPr>
        <p:txBody>
          <a:bodyPr wrap="square" lIns="0" tIns="0" rIns="0" bIns="0" rtlCol="0" anchor="t">
            <a:normAutofit/>
          </a:bodyPr>
          <a:lstStyle/>
          <a:p>
            <a:pPr indent="0" marL="0">
              <a:buNone/>
            </a:pPr>
            <a:r>
              <a:rPr lang="en-US" sz="3500" b="1" dirty="0">
                <a:solidFill>
                  <a:srgbClr val="456C91"/>
                </a:solidFill>
                <a:latin typeface="Aptos Display" pitchFamily="34" charset="0"/>
                <a:ea typeface="Aptos Display" pitchFamily="34" charset="-122"/>
                <a:cs typeface="Aptos Display" pitchFamily="34" charset="-120"/>
              </a:rPr>
              <a:t>300+</a:t>
            </a:r>
            <a:endParaRPr lang="en-US" sz="3500" dirty="0"/>
          </a:p>
        </p:txBody>
      </p:sp>
      <p:sp>
        <p:nvSpPr>
          <p:cNvPr id="13" name="Text 9"/>
          <p:cNvSpPr/>
          <p:nvPr/>
        </p:nvSpPr>
        <p:spPr>
          <a:xfrm>
            <a:off x="7781544" y="3044952"/>
            <a:ext cx="3666744"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Sistemas de saúde no site</a:t>
            </a:r>
            <a:endParaRPr lang="en-US" sz="1320" dirty="0"/>
          </a:p>
        </p:txBody>
      </p:sp>
      <p:sp>
        <p:nvSpPr>
          <p:cNvPr id="14" name="Text 10"/>
          <p:cNvSpPr/>
          <p:nvPr/>
        </p:nvSpPr>
        <p:spPr>
          <a:xfrm>
            <a:off x="7781544" y="3392424"/>
            <a:ext cx="3666744"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Claim atual • captura out/2026</a:t>
            </a:r>
            <a:endParaRPr lang="en-US" sz="900" dirty="0"/>
          </a:p>
        </p:txBody>
      </p:sp>
      <p:sp>
        <p:nvSpPr>
          <p:cNvPr id="15" name="Shape 11"/>
          <p:cNvSpPr/>
          <p:nvPr/>
        </p:nvSpPr>
        <p:spPr>
          <a:xfrm>
            <a:off x="7607808" y="3968496"/>
            <a:ext cx="4014216" cy="1481328"/>
          </a:xfrm>
          <a:prstGeom prst="roundRect">
            <a:avLst>
              <a:gd name="adj" fmla="val 7407"/>
            </a:avLst>
          </a:prstGeom>
          <a:solidFill>
            <a:srgbClr val="FFFFFF"/>
          </a:solidFill>
          <a:ln w="8890">
            <a:solidFill>
              <a:srgbClr val="DCE5DF"/>
            </a:solidFill>
            <a:prstDash val="solid"/>
          </a:ln>
        </p:spPr>
      </p:sp>
      <p:sp>
        <p:nvSpPr>
          <p:cNvPr id="16" name="Text 12"/>
          <p:cNvSpPr/>
          <p:nvPr/>
        </p:nvSpPr>
        <p:spPr>
          <a:xfrm>
            <a:off x="7772400" y="4151376"/>
            <a:ext cx="3685032" cy="548640"/>
          </a:xfrm>
          <a:prstGeom prst="rect">
            <a:avLst/>
          </a:prstGeom>
          <a:noFill/>
          <a:ln/>
        </p:spPr>
        <p:txBody>
          <a:bodyPr wrap="square" lIns="0" tIns="0" rIns="0" bIns="0" rtlCol="0" anchor="t">
            <a:normAutofit/>
          </a:bodyPr>
          <a:lstStyle/>
          <a:p>
            <a:pPr indent="0" marL="0">
              <a:buNone/>
            </a:pPr>
            <a:r>
              <a:rPr lang="en-US" sz="3500" b="1" dirty="0">
                <a:solidFill>
                  <a:srgbClr val="456C91"/>
                </a:solidFill>
                <a:latin typeface="Aptos Display" pitchFamily="34" charset="0"/>
                <a:ea typeface="Aptos Display" pitchFamily="34" charset="-122"/>
                <a:cs typeface="Aptos Display" pitchFamily="34" charset="-120"/>
              </a:rPr>
              <a:t>100 mi+</a:t>
            </a:r>
            <a:endParaRPr lang="en-US" sz="3500" dirty="0"/>
          </a:p>
        </p:txBody>
      </p:sp>
      <p:sp>
        <p:nvSpPr>
          <p:cNvPr id="17" name="Text 13"/>
          <p:cNvSpPr/>
          <p:nvPr/>
        </p:nvSpPr>
        <p:spPr>
          <a:xfrm>
            <a:off x="7781544" y="4791456"/>
            <a:ext cx="3666744"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Conversas por ano no site</a:t>
            </a:r>
            <a:endParaRPr lang="en-US" sz="1320" dirty="0"/>
          </a:p>
        </p:txBody>
      </p:sp>
      <p:sp>
        <p:nvSpPr>
          <p:cNvPr id="18" name="Text 14"/>
          <p:cNvSpPr/>
          <p:nvPr/>
        </p:nvSpPr>
        <p:spPr>
          <a:xfrm>
            <a:off x="7781544" y="5138928"/>
            <a:ext cx="3666744"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Claim atual; não dado da rodada</a:t>
            </a:r>
            <a:endParaRPr lang="en-US" sz="9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14 / PROMESSA COMERCIAL</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O posicionamento precisa caber</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em uma frase — e em uma demonstração.</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Proposta recomendada; só publicar claims de resultado depois de medi-los.</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D1 · Documento de partida — v1.md   |   O2 · Oria — API autenticada do Agent Studio</a:t>
            </a:r>
            <a:endParaRPr lang="en-US" sz="720" dirty="0"/>
          </a:p>
        </p:txBody>
      </p:sp>
      <p:sp>
        <p:nvSpPr>
          <p:cNvPr id="9" name="Shape 6"/>
          <p:cNvSpPr/>
          <p:nvPr/>
        </p:nvSpPr>
        <p:spPr>
          <a:xfrm>
            <a:off x="557784" y="2267712"/>
            <a:ext cx="11064240" cy="1444752"/>
          </a:xfrm>
          <a:prstGeom prst="roundRect">
            <a:avLst>
              <a:gd name="adj" fmla="val 7595"/>
            </a:avLst>
          </a:prstGeom>
          <a:solidFill>
            <a:srgbClr val="0B3430"/>
          </a:solidFill>
          <a:ln w="8890">
            <a:solidFill>
              <a:srgbClr val="0B3430"/>
            </a:solidFill>
            <a:prstDash val="solid"/>
          </a:ln>
        </p:spPr>
      </p:sp>
      <p:sp>
        <p:nvSpPr>
          <p:cNvPr id="10" name="Text 7"/>
          <p:cNvSpPr/>
          <p:nvPr/>
        </p:nvSpPr>
        <p:spPr>
          <a:xfrm>
            <a:off x="841248" y="2578608"/>
            <a:ext cx="10442448" cy="877824"/>
          </a:xfrm>
          <a:prstGeom prst="rect">
            <a:avLst/>
          </a:prstGeom>
          <a:noFill/>
          <a:ln/>
        </p:spPr>
        <p:txBody>
          <a:bodyPr wrap="square" lIns="0" tIns="0" rIns="0" bIns="0" rtlCol="0" anchor="t">
            <a:normAutofit/>
          </a:bodyPr>
          <a:lstStyle/>
          <a:p>
            <a:pPr indent="0" marL="0">
              <a:buNone/>
            </a:pPr>
            <a:r>
              <a:rPr lang="en-US" sz="2900" b="1" dirty="0">
                <a:solidFill>
                  <a:srgbClr val="FCFAF6"/>
                </a:solidFill>
                <a:latin typeface="Aptos Display" pitchFamily="34" charset="0"/>
                <a:ea typeface="Aptos Display" pitchFamily="34" charset="-122"/>
                <a:cs typeface="Aptos Display" pitchFamily="34" charset="-120"/>
              </a:rPr>
              <a:t>“A Oria transforma mensagens no WhatsApp</a:t>
            </a:r>
            <a:endParaRPr lang="en-US" sz="2900" dirty="0"/>
          </a:p>
          <a:p>
            <a:pPr indent="0" marL="0">
              <a:buNone/>
            </a:pPr>
            <a:r>
              <a:rPr lang="en-US" sz="2900" b="1" dirty="0">
                <a:solidFill>
                  <a:srgbClr val="FCFAF6"/>
                </a:solidFill>
                <a:latin typeface="Aptos Display" pitchFamily="34" charset="0"/>
                <a:ea typeface="Aptos Display" pitchFamily="34" charset="-122"/>
                <a:cs typeface="Aptos Display" pitchFamily="34" charset="-120"/>
              </a:rPr>
              <a:t>em consultas confirmadas e retornos organizados.”</a:t>
            </a:r>
            <a:endParaRPr lang="en-US" sz="2900" dirty="0"/>
          </a:p>
        </p:txBody>
      </p:sp>
      <p:sp>
        <p:nvSpPr>
          <p:cNvPr id="11" name="Shape 8"/>
          <p:cNvSpPr/>
          <p:nvPr/>
        </p:nvSpPr>
        <p:spPr>
          <a:xfrm>
            <a:off x="557784" y="4069080"/>
            <a:ext cx="5404104" cy="1344168"/>
          </a:xfrm>
          <a:prstGeom prst="roundRect">
            <a:avLst>
              <a:gd name="adj" fmla="val 8163"/>
            </a:avLst>
          </a:prstGeom>
          <a:solidFill>
            <a:srgbClr val="FFFFFF"/>
          </a:solidFill>
          <a:ln w="8890">
            <a:solidFill>
              <a:srgbClr val="DCE5DF"/>
            </a:solidFill>
            <a:prstDash val="solid"/>
          </a:ln>
        </p:spPr>
      </p:sp>
      <p:sp>
        <p:nvSpPr>
          <p:cNvPr id="12" name="Shape 9"/>
          <p:cNvSpPr/>
          <p:nvPr/>
        </p:nvSpPr>
        <p:spPr>
          <a:xfrm>
            <a:off x="722376" y="4270248"/>
            <a:ext cx="50292" cy="320040"/>
          </a:xfrm>
          <a:prstGeom prst="rect">
            <a:avLst>
              <a:gd name="adj" fmla="val 218182"/>
            </a:avLst>
          </a:prstGeom>
          <a:solidFill>
            <a:srgbClr val="0F766E"/>
          </a:solidFill>
          <a:ln w="8890">
            <a:solidFill>
              <a:srgbClr val="0F766E"/>
            </a:solidFill>
            <a:prstDash val="solid"/>
          </a:ln>
        </p:spPr>
      </p:sp>
      <p:sp>
        <p:nvSpPr>
          <p:cNvPr id="13" name="Text 10"/>
          <p:cNvSpPr/>
          <p:nvPr/>
        </p:nvSpPr>
        <p:spPr>
          <a:xfrm>
            <a:off x="886968" y="4279392"/>
            <a:ext cx="4892040" cy="438912"/>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DEMONSTRAR</a:t>
            </a:r>
            <a:endParaRPr lang="en-US" sz="1800" dirty="0"/>
          </a:p>
        </p:txBody>
      </p:sp>
      <p:sp>
        <p:nvSpPr>
          <p:cNvPr id="14" name="Text 11"/>
          <p:cNvSpPr/>
          <p:nvPr/>
        </p:nvSpPr>
        <p:spPr>
          <a:xfrm>
            <a:off x="768096" y="4764024"/>
            <a:ext cx="4983480" cy="521208"/>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Pedido realista → opções válidas → escolha explícita → confirmação → próxima ação rastreável.</a:t>
            </a:r>
            <a:endParaRPr lang="en-US" sz="1350" dirty="0"/>
          </a:p>
        </p:txBody>
      </p:sp>
      <p:sp>
        <p:nvSpPr>
          <p:cNvPr id="15" name="Shape 12"/>
          <p:cNvSpPr/>
          <p:nvPr/>
        </p:nvSpPr>
        <p:spPr>
          <a:xfrm>
            <a:off x="6227064" y="4069080"/>
            <a:ext cx="5404104" cy="1344168"/>
          </a:xfrm>
          <a:prstGeom prst="roundRect">
            <a:avLst>
              <a:gd name="adj" fmla="val 8163"/>
            </a:avLst>
          </a:prstGeom>
          <a:solidFill>
            <a:srgbClr val="FFFFFF"/>
          </a:solidFill>
          <a:ln w="8890">
            <a:solidFill>
              <a:srgbClr val="DCE5DF"/>
            </a:solidFill>
            <a:prstDash val="solid"/>
          </a:ln>
        </p:spPr>
      </p:sp>
      <p:sp>
        <p:nvSpPr>
          <p:cNvPr id="16" name="Shape 13"/>
          <p:cNvSpPr/>
          <p:nvPr/>
        </p:nvSpPr>
        <p:spPr>
          <a:xfrm>
            <a:off x="6391656" y="4270248"/>
            <a:ext cx="50292" cy="320040"/>
          </a:xfrm>
          <a:prstGeom prst="rect">
            <a:avLst>
              <a:gd name="adj" fmla="val 218182"/>
            </a:avLst>
          </a:prstGeom>
          <a:solidFill>
            <a:srgbClr val="E67861"/>
          </a:solidFill>
          <a:ln w="8890">
            <a:solidFill>
              <a:srgbClr val="E67861"/>
            </a:solidFill>
            <a:prstDash val="solid"/>
          </a:ln>
        </p:spPr>
      </p:sp>
      <p:sp>
        <p:nvSpPr>
          <p:cNvPr id="17" name="Text 14"/>
          <p:cNvSpPr/>
          <p:nvPr/>
        </p:nvSpPr>
        <p:spPr>
          <a:xfrm>
            <a:off x="6556248" y="4279392"/>
            <a:ext cx="4892040" cy="438912"/>
          </a:xfrm>
          <a:prstGeom prst="rect">
            <a:avLst/>
          </a:prstGeom>
          <a:noFill/>
          <a:ln/>
        </p:spPr>
        <p:txBody>
          <a:bodyPr wrap="square" lIns="0" tIns="0" rIns="0" bIns="0" rtlCol="0" anchor="t">
            <a:normAutofit/>
          </a:bodyPr>
          <a:lstStyle/>
          <a:p>
            <a:pPr indent="0" marL="0">
              <a:buNone/>
            </a:pPr>
            <a:r>
              <a:rPr lang="en-US" sz="1800" b="1" dirty="0">
                <a:solidFill>
                  <a:srgbClr val="E67861"/>
                </a:solidFill>
                <a:latin typeface="Aptos Display" pitchFamily="34" charset="0"/>
                <a:ea typeface="Aptos Display" pitchFamily="34" charset="-122"/>
                <a:cs typeface="Aptos Display" pitchFamily="34" charset="-120"/>
              </a:rPr>
              <a:t>NÃO PROMETER</a:t>
            </a:r>
            <a:endParaRPr lang="en-US" sz="1800" dirty="0"/>
          </a:p>
        </p:txBody>
      </p:sp>
      <p:sp>
        <p:nvSpPr>
          <p:cNvPr id="18" name="Text 15"/>
          <p:cNvSpPr/>
          <p:nvPr/>
        </p:nvSpPr>
        <p:spPr>
          <a:xfrm>
            <a:off x="6437376" y="4764024"/>
            <a:ext cx="4983480" cy="521208"/>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Diagnóstico; substituição da recepção; fim das faltas; conformidade certificada; receita garantida.</a:t>
            </a:r>
            <a:endParaRPr lang="en-US" sz="1350" dirty="0"/>
          </a:p>
        </p:txBody>
      </p:sp>
      <p:sp>
        <p:nvSpPr>
          <p:cNvPr id="19" name="Shape 16"/>
          <p:cNvSpPr/>
          <p:nvPr/>
        </p:nvSpPr>
        <p:spPr>
          <a:xfrm>
            <a:off x="521208" y="5797296"/>
            <a:ext cx="11128248" cy="393192"/>
          </a:xfrm>
          <a:prstGeom prst="rect">
            <a:avLst>
              <a:gd name="adj" fmla="val 27907"/>
            </a:avLst>
          </a:prstGeom>
          <a:solidFill>
            <a:srgbClr val="E7F2EC"/>
          </a:solidFill>
          <a:ln w="8890">
            <a:solidFill>
              <a:srgbClr val="E7F2EC"/>
            </a:solidFill>
            <a:prstDash val="solid"/>
          </a:ln>
        </p:spPr>
      </p:sp>
      <p:sp>
        <p:nvSpPr>
          <p:cNvPr id="20" name="Text 17"/>
          <p:cNvSpPr/>
          <p:nvPr/>
        </p:nvSpPr>
        <p:spPr>
          <a:xfrm>
            <a:off x="704088" y="5888736"/>
            <a:ext cx="10762488" cy="201168"/>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Co-piloto da recepção com autonomia delimitada, não “médico digital” nem novo prontuário.</a:t>
            </a:r>
            <a:endParaRPr lang="en-US" sz="12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15 / POR QUE PODERIA VIRAR UMA STARTUP RELEVANTE</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WhatsApp + português são requisitos.</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A defesa está no workflow e na distribuição.</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A tecnologia do modelo é copiável; implantação repetível e resultados específicos são mais difíceis de copiar.</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D1 · Documento de partida — v1.md   |   C1 · Código — arquitetura e ferramentas   |   S4 · Feegow — Preços e Planos   |   S6 · Hyro — comunicado de financiamento</a:t>
            </a:r>
            <a:endParaRPr lang="en-US" sz="720" dirty="0"/>
          </a:p>
        </p:txBody>
      </p:sp>
      <p:sp>
        <p:nvSpPr>
          <p:cNvPr id="9" name="Shape 6"/>
          <p:cNvSpPr/>
          <p:nvPr/>
        </p:nvSpPr>
        <p:spPr>
          <a:xfrm>
            <a:off x="603504" y="2532888"/>
            <a:ext cx="2514600" cy="1517904"/>
          </a:xfrm>
          <a:prstGeom prst="roundRect">
            <a:avLst>
              <a:gd name="adj" fmla="val 7229"/>
            </a:avLst>
          </a:prstGeom>
          <a:solidFill>
            <a:srgbClr val="FFFFFF"/>
          </a:solidFill>
          <a:ln w="8890">
            <a:solidFill>
              <a:srgbClr val="DCE5DF"/>
            </a:solidFill>
            <a:prstDash val="solid"/>
          </a:ln>
        </p:spPr>
      </p:sp>
      <p:sp>
        <p:nvSpPr>
          <p:cNvPr id="10" name="Shape 7"/>
          <p:cNvSpPr/>
          <p:nvPr/>
        </p:nvSpPr>
        <p:spPr>
          <a:xfrm>
            <a:off x="768096" y="2715768"/>
            <a:ext cx="320040" cy="320040"/>
          </a:xfrm>
          <a:prstGeom prst="ellipse">
            <a:avLst/>
          </a:prstGeom>
          <a:solidFill>
            <a:srgbClr val="E7F2EC"/>
          </a:solidFill>
          <a:ln w="12700">
            <a:solidFill>
              <a:srgbClr val="E7F2EC"/>
            </a:solidFill>
            <a:prstDash val="solid"/>
          </a:ln>
        </p:spPr>
      </p:sp>
      <p:sp>
        <p:nvSpPr>
          <p:cNvPr id="11" name="Text 8"/>
          <p:cNvSpPr/>
          <p:nvPr/>
        </p:nvSpPr>
        <p:spPr>
          <a:xfrm>
            <a:off x="768096" y="2798064"/>
            <a:ext cx="320040" cy="128016"/>
          </a:xfrm>
          <a:prstGeom prst="rect">
            <a:avLst/>
          </a:prstGeom>
          <a:noFill/>
          <a:ln/>
        </p:spPr>
        <p:txBody>
          <a:bodyPr wrap="square" lIns="0" tIns="0" rIns="0" bIns="0" rtlCol="0" anchor="t">
            <a:normAutofit/>
          </a:bodyPr>
          <a:lstStyle/>
          <a:p>
            <a:pPr algn="ctr" indent="0" marL="0">
              <a:buNone/>
            </a:pPr>
            <a:r>
              <a:rPr lang="en-US" sz="900" b="1" dirty="0">
                <a:solidFill>
                  <a:srgbClr val="0F766E"/>
                </a:solidFill>
                <a:latin typeface="Aptos Display" pitchFamily="34" charset="0"/>
                <a:ea typeface="Aptos Display" pitchFamily="34" charset="-122"/>
                <a:cs typeface="Aptos Display" pitchFamily="34" charset="-120"/>
              </a:rPr>
              <a:t>01</a:t>
            </a:r>
            <a:endParaRPr lang="en-US" sz="900" dirty="0"/>
          </a:p>
        </p:txBody>
      </p:sp>
      <p:sp>
        <p:nvSpPr>
          <p:cNvPr id="12" name="Text 9"/>
          <p:cNvSpPr/>
          <p:nvPr/>
        </p:nvSpPr>
        <p:spPr>
          <a:xfrm>
            <a:off x="1243584" y="2706624"/>
            <a:ext cx="1682496" cy="512064"/>
          </a:xfrm>
          <a:prstGeom prst="rect">
            <a:avLst/>
          </a:prstGeom>
          <a:noFill/>
          <a:ln/>
        </p:spPr>
        <p:txBody>
          <a:bodyPr wrap="square" lIns="0" tIns="0" rIns="0" bIns="0" rtlCol="0" anchor="t">
            <a:normAutofit/>
          </a:bodyPr>
          <a:lstStyle/>
          <a:p>
            <a:pPr indent="0" marL="0">
              <a:buNone/>
            </a:pPr>
            <a:r>
              <a:rPr lang="en-US" sz="1550" b="1" dirty="0">
                <a:solidFill>
                  <a:srgbClr val="17312F"/>
                </a:solidFill>
                <a:latin typeface="Aptos Display" pitchFamily="34" charset="0"/>
                <a:ea typeface="Aptos Display" pitchFamily="34" charset="-122"/>
                <a:cs typeface="Aptos Display" pitchFamily="34" charset="-120"/>
              </a:rPr>
              <a:t>Configurar uma clínica</a:t>
            </a:r>
            <a:endParaRPr lang="en-US" sz="1550" dirty="0"/>
          </a:p>
        </p:txBody>
      </p:sp>
      <p:sp>
        <p:nvSpPr>
          <p:cNvPr id="13" name="Text 10"/>
          <p:cNvSpPr/>
          <p:nvPr/>
        </p:nvSpPr>
        <p:spPr>
          <a:xfrm>
            <a:off x="786384" y="3264408"/>
            <a:ext cx="2148840" cy="685800"/>
          </a:xfrm>
          <a:prstGeom prst="rect">
            <a:avLst/>
          </a:prstGeom>
          <a:noFill/>
          <a:ln/>
        </p:spPr>
        <p:txBody>
          <a:bodyPr wrap="square" lIns="0" tIns="0" rIns="0" bIns="0" rtlCol="0" anchor="t">
            <a:normAutofit/>
          </a:bodyPr>
          <a:lstStyle/>
          <a:p>
            <a:pPr indent="0" marL="0">
              <a:buNone/>
            </a:pPr>
            <a:r>
              <a:rPr lang="en-US" sz="1170" dirty="0">
                <a:solidFill>
                  <a:srgbClr val="657775"/>
                </a:solidFill>
                <a:latin typeface="Aptos" pitchFamily="34" charset="0"/>
                <a:ea typeface="Aptos" pitchFamily="34" charset="-122"/>
                <a:cs typeface="Aptos" pitchFamily="34" charset="-120"/>
              </a:rPr>
              <a:t>Perfil, regras e integração</a:t>
            </a:r>
            <a:endParaRPr lang="en-US" sz="1170" dirty="0"/>
          </a:p>
        </p:txBody>
      </p:sp>
      <p:sp>
        <p:nvSpPr>
          <p:cNvPr id="14" name="Shape 11"/>
          <p:cNvSpPr/>
          <p:nvPr/>
        </p:nvSpPr>
        <p:spPr>
          <a:xfrm>
            <a:off x="3163824" y="3255264"/>
            <a:ext cx="201168" cy="0"/>
          </a:xfrm>
          <a:prstGeom prst="line">
            <a:avLst/>
          </a:prstGeom>
          <a:noFill/>
          <a:ln w="19050">
            <a:solidFill>
              <a:srgbClr val="0F766E"/>
            </a:solidFill>
            <a:prstDash val="solid"/>
            <a:tailEnd type="triangle"/>
          </a:ln>
        </p:spPr>
      </p:sp>
      <p:sp>
        <p:nvSpPr>
          <p:cNvPr id="15" name="Shape 12"/>
          <p:cNvSpPr/>
          <p:nvPr/>
        </p:nvSpPr>
        <p:spPr>
          <a:xfrm>
            <a:off x="3438144" y="2532888"/>
            <a:ext cx="2514600" cy="1517904"/>
          </a:xfrm>
          <a:prstGeom prst="roundRect">
            <a:avLst>
              <a:gd name="adj" fmla="val 7229"/>
            </a:avLst>
          </a:prstGeom>
          <a:solidFill>
            <a:srgbClr val="FFFFFF"/>
          </a:solidFill>
          <a:ln w="8890">
            <a:solidFill>
              <a:srgbClr val="DCE5DF"/>
            </a:solidFill>
            <a:prstDash val="solid"/>
          </a:ln>
        </p:spPr>
      </p:sp>
      <p:sp>
        <p:nvSpPr>
          <p:cNvPr id="16" name="Shape 13"/>
          <p:cNvSpPr/>
          <p:nvPr/>
        </p:nvSpPr>
        <p:spPr>
          <a:xfrm>
            <a:off x="3602736" y="2715768"/>
            <a:ext cx="320040" cy="320040"/>
          </a:xfrm>
          <a:prstGeom prst="ellipse">
            <a:avLst/>
          </a:prstGeom>
          <a:solidFill>
            <a:srgbClr val="E7F2EC"/>
          </a:solidFill>
          <a:ln w="12700">
            <a:solidFill>
              <a:srgbClr val="E7F2EC"/>
            </a:solidFill>
            <a:prstDash val="solid"/>
          </a:ln>
        </p:spPr>
      </p:sp>
      <p:sp>
        <p:nvSpPr>
          <p:cNvPr id="17" name="Text 14"/>
          <p:cNvSpPr/>
          <p:nvPr/>
        </p:nvSpPr>
        <p:spPr>
          <a:xfrm>
            <a:off x="3602736" y="2798064"/>
            <a:ext cx="320040" cy="128016"/>
          </a:xfrm>
          <a:prstGeom prst="rect">
            <a:avLst/>
          </a:prstGeom>
          <a:noFill/>
          <a:ln/>
        </p:spPr>
        <p:txBody>
          <a:bodyPr wrap="square" lIns="0" tIns="0" rIns="0" bIns="0" rtlCol="0" anchor="t">
            <a:normAutofit/>
          </a:bodyPr>
          <a:lstStyle/>
          <a:p>
            <a:pPr algn="ctr" indent="0" marL="0">
              <a:buNone/>
            </a:pPr>
            <a:r>
              <a:rPr lang="en-US" sz="900" b="1" dirty="0">
                <a:solidFill>
                  <a:srgbClr val="0F766E"/>
                </a:solidFill>
                <a:latin typeface="Aptos Display" pitchFamily="34" charset="0"/>
                <a:ea typeface="Aptos Display" pitchFamily="34" charset="-122"/>
                <a:cs typeface="Aptos Display" pitchFamily="34" charset="-120"/>
              </a:rPr>
              <a:t>02</a:t>
            </a:r>
            <a:endParaRPr lang="en-US" sz="900" dirty="0"/>
          </a:p>
        </p:txBody>
      </p:sp>
      <p:sp>
        <p:nvSpPr>
          <p:cNvPr id="18" name="Text 15"/>
          <p:cNvSpPr/>
          <p:nvPr/>
        </p:nvSpPr>
        <p:spPr>
          <a:xfrm>
            <a:off x="4078224" y="2706624"/>
            <a:ext cx="1682496" cy="512064"/>
          </a:xfrm>
          <a:prstGeom prst="rect">
            <a:avLst/>
          </a:prstGeom>
          <a:noFill/>
          <a:ln/>
        </p:spPr>
        <p:txBody>
          <a:bodyPr wrap="square" lIns="0" tIns="0" rIns="0" bIns="0" rtlCol="0" anchor="t">
            <a:normAutofit/>
          </a:bodyPr>
          <a:lstStyle/>
          <a:p>
            <a:pPr indent="0" marL="0">
              <a:buNone/>
            </a:pPr>
            <a:r>
              <a:rPr lang="en-US" sz="1550" b="1" dirty="0">
                <a:solidFill>
                  <a:srgbClr val="17312F"/>
                </a:solidFill>
                <a:latin typeface="Aptos Display" pitchFamily="34" charset="0"/>
                <a:ea typeface="Aptos Display" pitchFamily="34" charset="-122"/>
                <a:cs typeface="Aptos Display" pitchFamily="34" charset="-120"/>
              </a:rPr>
              <a:t>Concluir a jornada</a:t>
            </a:r>
            <a:endParaRPr lang="en-US" sz="1550" dirty="0"/>
          </a:p>
        </p:txBody>
      </p:sp>
      <p:sp>
        <p:nvSpPr>
          <p:cNvPr id="19" name="Text 16"/>
          <p:cNvSpPr/>
          <p:nvPr/>
        </p:nvSpPr>
        <p:spPr>
          <a:xfrm>
            <a:off x="3621024" y="3264408"/>
            <a:ext cx="2148840" cy="685800"/>
          </a:xfrm>
          <a:prstGeom prst="rect">
            <a:avLst/>
          </a:prstGeom>
          <a:noFill/>
          <a:ln/>
        </p:spPr>
        <p:txBody>
          <a:bodyPr wrap="square" lIns="0" tIns="0" rIns="0" bIns="0" rtlCol="0" anchor="t">
            <a:normAutofit/>
          </a:bodyPr>
          <a:lstStyle/>
          <a:p>
            <a:pPr indent="0" marL="0">
              <a:buNone/>
            </a:pPr>
            <a:r>
              <a:rPr lang="en-US" sz="1170" dirty="0">
                <a:solidFill>
                  <a:srgbClr val="657775"/>
                </a:solidFill>
                <a:latin typeface="Aptos" pitchFamily="34" charset="0"/>
                <a:ea typeface="Aptos" pitchFamily="34" charset="-122"/>
                <a:cs typeface="Aptos" pitchFamily="34" charset="-120"/>
              </a:rPr>
              <a:t>Agenda + pagamento + handoff</a:t>
            </a:r>
            <a:endParaRPr lang="en-US" sz="1170" dirty="0"/>
          </a:p>
        </p:txBody>
      </p:sp>
      <p:sp>
        <p:nvSpPr>
          <p:cNvPr id="20" name="Shape 17"/>
          <p:cNvSpPr/>
          <p:nvPr/>
        </p:nvSpPr>
        <p:spPr>
          <a:xfrm>
            <a:off x="5998464" y="3255264"/>
            <a:ext cx="201168" cy="0"/>
          </a:xfrm>
          <a:prstGeom prst="line">
            <a:avLst/>
          </a:prstGeom>
          <a:noFill/>
          <a:ln w="19050">
            <a:solidFill>
              <a:srgbClr val="0F766E"/>
            </a:solidFill>
            <a:prstDash val="solid"/>
            <a:tailEnd type="triangle"/>
          </a:ln>
        </p:spPr>
      </p:sp>
      <p:sp>
        <p:nvSpPr>
          <p:cNvPr id="21" name="Shape 18"/>
          <p:cNvSpPr/>
          <p:nvPr/>
        </p:nvSpPr>
        <p:spPr>
          <a:xfrm>
            <a:off x="6272784" y="2532888"/>
            <a:ext cx="2514600" cy="1517904"/>
          </a:xfrm>
          <a:prstGeom prst="roundRect">
            <a:avLst>
              <a:gd name="adj" fmla="val 7229"/>
            </a:avLst>
          </a:prstGeom>
          <a:solidFill>
            <a:srgbClr val="FFFFFF"/>
          </a:solidFill>
          <a:ln w="8890">
            <a:solidFill>
              <a:srgbClr val="DCE5DF"/>
            </a:solidFill>
            <a:prstDash val="solid"/>
          </a:ln>
        </p:spPr>
      </p:sp>
      <p:sp>
        <p:nvSpPr>
          <p:cNvPr id="22" name="Shape 19"/>
          <p:cNvSpPr/>
          <p:nvPr/>
        </p:nvSpPr>
        <p:spPr>
          <a:xfrm>
            <a:off x="6437376" y="2715768"/>
            <a:ext cx="320040" cy="320040"/>
          </a:xfrm>
          <a:prstGeom prst="ellipse">
            <a:avLst/>
          </a:prstGeom>
          <a:solidFill>
            <a:srgbClr val="E7F2EC"/>
          </a:solidFill>
          <a:ln w="12700">
            <a:solidFill>
              <a:srgbClr val="E7F2EC"/>
            </a:solidFill>
            <a:prstDash val="solid"/>
          </a:ln>
        </p:spPr>
      </p:sp>
      <p:sp>
        <p:nvSpPr>
          <p:cNvPr id="23" name="Text 20"/>
          <p:cNvSpPr/>
          <p:nvPr/>
        </p:nvSpPr>
        <p:spPr>
          <a:xfrm>
            <a:off x="6437376" y="2798064"/>
            <a:ext cx="320040" cy="128016"/>
          </a:xfrm>
          <a:prstGeom prst="rect">
            <a:avLst/>
          </a:prstGeom>
          <a:noFill/>
          <a:ln/>
        </p:spPr>
        <p:txBody>
          <a:bodyPr wrap="square" lIns="0" tIns="0" rIns="0" bIns="0" rtlCol="0" anchor="t">
            <a:normAutofit/>
          </a:bodyPr>
          <a:lstStyle/>
          <a:p>
            <a:pPr algn="ctr" indent="0" marL="0">
              <a:buNone/>
            </a:pPr>
            <a:r>
              <a:rPr lang="en-US" sz="900" b="1" dirty="0">
                <a:solidFill>
                  <a:srgbClr val="0F766E"/>
                </a:solidFill>
                <a:latin typeface="Aptos Display" pitchFamily="34" charset="0"/>
                <a:ea typeface="Aptos Display" pitchFamily="34" charset="-122"/>
                <a:cs typeface="Aptos Display" pitchFamily="34" charset="-120"/>
              </a:rPr>
              <a:t>03</a:t>
            </a:r>
            <a:endParaRPr lang="en-US" sz="900" dirty="0"/>
          </a:p>
        </p:txBody>
      </p:sp>
      <p:sp>
        <p:nvSpPr>
          <p:cNvPr id="24" name="Text 21"/>
          <p:cNvSpPr/>
          <p:nvPr/>
        </p:nvSpPr>
        <p:spPr>
          <a:xfrm>
            <a:off x="6912864" y="2706624"/>
            <a:ext cx="1682496" cy="512064"/>
          </a:xfrm>
          <a:prstGeom prst="rect">
            <a:avLst/>
          </a:prstGeom>
          <a:noFill/>
          <a:ln/>
        </p:spPr>
        <p:txBody>
          <a:bodyPr wrap="square" lIns="0" tIns="0" rIns="0" bIns="0" rtlCol="0" anchor="t">
            <a:normAutofit/>
          </a:bodyPr>
          <a:lstStyle/>
          <a:p>
            <a:pPr indent="0" marL="0">
              <a:buNone/>
            </a:pPr>
            <a:r>
              <a:rPr lang="en-US" sz="1550" b="1" dirty="0">
                <a:solidFill>
                  <a:srgbClr val="17312F"/>
                </a:solidFill>
                <a:latin typeface="Aptos Display" pitchFamily="34" charset="0"/>
                <a:ea typeface="Aptos Display" pitchFamily="34" charset="-122"/>
                <a:cs typeface="Aptos Display" pitchFamily="34" charset="-120"/>
              </a:rPr>
              <a:t>Medir resultados</a:t>
            </a:r>
            <a:endParaRPr lang="en-US" sz="1550" dirty="0"/>
          </a:p>
        </p:txBody>
      </p:sp>
      <p:sp>
        <p:nvSpPr>
          <p:cNvPr id="25" name="Text 22"/>
          <p:cNvSpPr/>
          <p:nvPr/>
        </p:nvSpPr>
        <p:spPr>
          <a:xfrm>
            <a:off x="6455664" y="3264408"/>
            <a:ext cx="2148840" cy="685800"/>
          </a:xfrm>
          <a:prstGeom prst="rect">
            <a:avLst/>
          </a:prstGeom>
          <a:noFill/>
          <a:ln/>
        </p:spPr>
        <p:txBody>
          <a:bodyPr wrap="square" lIns="0" tIns="0" rIns="0" bIns="0" rtlCol="0" anchor="t">
            <a:normAutofit/>
          </a:bodyPr>
          <a:lstStyle/>
          <a:p>
            <a:pPr indent="0" marL="0">
              <a:buNone/>
            </a:pPr>
            <a:r>
              <a:rPr lang="en-US" sz="1170" dirty="0">
                <a:solidFill>
                  <a:srgbClr val="657775"/>
                </a:solidFill>
                <a:latin typeface="Aptos" pitchFamily="34" charset="0"/>
                <a:ea typeface="Aptos" pitchFamily="34" charset="-122"/>
                <a:cs typeface="Aptos" pitchFamily="34" charset="-120"/>
              </a:rPr>
              <a:t>Eventos próprios e coortes</a:t>
            </a:r>
            <a:endParaRPr lang="en-US" sz="1170" dirty="0"/>
          </a:p>
        </p:txBody>
      </p:sp>
      <p:sp>
        <p:nvSpPr>
          <p:cNvPr id="26" name="Shape 23"/>
          <p:cNvSpPr/>
          <p:nvPr/>
        </p:nvSpPr>
        <p:spPr>
          <a:xfrm>
            <a:off x="8833104" y="3255264"/>
            <a:ext cx="201168" cy="0"/>
          </a:xfrm>
          <a:prstGeom prst="line">
            <a:avLst/>
          </a:prstGeom>
          <a:noFill/>
          <a:ln w="19050">
            <a:solidFill>
              <a:srgbClr val="0F766E"/>
            </a:solidFill>
            <a:prstDash val="solid"/>
            <a:tailEnd type="triangle"/>
          </a:ln>
        </p:spPr>
      </p:sp>
      <p:sp>
        <p:nvSpPr>
          <p:cNvPr id="27" name="Shape 24"/>
          <p:cNvSpPr/>
          <p:nvPr/>
        </p:nvSpPr>
        <p:spPr>
          <a:xfrm>
            <a:off x="9107424" y="2532888"/>
            <a:ext cx="2514600" cy="1517904"/>
          </a:xfrm>
          <a:prstGeom prst="roundRect">
            <a:avLst>
              <a:gd name="adj" fmla="val 7229"/>
            </a:avLst>
          </a:prstGeom>
          <a:solidFill>
            <a:srgbClr val="FFFFFF"/>
          </a:solidFill>
          <a:ln w="8890">
            <a:solidFill>
              <a:srgbClr val="DCE5DF"/>
            </a:solidFill>
            <a:prstDash val="solid"/>
          </a:ln>
        </p:spPr>
      </p:sp>
      <p:sp>
        <p:nvSpPr>
          <p:cNvPr id="28" name="Shape 25"/>
          <p:cNvSpPr/>
          <p:nvPr/>
        </p:nvSpPr>
        <p:spPr>
          <a:xfrm>
            <a:off x="9272016" y="2715768"/>
            <a:ext cx="320040" cy="320040"/>
          </a:xfrm>
          <a:prstGeom prst="ellipse">
            <a:avLst/>
          </a:prstGeom>
          <a:solidFill>
            <a:srgbClr val="E7F2EC"/>
          </a:solidFill>
          <a:ln w="12700">
            <a:solidFill>
              <a:srgbClr val="E7F2EC"/>
            </a:solidFill>
            <a:prstDash val="solid"/>
          </a:ln>
        </p:spPr>
      </p:sp>
      <p:sp>
        <p:nvSpPr>
          <p:cNvPr id="29" name="Text 26"/>
          <p:cNvSpPr/>
          <p:nvPr/>
        </p:nvSpPr>
        <p:spPr>
          <a:xfrm>
            <a:off x="9272016" y="2798064"/>
            <a:ext cx="320040" cy="128016"/>
          </a:xfrm>
          <a:prstGeom prst="rect">
            <a:avLst/>
          </a:prstGeom>
          <a:noFill/>
          <a:ln/>
        </p:spPr>
        <p:txBody>
          <a:bodyPr wrap="square" lIns="0" tIns="0" rIns="0" bIns="0" rtlCol="0" anchor="t">
            <a:normAutofit/>
          </a:bodyPr>
          <a:lstStyle/>
          <a:p>
            <a:pPr algn="ctr" indent="0" marL="0">
              <a:buNone/>
            </a:pPr>
            <a:r>
              <a:rPr lang="en-US" sz="900" b="1" dirty="0">
                <a:solidFill>
                  <a:srgbClr val="0F766E"/>
                </a:solidFill>
                <a:latin typeface="Aptos Display" pitchFamily="34" charset="0"/>
                <a:ea typeface="Aptos Display" pitchFamily="34" charset="-122"/>
                <a:cs typeface="Aptos Display" pitchFamily="34" charset="-120"/>
              </a:rPr>
              <a:t>04</a:t>
            </a:r>
            <a:endParaRPr lang="en-US" sz="900" dirty="0"/>
          </a:p>
        </p:txBody>
      </p:sp>
      <p:sp>
        <p:nvSpPr>
          <p:cNvPr id="30" name="Text 27"/>
          <p:cNvSpPr/>
          <p:nvPr/>
        </p:nvSpPr>
        <p:spPr>
          <a:xfrm>
            <a:off x="9747504" y="2706624"/>
            <a:ext cx="1682496" cy="512064"/>
          </a:xfrm>
          <a:prstGeom prst="rect">
            <a:avLst/>
          </a:prstGeom>
          <a:noFill/>
          <a:ln/>
        </p:spPr>
        <p:txBody>
          <a:bodyPr wrap="square" lIns="0" tIns="0" rIns="0" bIns="0" rtlCol="0" anchor="t">
            <a:normAutofit/>
          </a:bodyPr>
          <a:lstStyle/>
          <a:p>
            <a:pPr indent="0" marL="0">
              <a:buNone/>
            </a:pPr>
            <a:r>
              <a:rPr lang="en-US" sz="1550" b="1" dirty="0">
                <a:solidFill>
                  <a:srgbClr val="17312F"/>
                </a:solidFill>
                <a:latin typeface="Aptos Display" pitchFamily="34" charset="0"/>
                <a:ea typeface="Aptos Display" pitchFamily="34" charset="-122"/>
                <a:cs typeface="Aptos Display" pitchFamily="34" charset="-120"/>
              </a:rPr>
              <a:t>Replicar no nicho</a:t>
            </a:r>
            <a:endParaRPr lang="en-US" sz="1550" dirty="0"/>
          </a:p>
        </p:txBody>
      </p:sp>
      <p:sp>
        <p:nvSpPr>
          <p:cNvPr id="31" name="Text 28"/>
          <p:cNvSpPr/>
          <p:nvPr/>
        </p:nvSpPr>
        <p:spPr>
          <a:xfrm>
            <a:off x="9290304" y="3264408"/>
            <a:ext cx="2148840" cy="685800"/>
          </a:xfrm>
          <a:prstGeom prst="rect">
            <a:avLst/>
          </a:prstGeom>
          <a:noFill/>
          <a:ln/>
        </p:spPr>
        <p:txBody>
          <a:bodyPr wrap="square" lIns="0" tIns="0" rIns="0" bIns="0" rtlCol="0" anchor="t">
            <a:normAutofit/>
          </a:bodyPr>
          <a:lstStyle/>
          <a:p>
            <a:pPr indent="0" marL="0">
              <a:buNone/>
            </a:pPr>
            <a:r>
              <a:rPr lang="en-US" sz="1170" dirty="0">
                <a:solidFill>
                  <a:srgbClr val="657775"/>
                </a:solidFill>
                <a:latin typeface="Aptos" pitchFamily="34" charset="0"/>
                <a:ea typeface="Aptos" pitchFamily="34" charset="-122"/>
                <a:cs typeface="Aptos" pitchFamily="34" charset="-120"/>
              </a:rPr>
              <a:t>Onboarding e canal previsíveis</a:t>
            </a:r>
            <a:endParaRPr lang="en-US" sz="1170" dirty="0"/>
          </a:p>
        </p:txBody>
      </p:sp>
      <p:sp>
        <p:nvSpPr>
          <p:cNvPr id="32" name="Shape 29"/>
          <p:cNvSpPr/>
          <p:nvPr/>
        </p:nvSpPr>
        <p:spPr>
          <a:xfrm>
            <a:off x="576072" y="4553712"/>
            <a:ext cx="11045952" cy="996696"/>
          </a:xfrm>
          <a:prstGeom prst="roundRect">
            <a:avLst>
              <a:gd name="adj" fmla="val 11009"/>
            </a:avLst>
          </a:prstGeom>
          <a:solidFill>
            <a:srgbClr val="E7F2EC"/>
          </a:solidFill>
          <a:ln w="8890">
            <a:solidFill>
              <a:srgbClr val="E7F2EC"/>
            </a:solidFill>
            <a:prstDash val="solid"/>
          </a:ln>
        </p:spPr>
      </p:sp>
      <p:sp>
        <p:nvSpPr>
          <p:cNvPr id="33" name="Text 30"/>
          <p:cNvSpPr/>
          <p:nvPr/>
        </p:nvSpPr>
        <p:spPr>
          <a:xfrm>
            <a:off x="813816" y="4782312"/>
            <a:ext cx="10561320" cy="658368"/>
          </a:xfrm>
          <a:prstGeom prst="rect">
            <a:avLst/>
          </a:prstGeom>
          <a:noFill/>
          <a:ln/>
        </p:spPr>
        <p:txBody>
          <a:bodyPr wrap="square" lIns="0" tIns="0" rIns="0" bIns="0" rtlCol="0" anchor="t">
            <a:normAutofit/>
          </a:bodyPr>
          <a:lstStyle/>
          <a:p>
            <a:pPr indent="0" marL="0">
              <a:buNone/>
            </a:pPr>
            <a:r>
              <a:rPr lang="en-US" sz="2100" b="1" dirty="0">
                <a:solidFill>
                  <a:srgbClr val="0F766E"/>
                </a:solidFill>
                <a:latin typeface="Aptos Display" pitchFamily="34" charset="0"/>
                <a:ea typeface="Aptos Display" pitchFamily="34" charset="-122"/>
                <a:cs typeface="Aptos Display" pitchFamily="34" charset="-120"/>
              </a:rPr>
              <a:t>Ativo defensável: dados operacionais consentidos + integração estável + playbook por especialidade.</a:t>
            </a:r>
            <a:endParaRPr lang="en-US" sz="21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16 / MUDANÇAS MÍNIMAS PROPOSTAS</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Seis ajustes para um piloto cobrável.</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Não seis novos módulos de produto.</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Estimativa de engenharia para a base atual; não inclui uma reescrita multi-tenant nem integrações complexas.</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O2 · Oria — API autenticada do Agent Studio   |   C1 · Código — arquitetura e ferramentas   |   C2 · Código — configuração ativa e follow-up</a:t>
            </a:r>
            <a:endParaRPr lang="en-US" sz="720" dirty="0"/>
          </a:p>
        </p:txBody>
      </p:sp>
      <p:sp>
        <p:nvSpPr>
          <p:cNvPr id="9" name="Shape 6"/>
          <p:cNvSpPr/>
          <p:nvPr/>
        </p:nvSpPr>
        <p:spPr>
          <a:xfrm>
            <a:off x="548640" y="2212848"/>
            <a:ext cx="3547872" cy="1426464"/>
          </a:xfrm>
          <a:prstGeom prst="roundRect">
            <a:avLst>
              <a:gd name="adj" fmla="val 7692"/>
            </a:avLst>
          </a:prstGeom>
          <a:solidFill>
            <a:srgbClr val="FFFFFF"/>
          </a:solidFill>
          <a:ln w="8890">
            <a:solidFill>
              <a:srgbClr val="DCE5DF"/>
            </a:solidFill>
            <a:prstDash val="solid"/>
          </a:ln>
        </p:spPr>
      </p:sp>
      <p:sp>
        <p:nvSpPr>
          <p:cNvPr id="10" name="Shape 7"/>
          <p:cNvSpPr/>
          <p:nvPr/>
        </p:nvSpPr>
        <p:spPr>
          <a:xfrm>
            <a:off x="713232" y="2395728"/>
            <a:ext cx="320040" cy="320040"/>
          </a:xfrm>
          <a:prstGeom prst="ellipse">
            <a:avLst/>
          </a:prstGeom>
          <a:solidFill>
            <a:srgbClr val="E7F2EC"/>
          </a:solidFill>
          <a:ln w="12700">
            <a:solidFill>
              <a:srgbClr val="E7F2EC"/>
            </a:solidFill>
            <a:prstDash val="solid"/>
          </a:ln>
        </p:spPr>
      </p:sp>
      <p:sp>
        <p:nvSpPr>
          <p:cNvPr id="11" name="Text 8"/>
          <p:cNvSpPr/>
          <p:nvPr/>
        </p:nvSpPr>
        <p:spPr>
          <a:xfrm>
            <a:off x="713232" y="2478024"/>
            <a:ext cx="320040" cy="128016"/>
          </a:xfrm>
          <a:prstGeom prst="rect">
            <a:avLst/>
          </a:prstGeom>
          <a:noFill/>
          <a:ln/>
        </p:spPr>
        <p:txBody>
          <a:bodyPr wrap="square" lIns="0" tIns="0" rIns="0" bIns="0" rtlCol="0" anchor="t">
            <a:normAutofit/>
          </a:bodyPr>
          <a:lstStyle/>
          <a:p>
            <a:pPr algn="ctr" indent="0" marL="0">
              <a:buNone/>
            </a:pPr>
            <a:r>
              <a:rPr lang="en-US" sz="900" b="1" dirty="0">
                <a:solidFill>
                  <a:srgbClr val="0F766E"/>
                </a:solidFill>
                <a:latin typeface="Aptos Display" pitchFamily="34" charset="0"/>
                <a:ea typeface="Aptos Display" pitchFamily="34" charset="-122"/>
                <a:cs typeface="Aptos Display" pitchFamily="34" charset="-120"/>
              </a:rPr>
              <a:t>01</a:t>
            </a:r>
            <a:endParaRPr lang="en-US" sz="900" dirty="0"/>
          </a:p>
        </p:txBody>
      </p:sp>
      <p:sp>
        <p:nvSpPr>
          <p:cNvPr id="12" name="Text 9"/>
          <p:cNvSpPr/>
          <p:nvPr/>
        </p:nvSpPr>
        <p:spPr>
          <a:xfrm>
            <a:off x="1188720" y="2386584"/>
            <a:ext cx="2715768" cy="512064"/>
          </a:xfrm>
          <a:prstGeom prst="rect">
            <a:avLst/>
          </a:prstGeom>
          <a:noFill/>
          <a:ln/>
        </p:spPr>
        <p:txBody>
          <a:bodyPr wrap="square" lIns="0" tIns="0" rIns="0" bIns="0" rtlCol="0" anchor="t">
            <a:normAutofit/>
          </a:bodyPr>
          <a:lstStyle/>
          <a:p>
            <a:pPr indent="0" marL="0">
              <a:buNone/>
            </a:pPr>
            <a:r>
              <a:rPr lang="en-US" sz="1550" b="1" dirty="0">
                <a:solidFill>
                  <a:srgbClr val="17312F"/>
                </a:solidFill>
                <a:latin typeface="Aptos Display" pitchFamily="34" charset="0"/>
                <a:ea typeface="Aptos Display" pitchFamily="34" charset="-122"/>
                <a:cs typeface="Aptos Display" pitchFamily="34" charset="-120"/>
              </a:rPr>
              <a:t>Perfil de clínica reutilizável</a:t>
            </a:r>
            <a:endParaRPr lang="en-US" sz="1550" dirty="0"/>
          </a:p>
        </p:txBody>
      </p:sp>
      <p:sp>
        <p:nvSpPr>
          <p:cNvPr id="13" name="Text 10"/>
          <p:cNvSpPr/>
          <p:nvPr/>
        </p:nvSpPr>
        <p:spPr>
          <a:xfrm>
            <a:off x="731520" y="2944368"/>
            <a:ext cx="3182112" cy="594360"/>
          </a:xfrm>
          <a:prstGeom prst="rect">
            <a:avLst/>
          </a:prstGeom>
          <a:noFill/>
          <a:ln/>
        </p:spPr>
        <p:txBody>
          <a:bodyPr wrap="square" lIns="0" tIns="0" rIns="0" bIns="0" rtlCol="0" anchor="t">
            <a:normAutofit/>
          </a:bodyPr>
          <a:lstStyle/>
          <a:p>
            <a:pPr indent="0" marL="0">
              <a:buNone/>
            </a:pPr>
            <a:r>
              <a:rPr lang="en-US" sz="1170" dirty="0">
                <a:solidFill>
                  <a:srgbClr val="657775"/>
                </a:solidFill>
                <a:latin typeface="Aptos" pitchFamily="34" charset="0"/>
                <a:ea typeface="Aptos" pitchFamily="34" charset="-122"/>
                <a:cs typeface="Aptos" pitchFamily="34" charset="-120"/>
              </a:rPr>
              <a:t>Configurar/exportar regras e reduzir coleta • 1–2 dias</a:t>
            </a:r>
            <a:endParaRPr lang="en-US" sz="1170" dirty="0"/>
          </a:p>
        </p:txBody>
      </p:sp>
      <p:sp>
        <p:nvSpPr>
          <p:cNvPr id="14" name="Shape 11"/>
          <p:cNvSpPr/>
          <p:nvPr/>
        </p:nvSpPr>
        <p:spPr>
          <a:xfrm>
            <a:off x="4334256" y="2212848"/>
            <a:ext cx="3547872" cy="1426464"/>
          </a:xfrm>
          <a:prstGeom prst="roundRect">
            <a:avLst>
              <a:gd name="adj" fmla="val 7692"/>
            </a:avLst>
          </a:prstGeom>
          <a:solidFill>
            <a:srgbClr val="FFFFFF"/>
          </a:solidFill>
          <a:ln w="8890">
            <a:solidFill>
              <a:srgbClr val="DCE5DF"/>
            </a:solidFill>
            <a:prstDash val="solid"/>
          </a:ln>
        </p:spPr>
      </p:sp>
      <p:sp>
        <p:nvSpPr>
          <p:cNvPr id="15" name="Shape 12"/>
          <p:cNvSpPr/>
          <p:nvPr/>
        </p:nvSpPr>
        <p:spPr>
          <a:xfrm>
            <a:off x="4498848" y="2395728"/>
            <a:ext cx="320040" cy="320040"/>
          </a:xfrm>
          <a:prstGeom prst="ellipse">
            <a:avLst/>
          </a:prstGeom>
          <a:solidFill>
            <a:srgbClr val="E7F2EC"/>
          </a:solidFill>
          <a:ln w="12700">
            <a:solidFill>
              <a:srgbClr val="E7F2EC"/>
            </a:solidFill>
            <a:prstDash val="solid"/>
          </a:ln>
        </p:spPr>
      </p:sp>
      <p:sp>
        <p:nvSpPr>
          <p:cNvPr id="16" name="Text 13"/>
          <p:cNvSpPr/>
          <p:nvPr/>
        </p:nvSpPr>
        <p:spPr>
          <a:xfrm>
            <a:off x="4498848" y="2478024"/>
            <a:ext cx="320040" cy="128016"/>
          </a:xfrm>
          <a:prstGeom prst="rect">
            <a:avLst/>
          </a:prstGeom>
          <a:noFill/>
          <a:ln/>
        </p:spPr>
        <p:txBody>
          <a:bodyPr wrap="square" lIns="0" tIns="0" rIns="0" bIns="0" rtlCol="0" anchor="t">
            <a:normAutofit/>
          </a:bodyPr>
          <a:lstStyle/>
          <a:p>
            <a:pPr algn="ctr" indent="0" marL="0">
              <a:buNone/>
            </a:pPr>
            <a:r>
              <a:rPr lang="en-US" sz="900" b="1" dirty="0">
                <a:solidFill>
                  <a:srgbClr val="0F766E"/>
                </a:solidFill>
                <a:latin typeface="Aptos Display" pitchFamily="34" charset="0"/>
                <a:ea typeface="Aptos Display" pitchFamily="34" charset="-122"/>
                <a:cs typeface="Aptos Display" pitchFamily="34" charset="-120"/>
              </a:rPr>
              <a:t>02</a:t>
            </a:r>
            <a:endParaRPr lang="en-US" sz="900" dirty="0"/>
          </a:p>
        </p:txBody>
      </p:sp>
      <p:sp>
        <p:nvSpPr>
          <p:cNvPr id="17" name="Text 14"/>
          <p:cNvSpPr/>
          <p:nvPr/>
        </p:nvSpPr>
        <p:spPr>
          <a:xfrm>
            <a:off x="4974336" y="2386584"/>
            <a:ext cx="2715768" cy="512064"/>
          </a:xfrm>
          <a:prstGeom prst="rect">
            <a:avLst/>
          </a:prstGeom>
          <a:noFill/>
          <a:ln/>
        </p:spPr>
        <p:txBody>
          <a:bodyPr wrap="square" lIns="0" tIns="0" rIns="0" bIns="0" rtlCol="0" anchor="t">
            <a:normAutofit/>
          </a:bodyPr>
          <a:lstStyle/>
          <a:p>
            <a:pPr indent="0" marL="0">
              <a:buNone/>
            </a:pPr>
            <a:r>
              <a:rPr lang="en-US" sz="1550" b="1" dirty="0">
                <a:solidFill>
                  <a:srgbClr val="17312F"/>
                </a:solidFill>
                <a:latin typeface="Aptos Display" pitchFamily="34" charset="0"/>
                <a:ea typeface="Aptos Display" pitchFamily="34" charset="-122"/>
                <a:cs typeface="Aptos Display" pitchFamily="34" charset="-120"/>
              </a:rPr>
              <a:t>Fechar ciclo de agenda</a:t>
            </a:r>
            <a:endParaRPr lang="en-US" sz="1550" dirty="0"/>
          </a:p>
        </p:txBody>
      </p:sp>
      <p:sp>
        <p:nvSpPr>
          <p:cNvPr id="18" name="Text 15"/>
          <p:cNvSpPr/>
          <p:nvPr/>
        </p:nvSpPr>
        <p:spPr>
          <a:xfrm>
            <a:off x="4517136" y="2944368"/>
            <a:ext cx="3182112" cy="594360"/>
          </a:xfrm>
          <a:prstGeom prst="rect">
            <a:avLst/>
          </a:prstGeom>
          <a:noFill/>
          <a:ln/>
        </p:spPr>
        <p:txBody>
          <a:bodyPr wrap="square" lIns="0" tIns="0" rIns="0" bIns="0" rtlCol="0" anchor="t">
            <a:normAutofit/>
          </a:bodyPr>
          <a:lstStyle/>
          <a:p>
            <a:pPr indent="0" marL="0">
              <a:buNone/>
            </a:pPr>
            <a:r>
              <a:rPr lang="en-US" sz="1170" dirty="0">
                <a:solidFill>
                  <a:srgbClr val="657775"/>
                </a:solidFill>
                <a:latin typeface="Aptos" pitchFamily="34" charset="0"/>
                <a:ea typeface="Aptos" pitchFamily="34" charset="-122"/>
                <a:cs typeface="Aptos" pitchFamily="34" charset="-120"/>
              </a:rPr>
              <a:t>Cancelamento + testes de conflito/retry • 3–5 dias</a:t>
            </a:r>
            <a:endParaRPr lang="en-US" sz="1170" dirty="0"/>
          </a:p>
        </p:txBody>
      </p:sp>
      <p:sp>
        <p:nvSpPr>
          <p:cNvPr id="19" name="Shape 16"/>
          <p:cNvSpPr/>
          <p:nvPr/>
        </p:nvSpPr>
        <p:spPr>
          <a:xfrm>
            <a:off x="8119872" y="2212848"/>
            <a:ext cx="3547872" cy="1426464"/>
          </a:xfrm>
          <a:prstGeom prst="roundRect">
            <a:avLst>
              <a:gd name="adj" fmla="val 7692"/>
            </a:avLst>
          </a:prstGeom>
          <a:solidFill>
            <a:srgbClr val="FFFFFF"/>
          </a:solidFill>
          <a:ln w="8890">
            <a:solidFill>
              <a:srgbClr val="DCE5DF"/>
            </a:solidFill>
            <a:prstDash val="solid"/>
          </a:ln>
        </p:spPr>
      </p:sp>
      <p:sp>
        <p:nvSpPr>
          <p:cNvPr id="20" name="Shape 17"/>
          <p:cNvSpPr/>
          <p:nvPr/>
        </p:nvSpPr>
        <p:spPr>
          <a:xfrm>
            <a:off x="8284464" y="2395728"/>
            <a:ext cx="320040" cy="320040"/>
          </a:xfrm>
          <a:prstGeom prst="ellipse">
            <a:avLst/>
          </a:prstGeom>
          <a:solidFill>
            <a:srgbClr val="E7F2EC"/>
          </a:solidFill>
          <a:ln w="12700">
            <a:solidFill>
              <a:srgbClr val="E7F2EC"/>
            </a:solidFill>
            <a:prstDash val="solid"/>
          </a:ln>
        </p:spPr>
      </p:sp>
      <p:sp>
        <p:nvSpPr>
          <p:cNvPr id="21" name="Text 18"/>
          <p:cNvSpPr/>
          <p:nvPr/>
        </p:nvSpPr>
        <p:spPr>
          <a:xfrm>
            <a:off x="8284464" y="2478024"/>
            <a:ext cx="320040" cy="128016"/>
          </a:xfrm>
          <a:prstGeom prst="rect">
            <a:avLst/>
          </a:prstGeom>
          <a:noFill/>
          <a:ln/>
        </p:spPr>
        <p:txBody>
          <a:bodyPr wrap="square" lIns="0" tIns="0" rIns="0" bIns="0" rtlCol="0" anchor="t">
            <a:normAutofit/>
          </a:bodyPr>
          <a:lstStyle/>
          <a:p>
            <a:pPr algn="ctr" indent="0" marL="0">
              <a:buNone/>
            </a:pPr>
            <a:r>
              <a:rPr lang="en-US" sz="900" b="1" dirty="0">
                <a:solidFill>
                  <a:srgbClr val="0F766E"/>
                </a:solidFill>
                <a:latin typeface="Aptos Display" pitchFamily="34" charset="0"/>
                <a:ea typeface="Aptos Display" pitchFamily="34" charset="-122"/>
                <a:cs typeface="Aptos Display" pitchFamily="34" charset="-120"/>
              </a:rPr>
              <a:t>03</a:t>
            </a:r>
            <a:endParaRPr lang="en-US" sz="900" dirty="0"/>
          </a:p>
        </p:txBody>
      </p:sp>
      <p:sp>
        <p:nvSpPr>
          <p:cNvPr id="22" name="Text 19"/>
          <p:cNvSpPr/>
          <p:nvPr/>
        </p:nvSpPr>
        <p:spPr>
          <a:xfrm>
            <a:off x="8759952" y="2386584"/>
            <a:ext cx="2715768" cy="512064"/>
          </a:xfrm>
          <a:prstGeom prst="rect">
            <a:avLst/>
          </a:prstGeom>
          <a:noFill/>
          <a:ln/>
        </p:spPr>
        <p:txBody>
          <a:bodyPr wrap="square" lIns="0" tIns="0" rIns="0" bIns="0" rtlCol="0" anchor="t">
            <a:normAutofit/>
          </a:bodyPr>
          <a:lstStyle/>
          <a:p>
            <a:pPr indent="0" marL="0">
              <a:buNone/>
            </a:pPr>
            <a:r>
              <a:rPr lang="en-US" sz="1550" b="1" dirty="0">
                <a:solidFill>
                  <a:srgbClr val="17312F"/>
                </a:solidFill>
                <a:latin typeface="Aptos Display" pitchFamily="34" charset="0"/>
                <a:ea typeface="Aptos Display" pitchFamily="34" charset="-122"/>
                <a:cs typeface="Aptos Display" pitchFamily="34" charset="-120"/>
              </a:rPr>
              <a:t>Retomada e confirmação</a:t>
            </a:r>
            <a:endParaRPr lang="en-US" sz="1550" dirty="0"/>
          </a:p>
        </p:txBody>
      </p:sp>
      <p:sp>
        <p:nvSpPr>
          <p:cNvPr id="23" name="Text 20"/>
          <p:cNvSpPr/>
          <p:nvPr/>
        </p:nvSpPr>
        <p:spPr>
          <a:xfrm>
            <a:off x="8302752" y="2944368"/>
            <a:ext cx="3182112" cy="594360"/>
          </a:xfrm>
          <a:prstGeom prst="rect">
            <a:avLst/>
          </a:prstGeom>
          <a:noFill/>
          <a:ln/>
        </p:spPr>
        <p:txBody>
          <a:bodyPr wrap="square" lIns="0" tIns="0" rIns="0" bIns="0" rtlCol="0" anchor="t">
            <a:normAutofit/>
          </a:bodyPr>
          <a:lstStyle/>
          <a:p>
            <a:pPr indent="0" marL="0">
              <a:buNone/>
            </a:pPr>
            <a:r>
              <a:rPr lang="en-US" sz="1170" dirty="0">
                <a:solidFill>
                  <a:srgbClr val="657775"/>
                </a:solidFill>
                <a:latin typeface="Aptos" pitchFamily="34" charset="0"/>
                <a:ea typeface="Aptos" pitchFamily="34" charset="-122"/>
                <a:cs typeface="Aptos" pitchFamily="34" charset="-120"/>
              </a:rPr>
              <a:t>Templates, opt-out e janela de 24h • 3–5 dias</a:t>
            </a:r>
            <a:endParaRPr lang="en-US" sz="1170" dirty="0"/>
          </a:p>
        </p:txBody>
      </p:sp>
      <p:sp>
        <p:nvSpPr>
          <p:cNvPr id="24" name="Shape 21"/>
          <p:cNvSpPr/>
          <p:nvPr/>
        </p:nvSpPr>
        <p:spPr>
          <a:xfrm>
            <a:off x="548640" y="3895344"/>
            <a:ext cx="3547872" cy="1426464"/>
          </a:xfrm>
          <a:prstGeom prst="roundRect">
            <a:avLst>
              <a:gd name="adj" fmla="val 7692"/>
            </a:avLst>
          </a:prstGeom>
          <a:solidFill>
            <a:srgbClr val="FFFFFF"/>
          </a:solidFill>
          <a:ln w="8890">
            <a:solidFill>
              <a:srgbClr val="DCE5DF"/>
            </a:solidFill>
            <a:prstDash val="solid"/>
          </a:ln>
        </p:spPr>
      </p:sp>
      <p:sp>
        <p:nvSpPr>
          <p:cNvPr id="25" name="Shape 22"/>
          <p:cNvSpPr/>
          <p:nvPr/>
        </p:nvSpPr>
        <p:spPr>
          <a:xfrm>
            <a:off x="713232" y="4078224"/>
            <a:ext cx="320040" cy="320040"/>
          </a:xfrm>
          <a:prstGeom prst="ellipse">
            <a:avLst/>
          </a:prstGeom>
          <a:solidFill>
            <a:srgbClr val="E7F2EC"/>
          </a:solidFill>
          <a:ln w="12700">
            <a:solidFill>
              <a:srgbClr val="E7F2EC"/>
            </a:solidFill>
            <a:prstDash val="solid"/>
          </a:ln>
        </p:spPr>
      </p:sp>
      <p:sp>
        <p:nvSpPr>
          <p:cNvPr id="26" name="Text 23"/>
          <p:cNvSpPr/>
          <p:nvPr/>
        </p:nvSpPr>
        <p:spPr>
          <a:xfrm>
            <a:off x="713232" y="4160520"/>
            <a:ext cx="320040" cy="128016"/>
          </a:xfrm>
          <a:prstGeom prst="rect">
            <a:avLst/>
          </a:prstGeom>
          <a:noFill/>
          <a:ln/>
        </p:spPr>
        <p:txBody>
          <a:bodyPr wrap="square" lIns="0" tIns="0" rIns="0" bIns="0" rtlCol="0" anchor="t">
            <a:normAutofit/>
          </a:bodyPr>
          <a:lstStyle/>
          <a:p>
            <a:pPr algn="ctr" indent="0" marL="0">
              <a:buNone/>
            </a:pPr>
            <a:r>
              <a:rPr lang="en-US" sz="900" b="1" dirty="0">
                <a:solidFill>
                  <a:srgbClr val="0F766E"/>
                </a:solidFill>
                <a:latin typeface="Aptos Display" pitchFamily="34" charset="0"/>
                <a:ea typeface="Aptos Display" pitchFamily="34" charset="-122"/>
                <a:cs typeface="Aptos Display" pitchFamily="34" charset="-120"/>
              </a:rPr>
              <a:t>04</a:t>
            </a:r>
            <a:endParaRPr lang="en-US" sz="900" dirty="0"/>
          </a:p>
        </p:txBody>
      </p:sp>
      <p:sp>
        <p:nvSpPr>
          <p:cNvPr id="27" name="Text 24"/>
          <p:cNvSpPr/>
          <p:nvPr/>
        </p:nvSpPr>
        <p:spPr>
          <a:xfrm>
            <a:off x="1188720" y="4069080"/>
            <a:ext cx="2715768" cy="512064"/>
          </a:xfrm>
          <a:prstGeom prst="rect">
            <a:avLst/>
          </a:prstGeom>
          <a:noFill/>
          <a:ln/>
        </p:spPr>
        <p:txBody>
          <a:bodyPr wrap="square" lIns="0" tIns="0" rIns="0" bIns="0" rtlCol="0" anchor="t">
            <a:normAutofit/>
          </a:bodyPr>
          <a:lstStyle/>
          <a:p>
            <a:pPr indent="0" marL="0">
              <a:buNone/>
            </a:pPr>
            <a:r>
              <a:rPr lang="en-US" sz="1550" b="1" dirty="0">
                <a:solidFill>
                  <a:srgbClr val="17312F"/>
                </a:solidFill>
                <a:latin typeface="Aptos Display" pitchFamily="34" charset="0"/>
                <a:ea typeface="Aptos Display" pitchFamily="34" charset="-122"/>
                <a:cs typeface="Aptos Display" pitchFamily="34" charset="-120"/>
              </a:rPr>
              <a:t>Métricas por resultado</a:t>
            </a:r>
            <a:endParaRPr lang="en-US" sz="1550" dirty="0"/>
          </a:p>
        </p:txBody>
      </p:sp>
      <p:sp>
        <p:nvSpPr>
          <p:cNvPr id="28" name="Text 25"/>
          <p:cNvSpPr/>
          <p:nvPr/>
        </p:nvSpPr>
        <p:spPr>
          <a:xfrm>
            <a:off x="731520" y="4626864"/>
            <a:ext cx="3182112" cy="594360"/>
          </a:xfrm>
          <a:prstGeom prst="rect">
            <a:avLst/>
          </a:prstGeom>
          <a:noFill/>
          <a:ln/>
        </p:spPr>
        <p:txBody>
          <a:bodyPr wrap="square" lIns="0" tIns="0" rIns="0" bIns="0" rtlCol="0" anchor="t">
            <a:normAutofit/>
          </a:bodyPr>
          <a:lstStyle/>
          <a:p>
            <a:pPr indent="0" marL="0">
              <a:buNone/>
            </a:pPr>
            <a:r>
              <a:rPr lang="en-US" sz="1170" dirty="0">
                <a:solidFill>
                  <a:srgbClr val="657775"/>
                </a:solidFill>
                <a:latin typeface="Aptos" pitchFamily="34" charset="0"/>
                <a:ea typeface="Aptos" pitchFamily="34" charset="-122"/>
                <a:cs typeface="Aptos" pitchFamily="34" charset="-120"/>
              </a:rPr>
              <a:t>Unificar ledger, coorte e custo • 3–4 dias</a:t>
            </a:r>
            <a:endParaRPr lang="en-US" sz="1170" dirty="0"/>
          </a:p>
        </p:txBody>
      </p:sp>
      <p:sp>
        <p:nvSpPr>
          <p:cNvPr id="29" name="Shape 26"/>
          <p:cNvSpPr/>
          <p:nvPr/>
        </p:nvSpPr>
        <p:spPr>
          <a:xfrm>
            <a:off x="4334256" y="3895344"/>
            <a:ext cx="3547872" cy="1426464"/>
          </a:xfrm>
          <a:prstGeom prst="roundRect">
            <a:avLst>
              <a:gd name="adj" fmla="val 7692"/>
            </a:avLst>
          </a:prstGeom>
          <a:solidFill>
            <a:srgbClr val="FFFFFF"/>
          </a:solidFill>
          <a:ln w="8890">
            <a:solidFill>
              <a:srgbClr val="DCE5DF"/>
            </a:solidFill>
            <a:prstDash val="solid"/>
          </a:ln>
        </p:spPr>
      </p:sp>
      <p:sp>
        <p:nvSpPr>
          <p:cNvPr id="30" name="Shape 27"/>
          <p:cNvSpPr/>
          <p:nvPr/>
        </p:nvSpPr>
        <p:spPr>
          <a:xfrm>
            <a:off x="4498848" y="4078224"/>
            <a:ext cx="320040" cy="320040"/>
          </a:xfrm>
          <a:prstGeom prst="ellipse">
            <a:avLst/>
          </a:prstGeom>
          <a:solidFill>
            <a:srgbClr val="E7F2EC"/>
          </a:solidFill>
          <a:ln w="12700">
            <a:solidFill>
              <a:srgbClr val="E7F2EC"/>
            </a:solidFill>
            <a:prstDash val="solid"/>
          </a:ln>
        </p:spPr>
      </p:sp>
      <p:sp>
        <p:nvSpPr>
          <p:cNvPr id="31" name="Text 28"/>
          <p:cNvSpPr/>
          <p:nvPr/>
        </p:nvSpPr>
        <p:spPr>
          <a:xfrm>
            <a:off x="4498848" y="4160520"/>
            <a:ext cx="320040" cy="128016"/>
          </a:xfrm>
          <a:prstGeom prst="rect">
            <a:avLst/>
          </a:prstGeom>
          <a:noFill/>
          <a:ln/>
        </p:spPr>
        <p:txBody>
          <a:bodyPr wrap="square" lIns="0" tIns="0" rIns="0" bIns="0" rtlCol="0" anchor="t">
            <a:normAutofit/>
          </a:bodyPr>
          <a:lstStyle/>
          <a:p>
            <a:pPr algn="ctr" indent="0" marL="0">
              <a:buNone/>
            </a:pPr>
            <a:r>
              <a:rPr lang="en-US" sz="900" b="1" dirty="0">
                <a:solidFill>
                  <a:srgbClr val="0F766E"/>
                </a:solidFill>
                <a:latin typeface="Aptos Display" pitchFamily="34" charset="0"/>
                <a:ea typeface="Aptos Display" pitchFamily="34" charset="-122"/>
                <a:cs typeface="Aptos Display" pitchFamily="34" charset="-120"/>
              </a:rPr>
              <a:t>05</a:t>
            </a:r>
            <a:endParaRPr lang="en-US" sz="900" dirty="0"/>
          </a:p>
        </p:txBody>
      </p:sp>
      <p:sp>
        <p:nvSpPr>
          <p:cNvPr id="32" name="Text 29"/>
          <p:cNvSpPr/>
          <p:nvPr/>
        </p:nvSpPr>
        <p:spPr>
          <a:xfrm>
            <a:off x="4974336" y="4069080"/>
            <a:ext cx="2715768" cy="512064"/>
          </a:xfrm>
          <a:prstGeom prst="rect">
            <a:avLst/>
          </a:prstGeom>
          <a:noFill/>
          <a:ln/>
        </p:spPr>
        <p:txBody>
          <a:bodyPr wrap="square" lIns="0" tIns="0" rIns="0" bIns="0" rtlCol="0" anchor="t">
            <a:normAutofit/>
          </a:bodyPr>
          <a:lstStyle/>
          <a:p>
            <a:pPr indent="0" marL="0">
              <a:buNone/>
            </a:pPr>
            <a:r>
              <a:rPr lang="en-US" sz="1550" b="1" dirty="0">
                <a:solidFill>
                  <a:srgbClr val="17312F"/>
                </a:solidFill>
                <a:latin typeface="Aptos Display" pitchFamily="34" charset="0"/>
                <a:ea typeface="Aptos Display" pitchFamily="34" charset="-122"/>
                <a:cs typeface="Aptos Display" pitchFamily="34" charset="-120"/>
              </a:rPr>
              <a:t>Handoff com responsável</a:t>
            </a:r>
            <a:endParaRPr lang="en-US" sz="1550" dirty="0"/>
          </a:p>
        </p:txBody>
      </p:sp>
      <p:sp>
        <p:nvSpPr>
          <p:cNvPr id="33" name="Text 30"/>
          <p:cNvSpPr/>
          <p:nvPr/>
        </p:nvSpPr>
        <p:spPr>
          <a:xfrm>
            <a:off x="4517136" y="4626864"/>
            <a:ext cx="3182112" cy="594360"/>
          </a:xfrm>
          <a:prstGeom prst="rect">
            <a:avLst/>
          </a:prstGeom>
          <a:noFill/>
          <a:ln/>
        </p:spPr>
        <p:txBody>
          <a:bodyPr wrap="square" lIns="0" tIns="0" rIns="0" bIns="0" rtlCol="0" anchor="t">
            <a:normAutofit/>
          </a:bodyPr>
          <a:lstStyle/>
          <a:p>
            <a:pPr indent="0" marL="0">
              <a:buNone/>
            </a:pPr>
            <a:r>
              <a:rPr lang="en-US" sz="1170" dirty="0">
                <a:solidFill>
                  <a:srgbClr val="657775"/>
                </a:solidFill>
                <a:latin typeface="Aptos" pitchFamily="34" charset="0"/>
                <a:ea typeface="Aptos" pitchFamily="34" charset="-122"/>
                <a:cs typeface="Aptos" pitchFamily="34" charset="-120"/>
              </a:rPr>
              <a:t>Aceite, resumo, prazo e reentrada • 2–3 dias</a:t>
            </a:r>
            <a:endParaRPr lang="en-US" sz="1170" dirty="0"/>
          </a:p>
        </p:txBody>
      </p:sp>
      <p:sp>
        <p:nvSpPr>
          <p:cNvPr id="34" name="Shape 31"/>
          <p:cNvSpPr/>
          <p:nvPr/>
        </p:nvSpPr>
        <p:spPr>
          <a:xfrm>
            <a:off x="8119872" y="3895344"/>
            <a:ext cx="3547872" cy="1426464"/>
          </a:xfrm>
          <a:prstGeom prst="roundRect">
            <a:avLst>
              <a:gd name="adj" fmla="val 7692"/>
            </a:avLst>
          </a:prstGeom>
          <a:solidFill>
            <a:srgbClr val="FFFFFF"/>
          </a:solidFill>
          <a:ln w="8890">
            <a:solidFill>
              <a:srgbClr val="DCE5DF"/>
            </a:solidFill>
            <a:prstDash val="solid"/>
          </a:ln>
        </p:spPr>
      </p:sp>
      <p:sp>
        <p:nvSpPr>
          <p:cNvPr id="35" name="Shape 32"/>
          <p:cNvSpPr/>
          <p:nvPr/>
        </p:nvSpPr>
        <p:spPr>
          <a:xfrm>
            <a:off x="8284464" y="4078224"/>
            <a:ext cx="320040" cy="320040"/>
          </a:xfrm>
          <a:prstGeom prst="ellipse">
            <a:avLst/>
          </a:prstGeom>
          <a:solidFill>
            <a:srgbClr val="E7F2EC"/>
          </a:solidFill>
          <a:ln w="12700">
            <a:solidFill>
              <a:srgbClr val="E7F2EC"/>
            </a:solidFill>
            <a:prstDash val="solid"/>
          </a:ln>
        </p:spPr>
      </p:sp>
      <p:sp>
        <p:nvSpPr>
          <p:cNvPr id="36" name="Text 33"/>
          <p:cNvSpPr/>
          <p:nvPr/>
        </p:nvSpPr>
        <p:spPr>
          <a:xfrm>
            <a:off x="8284464" y="4160520"/>
            <a:ext cx="320040" cy="128016"/>
          </a:xfrm>
          <a:prstGeom prst="rect">
            <a:avLst/>
          </a:prstGeom>
          <a:noFill/>
          <a:ln/>
        </p:spPr>
        <p:txBody>
          <a:bodyPr wrap="square" lIns="0" tIns="0" rIns="0" bIns="0" rtlCol="0" anchor="t">
            <a:normAutofit/>
          </a:bodyPr>
          <a:lstStyle/>
          <a:p>
            <a:pPr algn="ctr" indent="0" marL="0">
              <a:buNone/>
            </a:pPr>
            <a:r>
              <a:rPr lang="en-US" sz="900" b="1" dirty="0">
                <a:solidFill>
                  <a:srgbClr val="0F766E"/>
                </a:solidFill>
                <a:latin typeface="Aptos Display" pitchFamily="34" charset="0"/>
                <a:ea typeface="Aptos Display" pitchFamily="34" charset="-122"/>
                <a:cs typeface="Aptos Display" pitchFamily="34" charset="-120"/>
              </a:rPr>
              <a:t>06</a:t>
            </a:r>
            <a:endParaRPr lang="en-US" sz="900" dirty="0"/>
          </a:p>
        </p:txBody>
      </p:sp>
      <p:sp>
        <p:nvSpPr>
          <p:cNvPr id="37" name="Text 34"/>
          <p:cNvSpPr/>
          <p:nvPr/>
        </p:nvSpPr>
        <p:spPr>
          <a:xfrm>
            <a:off x="8759952" y="4069080"/>
            <a:ext cx="2715768" cy="512064"/>
          </a:xfrm>
          <a:prstGeom prst="rect">
            <a:avLst/>
          </a:prstGeom>
          <a:noFill/>
          <a:ln/>
        </p:spPr>
        <p:txBody>
          <a:bodyPr wrap="square" lIns="0" tIns="0" rIns="0" bIns="0" rtlCol="0" anchor="t">
            <a:normAutofit/>
          </a:bodyPr>
          <a:lstStyle/>
          <a:p>
            <a:pPr indent="0" marL="0">
              <a:buNone/>
            </a:pPr>
            <a:r>
              <a:rPr lang="en-US" sz="1550" b="1" dirty="0">
                <a:solidFill>
                  <a:srgbClr val="17312F"/>
                </a:solidFill>
                <a:latin typeface="Aptos Display" pitchFamily="34" charset="0"/>
                <a:ea typeface="Aptos Display" pitchFamily="34" charset="-122"/>
                <a:cs typeface="Aptos Display" pitchFamily="34" charset="-120"/>
              </a:rPr>
              <a:t>Kit de implantação e confiança</a:t>
            </a:r>
            <a:endParaRPr lang="en-US" sz="1550" dirty="0"/>
          </a:p>
        </p:txBody>
      </p:sp>
      <p:sp>
        <p:nvSpPr>
          <p:cNvPr id="38" name="Text 35"/>
          <p:cNvSpPr/>
          <p:nvPr/>
        </p:nvSpPr>
        <p:spPr>
          <a:xfrm>
            <a:off x="8302752" y="4626864"/>
            <a:ext cx="3182112" cy="594360"/>
          </a:xfrm>
          <a:prstGeom prst="rect">
            <a:avLst/>
          </a:prstGeom>
          <a:noFill/>
          <a:ln/>
        </p:spPr>
        <p:txBody>
          <a:bodyPr wrap="square" lIns="0" tIns="0" rIns="0" bIns="0" rtlCol="0" anchor="t">
            <a:normAutofit/>
          </a:bodyPr>
          <a:lstStyle/>
          <a:p>
            <a:pPr indent="0" marL="0">
              <a:buNone/>
            </a:pPr>
            <a:r>
              <a:rPr lang="en-US" sz="1170" dirty="0">
                <a:solidFill>
                  <a:srgbClr val="657775"/>
                </a:solidFill>
                <a:latin typeface="Aptos" pitchFamily="34" charset="0"/>
                <a:ea typeface="Aptos" pitchFamily="34" charset="-122"/>
                <a:cs typeface="Aptos" pitchFamily="34" charset="-120"/>
              </a:rPr>
              <a:t>Avisos, contratos e rotinas de direitos • 3–5 dias</a:t>
            </a:r>
            <a:endParaRPr lang="en-US" sz="1170" dirty="0"/>
          </a:p>
        </p:txBody>
      </p:sp>
      <p:sp>
        <p:nvSpPr>
          <p:cNvPr id="39" name="Shape 36"/>
          <p:cNvSpPr/>
          <p:nvPr/>
        </p:nvSpPr>
        <p:spPr>
          <a:xfrm>
            <a:off x="521208" y="5797296"/>
            <a:ext cx="11128248" cy="393192"/>
          </a:xfrm>
          <a:prstGeom prst="rect">
            <a:avLst>
              <a:gd name="adj" fmla="val 27907"/>
            </a:avLst>
          </a:prstGeom>
          <a:solidFill>
            <a:srgbClr val="E7F2EC"/>
          </a:solidFill>
          <a:ln w="8890">
            <a:solidFill>
              <a:srgbClr val="E7F2EC"/>
            </a:solidFill>
            <a:prstDash val="solid"/>
          </a:ln>
        </p:spPr>
      </p:sp>
      <p:sp>
        <p:nvSpPr>
          <p:cNvPr id="40" name="Text 37"/>
          <p:cNvSpPr/>
          <p:nvPr/>
        </p:nvSpPr>
        <p:spPr>
          <a:xfrm>
            <a:off x="704088" y="5888736"/>
            <a:ext cx="10762488" cy="201168"/>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Total proposto: 15–24 dias de engenharia. Conector externo: +5–10 dias, se a API existir; jurídico e isolamento são gates.</a:t>
            </a:r>
            <a:endParaRPr lang="en-US" sz="12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17 / AJUSTE MÍNIMO — AGENDA</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A conversa pode ser flexível.</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A agenda precisa ser determinística.</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Fluxo proposto: reutilizar busca, hold, confirmação e reagendamento; completar cancelamento.</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C1 · Código — arquitetura e ferramentas   |   O2 · Oria — API autenticada do Agent Studio</a:t>
            </a:r>
            <a:endParaRPr lang="en-US" sz="720" dirty="0"/>
          </a:p>
        </p:txBody>
      </p:sp>
      <p:sp>
        <p:nvSpPr>
          <p:cNvPr id="9" name="Shape 6"/>
          <p:cNvSpPr/>
          <p:nvPr/>
        </p:nvSpPr>
        <p:spPr>
          <a:xfrm>
            <a:off x="612648" y="2532888"/>
            <a:ext cx="2011680" cy="1088136"/>
          </a:xfrm>
          <a:prstGeom prst="roundRect">
            <a:avLst>
              <a:gd name="adj" fmla="val 10084"/>
            </a:avLst>
          </a:prstGeom>
          <a:solidFill>
            <a:srgbClr val="FFFFFF"/>
          </a:solidFill>
          <a:ln w="8890">
            <a:solidFill>
              <a:srgbClr val="DCE5DF"/>
            </a:solidFill>
            <a:prstDash val="solid"/>
          </a:ln>
        </p:spPr>
      </p:sp>
      <p:sp>
        <p:nvSpPr>
          <p:cNvPr id="10" name="Text 7"/>
          <p:cNvSpPr/>
          <p:nvPr/>
        </p:nvSpPr>
        <p:spPr>
          <a:xfrm>
            <a:off x="731520" y="2724912"/>
            <a:ext cx="1773936" cy="256032"/>
          </a:xfrm>
          <a:prstGeom prst="rect">
            <a:avLst/>
          </a:prstGeom>
          <a:noFill/>
          <a:ln/>
        </p:spPr>
        <p:txBody>
          <a:bodyPr wrap="square" lIns="0" tIns="0" rIns="0" bIns="0" rtlCol="0" anchor="t">
            <a:normAutofit/>
          </a:bodyPr>
          <a:lstStyle/>
          <a:p>
            <a:pPr algn="ctr" indent="0" marL="0">
              <a:buNone/>
            </a:pPr>
            <a:r>
              <a:rPr lang="en-US" sz="1700" b="1" dirty="0">
                <a:solidFill>
                  <a:srgbClr val="17312F"/>
                </a:solidFill>
                <a:latin typeface="Aptos Display" pitchFamily="34" charset="0"/>
                <a:ea typeface="Aptos Display" pitchFamily="34" charset="-122"/>
                <a:cs typeface="Aptos Display" pitchFamily="34" charset="-120"/>
              </a:rPr>
              <a:t>Pedido</a:t>
            </a:r>
            <a:endParaRPr lang="en-US" sz="1700" dirty="0"/>
          </a:p>
        </p:txBody>
      </p:sp>
      <p:sp>
        <p:nvSpPr>
          <p:cNvPr id="11" name="Text 8"/>
          <p:cNvSpPr/>
          <p:nvPr/>
        </p:nvSpPr>
        <p:spPr>
          <a:xfrm>
            <a:off x="704088" y="3145536"/>
            <a:ext cx="1828800" cy="219456"/>
          </a:xfrm>
          <a:prstGeom prst="rect">
            <a:avLst/>
          </a:prstGeom>
          <a:noFill/>
          <a:ln/>
        </p:spPr>
        <p:txBody>
          <a:bodyPr wrap="square" lIns="0" tIns="0" rIns="0" bIns="0" rtlCol="0" anchor="t">
            <a:normAutofit/>
          </a:bodyPr>
          <a:lstStyle/>
          <a:p>
            <a:pPr algn="ctr" indent="0" marL="0">
              <a:buNone/>
            </a:pPr>
            <a:r>
              <a:rPr lang="en-US" sz="1040" dirty="0">
                <a:solidFill>
                  <a:srgbClr val="657775"/>
                </a:solidFill>
                <a:latin typeface="Aptos" pitchFamily="34" charset="0"/>
                <a:ea typeface="Aptos" pitchFamily="34" charset="-122"/>
                <a:cs typeface="Aptos" pitchFamily="34" charset="-120"/>
              </a:rPr>
              <a:t>Intenção + critérios</a:t>
            </a:r>
            <a:endParaRPr lang="en-US" sz="1040" dirty="0"/>
          </a:p>
        </p:txBody>
      </p:sp>
      <p:sp>
        <p:nvSpPr>
          <p:cNvPr id="12" name="Shape 9"/>
          <p:cNvSpPr/>
          <p:nvPr/>
        </p:nvSpPr>
        <p:spPr>
          <a:xfrm>
            <a:off x="2633472" y="3063240"/>
            <a:ext cx="201168" cy="0"/>
          </a:xfrm>
          <a:prstGeom prst="line">
            <a:avLst/>
          </a:prstGeom>
          <a:noFill/>
          <a:ln w="16510">
            <a:solidFill>
              <a:srgbClr val="0F766E"/>
            </a:solidFill>
            <a:prstDash val="solid"/>
            <a:tailEnd type="triangle"/>
          </a:ln>
        </p:spPr>
      </p:sp>
      <p:sp>
        <p:nvSpPr>
          <p:cNvPr id="13" name="Shape 10"/>
          <p:cNvSpPr/>
          <p:nvPr/>
        </p:nvSpPr>
        <p:spPr>
          <a:xfrm>
            <a:off x="2889504" y="2532888"/>
            <a:ext cx="2011680" cy="1088136"/>
          </a:xfrm>
          <a:prstGeom prst="roundRect">
            <a:avLst>
              <a:gd name="adj" fmla="val 10084"/>
            </a:avLst>
          </a:prstGeom>
          <a:solidFill>
            <a:srgbClr val="FFFFFF"/>
          </a:solidFill>
          <a:ln w="8890">
            <a:solidFill>
              <a:srgbClr val="DCE5DF"/>
            </a:solidFill>
            <a:prstDash val="solid"/>
          </a:ln>
        </p:spPr>
      </p:sp>
      <p:sp>
        <p:nvSpPr>
          <p:cNvPr id="14" name="Text 11"/>
          <p:cNvSpPr/>
          <p:nvPr/>
        </p:nvSpPr>
        <p:spPr>
          <a:xfrm>
            <a:off x="3008376" y="2724912"/>
            <a:ext cx="1773936" cy="256032"/>
          </a:xfrm>
          <a:prstGeom prst="rect">
            <a:avLst/>
          </a:prstGeom>
          <a:noFill/>
          <a:ln/>
        </p:spPr>
        <p:txBody>
          <a:bodyPr wrap="square" lIns="0" tIns="0" rIns="0" bIns="0" rtlCol="0" anchor="t">
            <a:normAutofit/>
          </a:bodyPr>
          <a:lstStyle/>
          <a:p>
            <a:pPr algn="ctr" indent="0" marL="0">
              <a:buNone/>
            </a:pPr>
            <a:r>
              <a:rPr lang="en-US" sz="1700" b="1" dirty="0">
                <a:solidFill>
                  <a:srgbClr val="17312F"/>
                </a:solidFill>
                <a:latin typeface="Aptos Display" pitchFamily="34" charset="0"/>
                <a:ea typeface="Aptos Display" pitchFamily="34" charset="-122"/>
                <a:cs typeface="Aptos Display" pitchFamily="34" charset="-120"/>
              </a:rPr>
              <a:t>Opções</a:t>
            </a:r>
            <a:endParaRPr lang="en-US" sz="1700" dirty="0"/>
          </a:p>
        </p:txBody>
      </p:sp>
      <p:sp>
        <p:nvSpPr>
          <p:cNvPr id="15" name="Text 12"/>
          <p:cNvSpPr/>
          <p:nvPr/>
        </p:nvSpPr>
        <p:spPr>
          <a:xfrm>
            <a:off x="2980944" y="3145536"/>
            <a:ext cx="1828800" cy="219456"/>
          </a:xfrm>
          <a:prstGeom prst="rect">
            <a:avLst/>
          </a:prstGeom>
          <a:noFill/>
          <a:ln/>
        </p:spPr>
        <p:txBody>
          <a:bodyPr wrap="square" lIns="0" tIns="0" rIns="0" bIns="0" rtlCol="0" anchor="t">
            <a:normAutofit/>
          </a:bodyPr>
          <a:lstStyle/>
          <a:p>
            <a:pPr algn="ctr" indent="0" marL="0">
              <a:buNone/>
            </a:pPr>
            <a:r>
              <a:rPr lang="en-US" sz="1040" dirty="0">
                <a:solidFill>
                  <a:srgbClr val="657775"/>
                </a:solidFill>
                <a:latin typeface="Aptos" pitchFamily="34" charset="0"/>
                <a:ea typeface="Aptos" pitchFamily="34" charset="-122"/>
                <a:cs typeface="Aptos" pitchFamily="34" charset="-120"/>
              </a:rPr>
              <a:t>Horários do servidor</a:t>
            </a:r>
            <a:endParaRPr lang="en-US" sz="1040" dirty="0"/>
          </a:p>
        </p:txBody>
      </p:sp>
      <p:sp>
        <p:nvSpPr>
          <p:cNvPr id="16" name="Shape 13"/>
          <p:cNvSpPr/>
          <p:nvPr/>
        </p:nvSpPr>
        <p:spPr>
          <a:xfrm>
            <a:off x="4910328" y="3063240"/>
            <a:ext cx="201168" cy="0"/>
          </a:xfrm>
          <a:prstGeom prst="line">
            <a:avLst/>
          </a:prstGeom>
          <a:noFill/>
          <a:ln w="16510">
            <a:solidFill>
              <a:srgbClr val="0F766E"/>
            </a:solidFill>
            <a:prstDash val="solid"/>
            <a:tailEnd type="triangle"/>
          </a:ln>
        </p:spPr>
      </p:sp>
      <p:sp>
        <p:nvSpPr>
          <p:cNvPr id="17" name="Shape 14"/>
          <p:cNvSpPr/>
          <p:nvPr/>
        </p:nvSpPr>
        <p:spPr>
          <a:xfrm>
            <a:off x="5166360" y="2532888"/>
            <a:ext cx="2011680" cy="1088136"/>
          </a:xfrm>
          <a:prstGeom prst="roundRect">
            <a:avLst>
              <a:gd name="adj" fmla="val 10084"/>
            </a:avLst>
          </a:prstGeom>
          <a:solidFill>
            <a:srgbClr val="FFFFFF"/>
          </a:solidFill>
          <a:ln w="8890">
            <a:solidFill>
              <a:srgbClr val="DCE5DF"/>
            </a:solidFill>
            <a:prstDash val="solid"/>
          </a:ln>
        </p:spPr>
      </p:sp>
      <p:sp>
        <p:nvSpPr>
          <p:cNvPr id="18" name="Text 15"/>
          <p:cNvSpPr/>
          <p:nvPr/>
        </p:nvSpPr>
        <p:spPr>
          <a:xfrm>
            <a:off x="5285232" y="2724912"/>
            <a:ext cx="1773936" cy="256032"/>
          </a:xfrm>
          <a:prstGeom prst="rect">
            <a:avLst/>
          </a:prstGeom>
          <a:noFill/>
          <a:ln/>
        </p:spPr>
        <p:txBody>
          <a:bodyPr wrap="square" lIns="0" tIns="0" rIns="0" bIns="0" rtlCol="0" anchor="t">
            <a:normAutofit/>
          </a:bodyPr>
          <a:lstStyle/>
          <a:p>
            <a:pPr algn="ctr" indent="0" marL="0">
              <a:buNone/>
            </a:pPr>
            <a:r>
              <a:rPr lang="en-US" sz="1700" b="1" dirty="0">
                <a:solidFill>
                  <a:srgbClr val="17312F"/>
                </a:solidFill>
                <a:latin typeface="Aptos Display" pitchFamily="34" charset="0"/>
                <a:ea typeface="Aptos Display" pitchFamily="34" charset="-122"/>
                <a:cs typeface="Aptos Display" pitchFamily="34" charset="-120"/>
              </a:rPr>
              <a:t>Escolha</a:t>
            </a:r>
            <a:endParaRPr lang="en-US" sz="1700" dirty="0"/>
          </a:p>
        </p:txBody>
      </p:sp>
      <p:sp>
        <p:nvSpPr>
          <p:cNvPr id="19" name="Text 16"/>
          <p:cNvSpPr/>
          <p:nvPr/>
        </p:nvSpPr>
        <p:spPr>
          <a:xfrm>
            <a:off x="5257800" y="3145536"/>
            <a:ext cx="1828800" cy="219456"/>
          </a:xfrm>
          <a:prstGeom prst="rect">
            <a:avLst/>
          </a:prstGeom>
          <a:noFill/>
          <a:ln/>
        </p:spPr>
        <p:txBody>
          <a:bodyPr wrap="square" lIns="0" tIns="0" rIns="0" bIns="0" rtlCol="0" anchor="t">
            <a:normAutofit/>
          </a:bodyPr>
          <a:lstStyle/>
          <a:p>
            <a:pPr algn="ctr" indent="0" marL="0">
              <a:buNone/>
            </a:pPr>
            <a:r>
              <a:rPr lang="en-US" sz="1040" dirty="0">
                <a:solidFill>
                  <a:srgbClr val="657775"/>
                </a:solidFill>
                <a:latin typeface="Aptos" pitchFamily="34" charset="0"/>
                <a:ea typeface="Aptos" pitchFamily="34" charset="-122"/>
                <a:cs typeface="Aptos" pitchFamily="34" charset="-120"/>
              </a:rPr>
              <a:t>Confirmação explícita</a:t>
            </a:r>
            <a:endParaRPr lang="en-US" sz="1040" dirty="0"/>
          </a:p>
        </p:txBody>
      </p:sp>
      <p:sp>
        <p:nvSpPr>
          <p:cNvPr id="20" name="Shape 17"/>
          <p:cNvSpPr/>
          <p:nvPr/>
        </p:nvSpPr>
        <p:spPr>
          <a:xfrm>
            <a:off x="7187184" y="3063240"/>
            <a:ext cx="201168" cy="0"/>
          </a:xfrm>
          <a:prstGeom prst="line">
            <a:avLst/>
          </a:prstGeom>
          <a:noFill/>
          <a:ln w="16510">
            <a:solidFill>
              <a:srgbClr val="0F766E"/>
            </a:solidFill>
            <a:prstDash val="solid"/>
            <a:tailEnd type="triangle"/>
          </a:ln>
        </p:spPr>
      </p:sp>
      <p:sp>
        <p:nvSpPr>
          <p:cNvPr id="21" name="Shape 18"/>
          <p:cNvSpPr/>
          <p:nvPr/>
        </p:nvSpPr>
        <p:spPr>
          <a:xfrm>
            <a:off x="7443216" y="2532888"/>
            <a:ext cx="2011680" cy="1088136"/>
          </a:xfrm>
          <a:prstGeom prst="roundRect">
            <a:avLst>
              <a:gd name="adj" fmla="val 10084"/>
            </a:avLst>
          </a:prstGeom>
          <a:solidFill>
            <a:srgbClr val="FFFFFF"/>
          </a:solidFill>
          <a:ln w="8890">
            <a:solidFill>
              <a:srgbClr val="DCE5DF"/>
            </a:solidFill>
            <a:prstDash val="solid"/>
          </a:ln>
        </p:spPr>
      </p:sp>
      <p:sp>
        <p:nvSpPr>
          <p:cNvPr id="22" name="Text 19"/>
          <p:cNvSpPr/>
          <p:nvPr/>
        </p:nvSpPr>
        <p:spPr>
          <a:xfrm>
            <a:off x="7562088" y="2724912"/>
            <a:ext cx="1773936" cy="256032"/>
          </a:xfrm>
          <a:prstGeom prst="rect">
            <a:avLst/>
          </a:prstGeom>
          <a:noFill/>
          <a:ln/>
        </p:spPr>
        <p:txBody>
          <a:bodyPr wrap="square" lIns="0" tIns="0" rIns="0" bIns="0" rtlCol="0" anchor="t">
            <a:normAutofit/>
          </a:bodyPr>
          <a:lstStyle/>
          <a:p>
            <a:pPr algn="ctr" indent="0" marL="0">
              <a:buNone/>
            </a:pPr>
            <a:r>
              <a:rPr lang="en-US" sz="1700" b="1" dirty="0">
                <a:solidFill>
                  <a:srgbClr val="17312F"/>
                </a:solidFill>
                <a:latin typeface="Aptos Display" pitchFamily="34" charset="0"/>
                <a:ea typeface="Aptos Display" pitchFamily="34" charset="-122"/>
                <a:cs typeface="Aptos Display" pitchFamily="34" charset="-120"/>
              </a:rPr>
              <a:t>Reserva</a:t>
            </a:r>
            <a:endParaRPr lang="en-US" sz="1700" dirty="0"/>
          </a:p>
        </p:txBody>
      </p:sp>
      <p:sp>
        <p:nvSpPr>
          <p:cNvPr id="23" name="Text 20"/>
          <p:cNvSpPr/>
          <p:nvPr/>
        </p:nvSpPr>
        <p:spPr>
          <a:xfrm>
            <a:off x="7534656" y="3145536"/>
            <a:ext cx="1828800" cy="219456"/>
          </a:xfrm>
          <a:prstGeom prst="rect">
            <a:avLst/>
          </a:prstGeom>
          <a:noFill/>
          <a:ln/>
        </p:spPr>
        <p:txBody>
          <a:bodyPr wrap="square" lIns="0" tIns="0" rIns="0" bIns="0" rtlCol="0" anchor="t">
            <a:normAutofit/>
          </a:bodyPr>
          <a:lstStyle/>
          <a:p>
            <a:pPr algn="ctr" indent="0" marL="0">
              <a:buNone/>
            </a:pPr>
            <a:r>
              <a:rPr lang="en-US" sz="1040" dirty="0">
                <a:solidFill>
                  <a:srgbClr val="657775"/>
                </a:solidFill>
                <a:latin typeface="Aptos" pitchFamily="34" charset="0"/>
                <a:ea typeface="Aptos" pitchFamily="34" charset="-122"/>
                <a:cs typeface="Aptos" pitchFamily="34" charset="-120"/>
              </a:rPr>
              <a:t>Hold + pré-requisitos</a:t>
            </a:r>
            <a:endParaRPr lang="en-US" sz="1040" dirty="0"/>
          </a:p>
        </p:txBody>
      </p:sp>
      <p:sp>
        <p:nvSpPr>
          <p:cNvPr id="24" name="Shape 21"/>
          <p:cNvSpPr/>
          <p:nvPr/>
        </p:nvSpPr>
        <p:spPr>
          <a:xfrm>
            <a:off x="9464040" y="3063240"/>
            <a:ext cx="201168" cy="0"/>
          </a:xfrm>
          <a:prstGeom prst="line">
            <a:avLst/>
          </a:prstGeom>
          <a:noFill/>
          <a:ln w="16510">
            <a:solidFill>
              <a:srgbClr val="0F766E"/>
            </a:solidFill>
            <a:prstDash val="solid"/>
            <a:tailEnd type="triangle"/>
          </a:ln>
        </p:spPr>
      </p:sp>
      <p:sp>
        <p:nvSpPr>
          <p:cNvPr id="25" name="Shape 22"/>
          <p:cNvSpPr/>
          <p:nvPr/>
        </p:nvSpPr>
        <p:spPr>
          <a:xfrm>
            <a:off x="9720072" y="2532888"/>
            <a:ext cx="2011680" cy="1088136"/>
          </a:xfrm>
          <a:prstGeom prst="roundRect">
            <a:avLst>
              <a:gd name="adj" fmla="val 10084"/>
            </a:avLst>
          </a:prstGeom>
          <a:solidFill>
            <a:srgbClr val="E7F2EC"/>
          </a:solidFill>
          <a:ln w="8890">
            <a:solidFill>
              <a:srgbClr val="DCE5DF"/>
            </a:solidFill>
            <a:prstDash val="solid"/>
          </a:ln>
        </p:spPr>
      </p:sp>
      <p:sp>
        <p:nvSpPr>
          <p:cNvPr id="26" name="Text 23"/>
          <p:cNvSpPr/>
          <p:nvPr/>
        </p:nvSpPr>
        <p:spPr>
          <a:xfrm>
            <a:off x="9838944" y="2724912"/>
            <a:ext cx="1773936" cy="256032"/>
          </a:xfrm>
          <a:prstGeom prst="rect">
            <a:avLst/>
          </a:prstGeom>
          <a:noFill/>
          <a:ln/>
        </p:spPr>
        <p:txBody>
          <a:bodyPr wrap="square" lIns="0" tIns="0" rIns="0" bIns="0" rtlCol="0" anchor="t">
            <a:normAutofit/>
          </a:bodyPr>
          <a:lstStyle/>
          <a:p>
            <a:pPr algn="ctr" indent="0" marL="0">
              <a:buNone/>
            </a:pPr>
            <a:r>
              <a:rPr lang="en-US" sz="1700" b="1" dirty="0">
                <a:solidFill>
                  <a:srgbClr val="0F766E"/>
                </a:solidFill>
                <a:latin typeface="Aptos Display" pitchFamily="34" charset="0"/>
                <a:ea typeface="Aptos Display" pitchFamily="34" charset="-122"/>
                <a:cs typeface="Aptos Display" pitchFamily="34" charset="-120"/>
              </a:rPr>
              <a:t>Confirmado</a:t>
            </a:r>
            <a:endParaRPr lang="en-US" sz="1700" dirty="0"/>
          </a:p>
        </p:txBody>
      </p:sp>
      <p:sp>
        <p:nvSpPr>
          <p:cNvPr id="27" name="Text 24"/>
          <p:cNvSpPr/>
          <p:nvPr/>
        </p:nvSpPr>
        <p:spPr>
          <a:xfrm>
            <a:off x="9811512" y="3145536"/>
            <a:ext cx="1828800" cy="219456"/>
          </a:xfrm>
          <a:prstGeom prst="rect">
            <a:avLst/>
          </a:prstGeom>
          <a:noFill/>
          <a:ln/>
        </p:spPr>
        <p:txBody>
          <a:bodyPr wrap="square" lIns="0" tIns="0" rIns="0" bIns="0" rtlCol="0" anchor="t">
            <a:normAutofit/>
          </a:bodyPr>
          <a:lstStyle/>
          <a:p>
            <a:pPr algn="ctr" indent="0" marL="0">
              <a:buNone/>
            </a:pPr>
            <a:r>
              <a:rPr lang="en-US" sz="1040" dirty="0">
                <a:solidFill>
                  <a:srgbClr val="657775"/>
                </a:solidFill>
                <a:latin typeface="Aptos" pitchFamily="34" charset="0"/>
                <a:ea typeface="Aptos" pitchFamily="34" charset="-122"/>
                <a:cs typeface="Aptos" pitchFamily="34" charset="-120"/>
              </a:rPr>
              <a:t>ID + status real</a:t>
            </a:r>
            <a:endParaRPr lang="en-US" sz="1040" dirty="0"/>
          </a:p>
        </p:txBody>
      </p:sp>
      <p:sp>
        <p:nvSpPr>
          <p:cNvPr id="28" name="Shape 25"/>
          <p:cNvSpPr/>
          <p:nvPr/>
        </p:nvSpPr>
        <p:spPr>
          <a:xfrm>
            <a:off x="585216" y="4187952"/>
            <a:ext cx="5413248" cy="1344168"/>
          </a:xfrm>
          <a:prstGeom prst="roundRect">
            <a:avLst>
              <a:gd name="adj" fmla="val 8163"/>
            </a:avLst>
          </a:prstGeom>
          <a:solidFill>
            <a:srgbClr val="FFFFFF"/>
          </a:solidFill>
          <a:ln w="8890">
            <a:solidFill>
              <a:srgbClr val="DCE5DF"/>
            </a:solidFill>
            <a:prstDash val="solid"/>
          </a:ln>
        </p:spPr>
      </p:sp>
      <p:sp>
        <p:nvSpPr>
          <p:cNvPr id="29" name="Shape 26"/>
          <p:cNvSpPr/>
          <p:nvPr/>
        </p:nvSpPr>
        <p:spPr>
          <a:xfrm>
            <a:off x="749808" y="4389120"/>
            <a:ext cx="50292" cy="320040"/>
          </a:xfrm>
          <a:prstGeom prst="rect">
            <a:avLst>
              <a:gd name="adj" fmla="val 218182"/>
            </a:avLst>
          </a:prstGeom>
          <a:solidFill>
            <a:srgbClr val="E67861"/>
          </a:solidFill>
          <a:ln w="8890">
            <a:solidFill>
              <a:srgbClr val="E67861"/>
            </a:solidFill>
            <a:prstDash val="solid"/>
          </a:ln>
        </p:spPr>
      </p:sp>
      <p:sp>
        <p:nvSpPr>
          <p:cNvPr id="30" name="Text 27"/>
          <p:cNvSpPr/>
          <p:nvPr/>
        </p:nvSpPr>
        <p:spPr>
          <a:xfrm>
            <a:off x="914400" y="4398264"/>
            <a:ext cx="4901184" cy="438912"/>
          </a:xfrm>
          <a:prstGeom prst="rect">
            <a:avLst/>
          </a:prstGeom>
          <a:noFill/>
          <a:ln/>
        </p:spPr>
        <p:txBody>
          <a:bodyPr wrap="square" lIns="0" tIns="0" rIns="0" bIns="0" rtlCol="0" anchor="t">
            <a:normAutofit/>
          </a:bodyPr>
          <a:lstStyle/>
          <a:p>
            <a:pPr indent="0" marL="0">
              <a:buNone/>
            </a:pPr>
            <a:r>
              <a:rPr lang="en-US" sz="1800" b="1" dirty="0">
                <a:solidFill>
                  <a:srgbClr val="E67861"/>
                </a:solidFill>
                <a:latin typeface="Aptos Display" pitchFamily="34" charset="0"/>
                <a:ea typeface="Aptos Display" pitchFamily="34" charset="-122"/>
                <a:cs typeface="Aptos Display" pitchFamily="34" charset="-120"/>
              </a:rPr>
              <a:t>EXCEÇÃO ≠ CONFIRMAÇÃO</a:t>
            </a:r>
            <a:endParaRPr lang="en-US" sz="1800" dirty="0"/>
          </a:p>
        </p:txBody>
      </p:sp>
      <p:sp>
        <p:nvSpPr>
          <p:cNvPr id="31" name="Text 28"/>
          <p:cNvSpPr/>
          <p:nvPr/>
        </p:nvSpPr>
        <p:spPr>
          <a:xfrm>
            <a:off x="795528" y="4882896"/>
            <a:ext cx="4992624" cy="521208"/>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Sem vaga, ferramenta indisponível ou sinal não confirmado: explicar o estado real e encaminhar sem inventar sucesso.</a:t>
            </a:r>
            <a:endParaRPr lang="en-US" sz="1350" dirty="0"/>
          </a:p>
        </p:txBody>
      </p:sp>
      <p:sp>
        <p:nvSpPr>
          <p:cNvPr id="32" name="Shape 29"/>
          <p:cNvSpPr/>
          <p:nvPr/>
        </p:nvSpPr>
        <p:spPr>
          <a:xfrm>
            <a:off x="6208776" y="4187952"/>
            <a:ext cx="5413248" cy="1344168"/>
          </a:xfrm>
          <a:prstGeom prst="roundRect">
            <a:avLst>
              <a:gd name="adj" fmla="val 8163"/>
            </a:avLst>
          </a:prstGeom>
          <a:solidFill>
            <a:srgbClr val="FFFFFF"/>
          </a:solidFill>
          <a:ln w="8890">
            <a:solidFill>
              <a:srgbClr val="DCE5DF"/>
            </a:solidFill>
            <a:prstDash val="solid"/>
          </a:ln>
        </p:spPr>
      </p:sp>
      <p:sp>
        <p:nvSpPr>
          <p:cNvPr id="33" name="Shape 30"/>
          <p:cNvSpPr/>
          <p:nvPr/>
        </p:nvSpPr>
        <p:spPr>
          <a:xfrm>
            <a:off x="6373368" y="4389120"/>
            <a:ext cx="50292" cy="320040"/>
          </a:xfrm>
          <a:prstGeom prst="rect">
            <a:avLst>
              <a:gd name="adj" fmla="val 218182"/>
            </a:avLst>
          </a:prstGeom>
          <a:solidFill>
            <a:srgbClr val="0F766E"/>
          </a:solidFill>
          <a:ln w="8890">
            <a:solidFill>
              <a:srgbClr val="0F766E"/>
            </a:solidFill>
            <a:prstDash val="solid"/>
          </a:ln>
        </p:spPr>
      </p:sp>
      <p:sp>
        <p:nvSpPr>
          <p:cNvPr id="34" name="Text 31"/>
          <p:cNvSpPr/>
          <p:nvPr/>
        </p:nvSpPr>
        <p:spPr>
          <a:xfrm>
            <a:off x="6537960" y="4398264"/>
            <a:ext cx="4901184" cy="438912"/>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ADICIONAR: CANCELAMENTO</a:t>
            </a:r>
            <a:endParaRPr lang="en-US" sz="1800" dirty="0"/>
          </a:p>
        </p:txBody>
      </p:sp>
      <p:sp>
        <p:nvSpPr>
          <p:cNvPr id="35" name="Text 32"/>
          <p:cNvSpPr/>
          <p:nvPr/>
        </p:nvSpPr>
        <p:spPr>
          <a:xfrm>
            <a:off x="6419088" y="4882896"/>
            <a:ext cx="4992624" cy="521208"/>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calendar.cancel com escolha explícita, autorização, regra de prazo, liberação única da vaga e log do resultado.</a:t>
            </a:r>
            <a:endParaRPr lang="en-US" sz="1350" dirty="0"/>
          </a:p>
        </p:txBody>
      </p:sp>
      <p:sp>
        <p:nvSpPr>
          <p:cNvPr id="36" name="Shape 33"/>
          <p:cNvSpPr/>
          <p:nvPr/>
        </p:nvSpPr>
        <p:spPr>
          <a:xfrm>
            <a:off x="521208" y="5797296"/>
            <a:ext cx="11128248" cy="393192"/>
          </a:xfrm>
          <a:prstGeom prst="rect">
            <a:avLst>
              <a:gd name="adj" fmla="val 27907"/>
            </a:avLst>
          </a:prstGeom>
          <a:solidFill>
            <a:srgbClr val="E7F2EC"/>
          </a:solidFill>
          <a:ln w="8890">
            <a:solidFill>
              <a:srgbClr val="E7F2EC"/>
            </a:solidFill>
            <a:prstDash val="solid"/>
          </a:ln>
        </p:spPr>
      </p:sp>
      <p:sp>
        <p:nvSpPr>
          <p:cNvPr id="37" name="Text 34"/>
          <p:cNvSpPr/>
          <p:nvPr/>
        </p:nvSpPr>
        <p:spPr>
          <a:xfrm>
            <a:off x="704088" y="5888736"/>
            <a:ext cx="10762488" cy="201168"/>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Aceite técnico: retries não duplicam eventos; concorrência não vende a mesma vaga; nenhum “agendado” sem persistência.</a:t>
            </a:r>
            <a:endParaRPr lang="en-US" sz="12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18 / AJUSTE MÍNIMO — CONTINUIDADE</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Encaminhar é uma ação operacional.</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Não apenas uma frase do assistente.</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Proposta de fluxo, não screenshot de uma funcionalidade nova.</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O1 · Oria — dashboard autenticado   |   C1 · Código — arquitetura e ferramentas   |   C2 · Código — configuração ativa e follow-up   |   S9 · WhatsApp — preços da plataforma</a:t>
            </a:r>
            <a:endParaRPr lang="en-US" sz="720" dirty="0"/>
          </a:p>
        </p:txBody>
      </p:sp>
      <p:sp>
        <p:nvSpPr>
          <p:cNvPr id="9" name="Shape 6"/>
          <p:cNvSpPr/>
          <p:nvPr/>
        </p:nvSpPr>
        <p:spPr>
          <a:xfrm>
            <a:off x="548640" y="2267712"/>
            <a:ext cx="3529584" cy="1828800"/>
          </a:xfrm>
          <a:prstGeom prst="roundRect">
            <a:avLst>
              <a:gd name="adj" fmla="val 6000"/>
            </a:avLst>
          </a:prstGeom>
          <a:solidFill>
            <a:srgbClr val="FFFFFF"/>
          </a:solidFill>
          <a:ln w="8890">
            <a:solidFill>
              <a:srgbClr val="DCE5DF"/>
            </a:solidFill>
            <a:prstDash val="solid"/>
          </a:ln>
        </p:spPr>
      </p:sp>
      <p:sp>
        <p:nvSpPr>
          <p:cNvPr id="10" name="Shape 7"/>
          <p:cNvSpPr/>
          <p:nvPr/>
        </p:nvSpPr>
        <p:spPr>
          <a:xfrm>
            <a:off x="713232" y="2468880"/>
            <a:ext cx="50292" cy="320040"/>
          </a:xfrm>
          <a:prstGeom prst="rect">
            <a:avLst>
              <a:gd name="adj" fmla="val 218182"/>
            </a:avLst>
          </a:prstGeom>
          <a:solidFill>
            <a:srgbClr val="E67861"/>
          </a:solidFill>
          <a:ln w="8890">
            <a:solidFill>
              <a:srgbClr val="E67861"/>
            </a:solidFill>
            <a:prstDash val="solid"/>
          </a:ln>
        </p:spPr>
      </p:sp>
      <p:sp>
        <p:nvSpPr>
          <p:cNvPr id="11" name="Text 8"/>
          <p:cNvSpPr/>
          <p:nvPr/>
        </p:nvSpPr>
        <p:spPr>
          <a:xfrm>
            <a:off x="877824" y="2478024"/>
            <a:ext cx="3017520" cy="438912"/>
          </a:xfrm>
          <a:prstGeom prst="rect">
            <a:avLst/>
          </a:prstGeom>
          <a:noFill/>
          <a:ln/>
        </p:spPr>
        <p:txBody>
          <a:bodyPr wrap="square" lIns="0" tIns="0" rIns="0" bIns="0" rtlCol="0" anchor="t">
            <a:normAutofit/>
          </a:bodyPr>
          <a:lstStyle/>
          <a:p>
            <a:pPr indent="0" marL="0">
              <a:buNone/>
            </a:pPr>
            <a:r>
              <a:rPr lang="en-US" sz="1800" b="1" dirty="0">
                <a:solidFill>
                  <a:srgbClr val="E67861"/>
                </a:solidFill>
                <a:latin typeface="Aptos Display" pitchFamily="34" charset="0"/>
                <a:ea typeface="Aptos Display" pitchFamily="34" charset="-122"/>
                <a:cs typeface="Aptos Display" pitchFamily="34" charset="-120"/>
              </a:rPr>
              <a:t>QUANDO PARAR</a:t>
            </a:r>
            <a:endParaRPr lang="en-US" sz="1800" dirty="0"/>
          </a:p>
        </p:txBody>
      </p:sp>
      <p:sp>
        <p:nvSpPr>
          <p:cNvPr id="12" name="Text 9"/>
          <p:cNvSpPr/>
          <p:nvPr/>
        </p:nvSpPr>
        <p:spPr>
          <a:xfrm>
            <a:off x="758952" y="2962656"/>
            <a:ext cx="3108960" cy="1005840"/>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Exceção operacional; informação não aprovada; demanda clínica; solicitação explícita de humano.</a:t>
            </a:r>
            <a:endParaRPr lang="en-US" sz="1350" dirty="0"/>
          </a:p>
        </p:txBody>
      </p:sp>
      <p:sp>
        <p:nvSpPr>
          <p:cNvPr id="13" name="Shape 10"/>
          <p:cNvSpPr/>
          <p:nvPr/>
        </p:nvSpPr>
        <p:spPr>
          <a:xfrm>
            <a:off x="4343400" y="2267712"/>
            <a:ext cx="3529584" cy="1828800"/>
          </a:xfrm>
          <a:prstGeom prst="roundRect">
            <a:avLst>
              <a:gd name="adj" fmla="val 6000"/>
            </a:avLst>
          </a:prstGeom>
          <a:solidFill>
            <a:srgbClr val="FFFFFF"/>
          </a:solidFill>
          <a:ln w="8890">
            <a:solidFill>
              <a:srgbClr val="DCE5DF"/>
            </a:solidFill>
            <a:prstDash val="solid"/>
          </a:ln>
        </p:spPr>
      </p:sp>
      <p:sp>
        <p:nvSpPr>
          <p:cNvPr id="14" name="Shape 11"/>
          <p:cNvSpPr/>
          <p:nvPr/>
        </p:nvSpPr>
        <p:spPr>
          <a:xfrm>
            <a:off x="4507992" y="2468880"/>
            <a:ext cx="50292" cy="320040"/>
          </a:xfrm>
          <a:prstGeom prst="rect">
            <a:avLst>
              <a:gd name="adj" fmla="val 218182"/>
            </a:avLst>
          </a:prstGeom>
          <a:solidFill>
            <a:srgbClr val="0F766E"/>
          </a:solidFill>
          <a:ln w="8890">
            <a:solidFill>
              <a:srgbClr val="0F766E"/>
            </a:solidFill>
            <a:prstDash val="solid"/>
          </a:ln>
        </p:spPr>
      </p:sp>
      <p:sp>
        <p:nvSpPr>
          <p:cNvPr id="15" name="Text 12"/>
          <p:cNvSpPr/>
          <p:nvPr/>
        </p:nvSpPr>
        <p:spPr>
          <a:xfrm>
            <a:off x="4672584" y="2478024"/>
            <a:ext cx="3017520" cy="438912"/>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O QUE ENTREGAR</a:t>
            </a:r>
            <a:endParaRPr lang="en-US" sz="1800" dirty="0"/>
          </a:p>
        </p:txBody>
      </p:sp>
      <p:sp>
        <p:nvSpPr>
          <p:cNvPr id="16" name="Text 13"/>
          <p:cNvSpPr/>
          <p:nvPr/>
        </p:nvSpPr>
        <p:spPr>
          <a:xfrm>
            <a:off x="4553712" y="2962656"/>
            <a:ext cx="3108960" cy="1005840"/>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Resumo + pedido + campos necessários + última ação + motivo + responsável + prazo de retorno.</a:t>
            </a:r>
            <a:endParaRPr lang="en-US" sz="1350" dirty="0"/>
          </a:p>
        </p:txBody>
      </p:sp>
      <p:sp>
        <p:nvSpPr>
          <p:cNvPr id="17" name="Shape 14"/>
          <p:cNvSpPr/>
          <p:nvPr/>
        </p:nvSpPr>
        <p:spPr>
          <a:xfrm>
            <a:off x="8138160" y="2267712"/>
            <a:ext cx="3511296" cy="1828800"/>
          </a:xfrm>
          <a:prstGeom prst="roundRect">
            <a:avLst>
              <a:gd name="adj" fmla="val 6000"/>
            </a:avLst>
          </a:prstGeom>
          <a:solidFill>
            <a:srgbClr val="FFFFFF"/>
          </a:solidFill>
          <a:ln w="8890">
            <a:solidFill>
              <a:srgbClr val="DCE5DF"/>
            </a:solidFill>
            <a:prstDash val="solid"/>
          </a:ln>
        </p:spPr>
      </p:sp>
      <p:sp>
        <p:nvSpPr>
          <p:cNvPr id="18" name="Shape 15"/>
          <p:cNvSpPr/>
          <p:nvPr/>
        </p:nvSpPr>
        <p:spPr>
          <a:xfrm>
            <a:off x="8302752" y="2468880"/>
            <a:ext cx="50292" cy="320040"/>
          </a:xfrm>
          <a:prstGeom prst="rect">
            <a:avLst>
              <a:gd name="adj" fmla="val 218182"/>
            </a:avLst>
          </a:prstGeom>
          <a:solidFill>
            <a:srgbClr val="0F766E"/>
          </a:solidFill>
          <a:ln w="8890">
            <a:solidFill>
              <a:srgbClr val="0F766E"/>
            </a:solidFill>
            <a:prstDash val="solid"/>
          </a:ln>
        </p:spPr>
      </p:sp>
      <p:sp>
        <p:nvSpPr>
          <p:cNvPr id="19" name="Text 16"/>
          <p:cNvSpPr/>
          <p:nvPr/>
        </p:nvSpPr>
        <p:spPr>
          <a:xfrm>
            <a:off x="8467344" y="2478024"/>
            <a:ext cx="2999232" cy="438912"/>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COMO RETOMAR</a:t>
            </a:r>
            <a:endParaRPr lang="en-US" sz="1800" dirty="0"/>
          </a:p>
        </p:txBody>
      </p:sp>
      <p:sp>
        <p:nvSpPr>
          <p:cNvPr id="20" name="Text 17"/>
          <p:cNvSpPr/>
          <p:nvPr/>
        </p:nvSpPr>
        <p:spPr>
          <a:xfrm>
            <a:off x="8348472" y="2962656"/>
            <a:ext cx="3090672" cy="1005840"/>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Equipe aceita a fila; define estado; paciente recebe confirmação; reentrada da IA é explícita.</a:t>
            </a:r>
            <a:endParaRPr lang="en-US" sz="1350" dirty="0"/>
          </a:p>
        </p:txBody>
      </p:sp>
      <p:sp>
        <p:nvSpPr>
          <p:cNvPr id="21" name="Shape 18"/>
          <p:cNvSpPr/>
          <p:nvPr/>
        </p:nvSpPr>
        <p:spPr>
          <a:xfrm>
            <a:off x="557784" y="4526280"/>
            <a:ext cx="11064240" cy="1014984"/>
          </a:xfrm>
          <a:prstGeom prst="roundRect">
            <a:avLst>
              <a:gd name="adj" fmla="val 10811"/>
            </a:avLst>
          </a:prstGeom>
          <a:solidFill>
            <a:srgbClr val="EBF0F6"/>
          </a:solidFill>
          <a:ln w="8890">
            <a:solidFill>
              <a:srgbClr val="EBF0F6"/>
            </a:solidFill>
            <a:prstDash val="solid"/>
          </a:ln>
        </p:spPr>
      </p:sp>
      <p:sp>
        <p:nvSpPr>
          <p:cNvPr id="22" name="Text 19"/>
          <p:cNvSpPr/>
          <p:nvPr/>
        </p:nvSpPr>
        <p:spPr>
          <a:xfrm>
            <a:off x="768096" y="4718304"/>
            <a:ext cx="3675888" cy="274320"/>
          </a:xfrm>
          <a:prstGeom prst="rect">
            <a:avLst/>
          </a:prstGeom>
          <a:noFill/>
          <a:ln/>
        </p:spPr>
        <p:txBody>
          <a:bodyPr wrap="square" lIns="0" tIns="0" rIns="0" bIns="0" rtlCol="0" anchor="t">
            <a:normAutofit/>
          </a:bodyPr>
          <a:lstStyle/>
          <a:p>
            <a:pPr indent="0" marL="0">
              <a:buNone/>
            </a:pPr>
            <a:r>
              <a:rPr lang="en-US" sz="1900" b="1" dirty="0">
                <a:solidFill>
                  <a:srgbClr val="456C91"/>
                </a:solidFill>
                <a:latin typeface="Aptos Display" pitchFamily="34" charset="0"/>
                <a:ea typeface="Aptos Display" pitchFamily="34" charset="-122"/>
                <a:cs typeface="Aptos Display" pitchFamily="34" charset="-120"/>
              </a:rPr>
              <a:t>Janela de 24h no WhatsApp</a:t>
            </a:r>
            <a:endParaRPr lang="en-US" sz="1900" dirty="0"/>
          </a:p>
        </p:txBody>
      </p:sp>
      <p:sp>
        <p:nvSpPr>
          <p:cNvPr id="23" name="Text 20"/>
          <p:cNvSpPr/>
          <p:nvPr/>
        </p:nvSpPr>
        <p:spPr>
          <a:xfrm>
            <a:off x="4681728" y="4709160"/>
            <a:ext cx="6556248" cy="585216"/>
          </a:xfrm>
          <a:prstGeom prst="rect">
            <a:avLst/>
          </a:prstGeom>
          <a:noFill/>
          <a:ln/>
        </p:spPr>
        <p:txBody>
          <a:bodyPr wrap="square" lIns="0" tIns="0" rIns="0" bIns="0" rtlCol="0" anchor="t">
            <a:normAutofit/>
          </a:bodyPr>
          <a:lstStyle/>
          <a:p>
            <a:pPr indent="0" marL="0">
              <a:buNone/>
            </a:pPr>
            <a:r>
              <a:rPr lang="en-US" sz="1400" dirty="0">
                <a:solidFill>
                  <a:srgbClr val="17312F"/>
                </a:solidFill>
                <a:latin typeface="Aptos" pitchFamily="34" charset="0"/>
                <a:ea typeface="Aptos" pitchFamily="34" charset="-122"/>
                <a:cs typeface="Aptos" pitchFamily="34" charset="-120"/>
              </a:rPr>
              <a:t>Nova mensagem reinicia a janela. Fora dela: template aprovado quando permitido; opt-out e categoria corretos. Não estender o follow-up atual “na força”.</a:t>
            </a:r>
            <a:endParaRPr lang="en-US" sz="1400" dirty="0"/>
          </a:p>
        </p:txBody>
      </p:sp>
      <p:sp>
        <p:nvSpPr>
          <p:cNvPr id="24" name="Shape 21"/>
          <p:cNvSpPr/>
          <p:nvPr/>
        </p:nvSpPr>
        <p:spPr>
          <a:xfrm>
            <a:off x="521208" y="5797296"/>
            <a:ext cx="11128248" cy="393192"/>
          </a:xfrm>
          <a:prstGeom prst="rect">
            <a:avLst>
              <a:gd name="adj" fmla="val 27907"/>
            </a:avLst>
          </a:prstGeom>
          <a:solidFill>
            <a:srgbClr val="E7F2EC"/>
          </a:solidFill>
          <a:ln w="8890">
            <a:solidFill>
              <a:srgbClr val="E7F2EC"/>
            </a:solidFill>
            <a:prstDash val="solid"/>
          </a:ln>
        </p:spPr>
      </p:sp>
      <p:sp>
        <p:nvSpPr>
          <p:cNvPr id="25" name="Text 22"/>
          <p:cNvSpPr/>
          <p:nvPr/>
        </p:nvSpPr>
        <p:spPr>
          <a:xfrm>
            <a:off x="704088" y="5888736"/>
            <a:ext cx="10762488" cy="201168"/>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Medir handoff aceito, tempo de espera e rework. O alerta de pós-encerramento pede regra explícita de continuidade.</a:t>
            </a:r>
            <a:endParaRPr lang="en-US" sz="12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19 / AJUSTE MÍNIMO — LEDGER DE RESOLUÇÃO</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Meça o que termina.</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Não apenas mensagens que começam.</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Unificar a auditoria existente em um registro operacional por episódio e por agendamento.</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C1 · Código — arquitetura e ferramentas   |   O1 · Oria — dashboard autenticado</a:t>
            </a:r>
            <a:endParaRPr lang="en-US" sz="720" dirty="0"/>
          </a:p>
        </p:txBody>
      </p:sp>
      <p:sp>
        <p:nvSpPr>
          <p:cNvPr id="9" name="Shape 6"/>
          <p:cNvSpPr/>
          <p:nvPr/>
        </p:nvSpPr>
        <p:spPr>
          <a:xfrm>
            <a:off x="557784" y="2194560"/>
            <a:ext cx="11109960" cy="384048"/>
          </a:xfrm>
          <a:prstGeom prst="rect">
            <a:avLst>
              <a:gd name="adj" fmla="val 28571"/>
            </a:avLst>
          </a:prstGeom>
          <a:solidFill>
            <a:srgbClr val="0B3430"/>
          </a:solidFill>
          <a:ln w="8890">
            <a:solidFill>
              <a:srgbClr val="0B3430"/>
            </a:solidFill>
            <a:prstDash val="solid"/>
          </a:ln>
        </p:spPr>
      </p:sp>
      <p:sp>
        <p:nvSpPr>
          <p:cNvPr id="10" name="Text 7"/>
          <p:cNvSpPr/>
          <p:nvPr/>
        </p:nvSpPr>
        <p:spPr>
          <a:xfrm>
            <a:off x="649224" y="2295144"/>
            <a:ext cx="2075688"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Evento</a:t>
            </a:r>
            <a:endParaRPr lang="en-US" sz="1050" dirty="0"/>
          </a:p>
        </p:txBody>
      </p:sp>
      <p:sp>
        <p:nvSpPr>
          <p:cNvPr id="11" name="Text 8"/>
          <p:cNvSpPr/>
          <p:nvPr/>
        </p:nvSpPr>
        <p:spPr>
          <a:xfrm>
            <a:off x="2907792" y="2295144"/>
            <a:ext cx="3959352"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Estado verificável</a:t>
            </a:r>
            <a:endParaRPr lang="en-US" sz="1050" dirty="0"/>
          </a:p>
        </p:txBody>
      </p:sp>
      <p:sp>
        <p:nvSpPr>
          <p:cNvPr id="12" name="Text 9"/>
          <p:cNvSpPr/>
          <p:nvPr/>
        </p:nvSpPr>
        <p:spPr>
          <a:xfrm>
            <a:off x="7050024" y="2295144"/>
            <a:ext cx="4526280"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Métrica derivada</a:t>
            </a:r>
            <a:endParaRPr lang="en-US" sz="1050" dirty="0"/>
          </a:p>
        </p:txBody>
      </p:sp>
      <p:sp>
        <p:nvSpPr>
          <p:cNvPr id="13" name="Shape 10"/>
          <p:cNvSpPr/>
          <p:nvPr/>
        </p:nvSpPr>
        <p:spPr>
          <a:xfrm>
            <a:off x="557784" y="2578608"/>
            <a:ext cx="11109960" cy="502920"/>
          </a:xfrm>
          <a:prstGeom prst="rect">
            <a:avLst>
              <a:gd name="adj" fmla="val 21818"/>
            </a:avLst>
          </a:prstGeom>
          <a:solidFill>
            <a:srgbClr val="FFFFFF"/>
          </a:solidFill>
          <a:ln w="8890">
            <a:solidFill>
              <a:srgbClr val="DCE5DF"/>
            </a:solidFill>
            <a:prstDash val="solid"/>
          </a:ln>
        </p:spPr>
      </p:sp>
      <p:sp>
        <p:nvSpPr>
          <p:cNvPr id="14" name="Text 11"/>
          <p:cNvSpPr/>
          <p:nvPr/>
        </p:nvSpPr>
        <p:spPr>
          <a:xfrm>
            <a:off x="649224" y="2670048"/>
            <a:ext cx="2075688" cy="356616"/>
          </a:xfrm>
          <a:prstGeom prst="rect">
            <a:avLst/>
          </a:prstGeom>
          <a:noFill/>
          <a:ln/>
        </p:spPr>
        <p:txBody>
          <a:bodyPr wrap="square" lIns="0" tIns="0" rIns="0" bIns="0" rtlCol="0" anchor="t">
            <a:normAutofit/>
          </a:bodyPr>
          <a:lstStyle/>
          <a:p>
            <a:pPr indent="0" marL="0">
              <a:buNone/>
            </a:pPr>
            <a:r>
              <a:rPr lang="en-US" sz="1180" b="1" dirty="0">
                <a:solidFill>
                  <a:srgbClr val="0F766E"/>
                </a:solidFill>
                <a:latin typeface="Aptos Display" pitchFamily="34" charset="0"/>
                <a:ea typeface="Aptos Display" pitchFamily="34" charset="-122"/>
                <a:cs typeface="Aptos Display" pitchFamily="34" charset="-120"/>
              </a:rPr>
              <a:t>Contato recebido</a:t>
            </a:r>
            <a:endParaRPr lang="en-US" sz="1180" dirty="0"/>
          </a:p>
        </p:txBody>
      </p:sp>
      <p:sp>
        <p:nvSpPr>
          <p:cNvPr id="15" name="Text 12"/>
          <p:cNvSpPr/>
          <p:nvPr/>
        </p:nvSpPr>
        <p:spPr>
          <a:xfrm>
            <a:off x="2907792" y="2670048"/>
            <a:ext cx="3959352" cy="356616"/>
          </a:xfrm>
          <a:prstGeom prst="rect">
            <a:avLst/>
          </a:prstGeom>
          <a:noFill/>
          <a:ln/>
        </p:spPr>
        <p:txBody>
          <a:bodyPr wrap="square" lIns="0" tIns="0" rIns="0" bIns="0" rtlCol="0" anchor="t">
            <a:normAutofit/>
          </a:bodyPr>
          <a:lstStyle/>
          <a:p>
            <a:pPr indent="0" marL="0">
              <a:buNone/>
            </a:pPr>
            <a:r>
              <a:rPr lang="en-US" sz="1180" dirty="0">
                <a:solidFill>
                  <a:srgbClr val="17312F"/>
                </a:solidFill>
                <a:latin typeface="Aptos" pitchFamily="34" charset="0"/>
                <a:ea typeface="Aptos" pitchFamily="34" charset="-122"/>
                <a:cs typeface="Aptos" pitchFamily="34" charset="-120"/>
              </a:rPr>
              <a:t>ID, clínica, coorte, intenção elegível</a:t>
            </a:r>
            <a:endParaRPr lang="en-US" sz="1180" dirty="0"/>
          </a:p>
        </p:txBody>
      </p:sp>
      <p:sp>
        <p:nvSpPr>
          <p:cNvPr id="16" name="Text 13"/>
          <p:cNvSpPr/>
          <p:nvPr/>
        </p:nvSpPr>
        <p:spPr>
          <a:xfrm>
            <a:off x="7050024" y="2670048"/>
            <a:ext cx="4526280" cy="356616"/>
          </a:xfrm>
          <a:prstGeom prst="rect">
            <a:avLst/>
          </a:prstGeom>
          <a:noFill/>
          <a:ln/>
        </p:spPr>
        <p:txBody>
          <a:bodyPr wrap="square" lIns="0" tIns="0" rIns="0" bIns="0" rtlCol="0" anchor="t">
            <a:normAutofit/>
          </a:bodyPr>
          <a:lstStyle/>
          <a:p>
            <a:pPr indent="0" marL="0">
              <a:buNone/>
            </a:pPr>
            <a:r>
              <a:rPr lang="en-US" sz="1180" dirty="0">
                <a:solidFill>
                  <a:srgbClr val="17312F"/>
                </a:solidFill>
                <a:latin typeface="Aptos" pitchFamily="34" charset="0"/>
                <a:ea typeface="Aptos" pitchFamily="34" charset="-122"/>
                <a:cs typeface="Aptos" pitchFamily="34" charset="-120"/>
              </a:rPr>
              <a:t>Volume e abandono (sem excluir silêncios)</a:t>
            </a:r>
            <a:endParaRPr lang="en-US" sz="1180" dirty="0"/>
          </a:p>
        </p:txBody>
      </p:sp>
      <p:sp>
        <p:nvSpPr>
          <p:cNvPr id="17" name="Shape 14"/>
          <p:cNvSpPr/>
          <p:nvPr/>
        </p:nvSpPr>
        <p:spPr>
          <a:xfrm>
            <a:off x="557784" y="3081528"/>
            <a:ext cx="11109960" cy="502920"/>
          </a:xfrm>
          <a:prstGeom prst="rect">
            <a:avLst>
              <a:gd name="adj" fmla="val 21818"/>
            </a:avLst>
          </a:prstGeom>
          <a:solidFill>
            <a:srgbClr val="FCFAF6"/>
          </a:solidFill>
          <a:ln w="8890">
            <a:solidFill>
              <a:srgbClr val="DCE5DF"/>
            </a:solidFill>
            <a:prstDash val="solid"/>
          </a:ln>
        </p:spPr>
      </p:sp>
      <p:sp>
        <p:nvSpPr>
          <p:cNvPr id="18" name="Text 15"/>
          <p:cNvSpPr/>
          <p:nvPr/>
        </p:nvSpPr>
        <p:spPr>
          <a:xfrm>
            <a:off x="649224" y="3172968"/>
            <a:ext cx="2075688" cy="356616"/>
          </a:xfrm>
          <a:prstGeom prst="rect">
            <a:avLst/>
          </a:prstGeom>
          <a:noFill/>
          <a:ln/>
        </p:spPr>
        <p:txBody>
          <a:bodyPr wrap="square" lIns="0" tIns="0" rIns="0" bIns="0" rtlCol="0" anchor="t">
            <a:normAutofit/>
          </a:bodyPr>
          <a:lstStyle/>
          <a:p>
            <a:pPr indent="0" marL="0">
              <a:buNone/>
            </a:pPr>
            <a:r>
              <a:rPr lang="en-US" sz="1180" b="1" dirty="0">
                <a:solidFill>
                  <a:srgbClr val="0F766E"/>
                </a:solidFill>
                <a:latin typeface="Aptos Display" pitchFamily="34" charset="0"/>
                <a:ea typeface="Aptos Display" pitchFamily="34" charset="-122"/>
                <a:cs typeface="Aptos Display" pitchFamily="34" charset="-120"/>
              </a:rPr>
              <a:t>Horário oferecido</a:t>
            </a:r>
            <a:endParaRPr lang="en-US" sz="1180" dirty="0"/>
          </a:p>
        </p:txBody>
      </p:sp>
      <p:sp>
        <p:nvSpPr>
          <p:cNvPr id="19" name="Text 16"/>
          <p:cNvSpPr/>
          <p:nvPr/>
        </p:nvSpPr>
        <p:spPr>
          <a:xfrm>
            <a:off x="2907792" y="3172968"/>
            <a:ext cx="3959352" cy="356616"/>
          </a:xfrm>
          <a:prstGeom prst="rect">
            <a:avLst/>
          </a:prstGeom>
          <a:noFill/>
          <a:ln/>
        </p:spPr>
        <p:txBody>
          <a:bodyPr wrap="square" lIns="0" tIns="0" rIns="0" bIns="0" rtlCol="0" anchor="t">
            <a:normAutofit/>
          </a:bodyPr>
          <a:lstStyle/>
          <a:p>
            <a:pPr indent="0" marL="0">
              <a:buNone/>
            </a:pPr>
            <a:r>
              <a:rPr lang="en-US" sz="1180" dirty="0">
                <a:solidFill>
                  <a:srgbClr val="17312F"/>
                </a:solidFill>
                <a:latin typeface="Aptos" pitchFamily="34" charset="0"/>
                <a:ea typeface="Aptos" pitchFamily="34" charset="-122"/>
                <a:cs typeface="Aptos" pitchFamily="34" charset="-120"/>
              </a:rPr>
              <a:t>Opções autoritativas + fonte</a:t>
            </a:r>
            <a:endParaRPr lang="en-US" sz="1180" dirty="0"/>
          </a:p>
        </p:txBody>
      </p:sp>
      <p:sp>
        <p:nvSpPr>
          <p:cNvPr id="20" name="Text 17"/>
          <p:cNvSpPr/>
          <p:nvPr/>
        </p:nvSpPr>
        <p:spPr>
          <a:xfrm>
            <a:off x="7050024" y="3172968"/>
            <a:ext cx="4526280" cy="356616"/>
          </a:xfrm>
          <a:prstGeom prst="rect">
            <a:avLst/>
          </a:prstGeom>
          <a:noFill/>
          <a:ln/>
        </p:spPr>
        <p:txBody>
          <a:bodyPr wrap="square" lIns="0" tIns="0" rIns="0" bIns="0" rtlCol="0" anchor="t">
            <a:normAutofit/>
          </a:bodyPr>
          <a:lstStyle/>
          <a:p>
            <a:pPr indent="0" marL="0">
              <a:buNone/>
            </a:pPr>
            <a:r>
              <a:rPr lang="en-US" sz="1180" dirty="0">
                <a:solidFill>
                  <a:srgbClr val="17312F"/>
                </a:solidFill>
                <a:latin typeface="Aptos" pitchFamily="34" charset="0"/>
                <a:ea typeface="Aptos" pitchFamily="34" charset="-122"/>
                <a:cs typeface="Aptos" pitchFamily="34" charset="-120"/>
              </a:rPr>
              <a:t>Tempo até primeira resposta útil</a:t>
            </a:r>
            <a:endParaRPr lang="en-US" sz="1180" dirty="0"/>
          </a:p>
        </p:txBody>
      </p:sp>
      <p:sp>
        <p:nvSpPr>
          <p:cNvPr id="21" name="Shape 18"/>
          <p:cNvSpPr/>
          <p:nvPr/>
        </p:nvSpPr>
        <p:spPr>
          <a:xfrm>
            <a:off x="557784" y="3584448"/>
            <a:ext cx="11109960" cy="502920"/>
          </a:xfrm>
          <a:prstGeom prst="rect">
            <a:avLst>
              <a:gd name="adj" fmla="val 21818"/>
            </a:avLst>
          </a:prstGeom>
          <a:solidFill>
            <a:srgbClr val="FFFFFF"/>
          </a:solidFill>
          <a:ln w="8890">
            <a:solidFill>
              <a:srgbClr val="DCE5DF"/>
            </a:solidFill>
            <a:prstDash val="solid"/>
          </a:ln>
        </p:spPr>
      </p:sp>
      <p:sp>
        <p:nvSpPr>
          <p:cNvPr id="22" name="Text 19"/>
          <p:cNvSpPr/>
          <p:nvPr/>
        </p:nvSpPr>
        <p:spPr>
          <a:xfrm>
            <a:off x="649224" y="3675888"/>
            <a:ext cx="2075688" cy="356616"/>
          </a:xfrm>
          <a:prstGeom prst="rect">
            <a:avLst/>
          </a:prstGeom>
          <a:noFill/>
          <a:ln/>
        </p:spPr>
        <p:txBody>
          <a:bodyPr wrap="square" lIns="0" tIns="0" rIns="0" bIns="0" rtlCol="0" anchor="t">
            <a:normAutofit/>
          </a:bodyPr>
          <a:lstStyle/>
          <a:p>
            <a:pPr indent="0" marL="0">
              <a:buNone/>
            </a:pPr>
            <a:r>
              <a:rPr lang="en-US" sz="1180" b="1" dirty="0">
                <a:solidFill>
                  <a:srgbClr val="0F766E"/>
                </a:solidFill>
                <a:latin typeface="Aptos Display" pitchFamily="34" charset="0"/>
                <a:ea typeface="Aptos Display" pitchFamily="34" charset="-122"/>
                <a:cs typeface="Aptos Display" pitchFamily="34" charset="-120"/>
              </a:rPr>
              <a:t>Agendamento persistido</a:t>
            </a:r>
            <a:endParaRPr lang="en-US" sz="1180" dirty="0"/>
          </a:p>
        </p:txBody>
      </p:sp>
      <p:sp>
        <p:nvSpPr>
          <p:cNvPr id="23" name="Text 20"/>
          <p:cNvSpPr/>
          <p:nvPr/>
        </p:nvSpPr>
        <p:spPr>
          <a:xfrm>
            <a:off x="2907792" y="3675888"/>
            <a:ext cx="3959352" cy="356616"/>
          </a:xfrm>
          <a:prstGeom prst="rect">
            <a:avLst/>
          </a:prstGeom>
          <a:noFill/>
          <a:ln/>
        </p:spPr>
        <p:txBody>
          <a:bodyPr wrap="square" lIns="0" tIns="0" rIns="0" bIns="0" rtlCol="0" anchor="t">
            <a:normAutofit/>
          </a:bodyPr>
          <a:lstStyle/>
          <a:p>
            <a:pPr indent="0" marL="0">
              <a:buNone/>
            </a:pPr>
            <a:r>
              <a:rPr lang="en-US" sz="1180" dirty="0">
                <a:solidFill>
                  <a:srgbClr val="17312F"/>
                </a:solidFill>
                <a:latin typeface="Aptos" pitchFamily="34" charset="0"/>
                <a:ea typeface="Aptos" pitchFamily="34" charset="-122"/>
                <a:cs typeface="Aptos" pitchFamily="34" charset="-120"/>
              </a:rPr>
              <a:t>ID + confirmação + recurso</a:t>
            </a:r>
            <a:endParaRPr lang="en-US" sz="1180" dirty="0"/>
          </a:p>
        </p:txBody>
      </p:sp>
      <p:sp>
        <p:nvSpPr>
          <p:cNvPr id="24" name="Text 21"/>
          <p:cNvSpPr/>
          <p:nvPr/>
        </p:nvSpPr>
        <p:spPr>
          <a:xfrm>
            <a:off x="7050024" y="3675888"/>
            <a:ext cx="4526280" cy="356616"/>
          </a:xfrm>
          <a:prstGeom prst="rect">
            <a:avLst/>
          </a:prstGeom>
          <a:noFill/>
          <a:ln/>
        </p:spPr>
        <p:txBody>
          <a:bodyPr wrap="square" lIns="0" tIns="0" rIns="0" bIns="0" rtlCol="0" anchor="t">
            <a:normAutofit/>
          </a:bodyPr>
          <a:lstStyle/>
          <a:p>
            <a:pPr indent="0" marL="0">
              <a:buNone/>
            </a:pPr>
            <a:r>
              <a:rPr lang="en-US" sz="1180" dirty="0">
                <a:solidFill>
                  <a:srgbClr val="17312F"/>
                </a:solidFill>
                <a:latin typeface="Aptos" pitchFamily="34" charset="0"/>
                <a:ea typeface="Aptos" pitchFamily="34" charset="-122"/>
                <a:cs typeface="Aptos" pitchFamily="34" charset="-120"/>
              </a:rPr>
              <a:t>Conversão sem dupla contagem</a:t>
            </a:r>
            <a:endParaRPr lang="en-US" sz="1180" dirty="0"/>
          </a:p>
        </p:txBody>
      </p:sp>
      <p:sp>
        <p:nvSpPr>
          <p:cNvPr id="25" name="Shape 22"/>
          <p:cNvSpPr/>
          <p:nvPr/>
        </p:nvSpPr>
        <p:spPr>
          <a:xfrm>
            <a:off x="557784" y="4087368"/>
            <a:ext cx="11109960" cy="502920"/>
          </a:xfrm>
          <a:prstGeom prst="rect">
            <a:avLst>
              <a:gd name="adj" fmla="val 21818"/>
            </a:avLst>
          </a:prstGeom>
          <a:solidFill>
            <a:srgbClr val="FCFAF6"/>
          </a:solidFill>
          <a:ln w="8890">
            <a:solidFill>
              <a:srgbClr val="DCE5DF"/>
            </a:solidFill>
            <a:prstDash val="solid"/>
          </a:ln>
        </p:spPr>
      </p:sp>
      <p:sp>
        <p:nvSpPr>
          <p:cNvPr id="26" name="Text 23"/>
          <p:cNvSpPr/>
          <p:nvPr/>
        </p:nvSpPr>
        <p:spPr>
          <a:xfrm>
            <a:off x="649224" y="4178808"/>
            <a:ext cx="2075688" cy="356616"/>
          </a:xfrm>
          <a:prstGeom prst="rect">
            <a:avLst/>
          </a:prstGeom>
          <a:noFill/>
          <a:ln/>
        </p:spPr>
        <p:txBody>
          <a:bodyPr wrap="square" lIns="0" tIns="0" rIns="0" bIns="0" rtlCol="0" anchor="t">
            <a:normAutofit/>
          </a:bodyPr>
          <a:lstStyle/>
          <a:p>
            <a:pPr indent="0" marL="0">
              <a:buNone/>
            </a:pPr>
            <a:r>
              <a:rPr lang="en-US" sz="1180" b="1" dirty="0">
                <a:solidFill>
                  <a:srgbClr val="0F766E"/>
                </a:solidFill>
                <a:latin typeface="Aptos Display" pitchFamily="34" charset="0"/>
                <a:ea typeface="Aptos Display" pitchFamily="34" charset="-122"/>
                <a:cs typeface="Aptos Display" pitchFamily="34" charset="-120"/>
              </a:rPr>
              <a:t>Handoff solicitado/aceito</a:t>
            </a:r>
            <a:endParaRPr lang="en-US" sz="1180" dirty="0"/>
          </a:p>
        </p:txBody>
      </p:sp>
      <p:sp>
        <p:nvSpPr>
          <p:cNvPr id="27" name="Text 24"/>
          <p:cNvSpPr/>
          <p:nvPr/>
        </p:nvSpPr>
        <p:spPr>
          <a:xfrm>
            <a:off x="2907792" y="4178808"/>
            <a:ext cx="3959352" cy="356616"/>
          </a:xfrm>
          <a:prstGeom prst="rect">
            <a:avLst/>
          </a:prstGeom>
          <a:noFill/>
          <a:ln/>
        </p:spPr>
        <p:txBody>
          <a:bodyPr wrap="square" lIns="0" tIns="0" rIns="0" bIns="0" rtlCol="0" anchor="t">
            <a:normAutofit/>
          </a:bodyPr>
          <a:lstStyle/>
          <a:p>
            <a:pPr indent="0" marL="0">
              <a:buNone/>
            </a:pPr>
            <a:r>
              <a:rPr lang="en-US" sz="1180" dirty="0">
                <a:solidFill>
                  <a:srgbClr val="17312F"/>
                </a:solidFill>
                <a:latin typeface="Aptos" pitchFamily="34" charset="0"/>
                <a:ea typeface="Aptos" pitchFamily="34" charset="-122"/>
                <a:cs typeface="Aptos" pitchFamily="34" charset="-120"/>
              </a:rPr>
              <a:t>Motivo + responsável + timestamps</a:t>
            </a:r>
            <a:endParaRPr lang="en-US" sz="1180" dirty="0"/>
          </a:p>
        </p:txBody>
      </p:sp>
      <p:sp>
        <p:nvSpPr>
          <p:cNvPr id="28" name="Text 25"/>
          <p:cNvSpPr/>
          <p:nvPr/>
        </p:nvSpPr>
        <p:spPr>
          <a:xfrm>
            <a:off x="7050024" y="4178808"/>
            <a:ext cx="4526280" cy="356616"/>
          </a:xfrm>
          <a:prstGeom prst="rect">
            <a:avLst/>
          </a:prstGeom>
          <a:noFill/>
          <a:ln/>
        </p:spPr>
        <p:txBody>
          <a:bodyPr wrap="square" lIns="0" tIns="0" rIns="0" bIns="0" rtlCol="0" anchor="t">
            <a:normAutofit/>
          </a:bodyPr>
          <a:lstStyle/>
          <a:p>
            <a:pPr indent="0" marL="0">
              <a:buNone/>
            </a:pPr>
            <a:r>
              <a:rPr lang="en-US" sz="1180" dirty="0">
                <a:solidFill>
                  <a:srgbClr val="17312F"/>
                </a:solidFill>
                <a:latin typeface="Aptos" pitchFamily="34" charset="0"/>
                <a:ea typeface="Aptos" pitchFamily="34" charset="-122"/>
                <a:cs typeface="Aptos" pitchFamily="34" charset="-120"/>
              </a:rPr>
              <a:t>Aceite, SLA e retrabalho</a:t>
            </a:r>
            <a:endParaRPr lang="en-US" sz="1180" dirty="0"/>
          </a:p>
        </p:txBody>
      </p:sp>
      <p:sp>
        <p:nvSpPr>
          <p:cNvPr id="29" name="Shape 26"/>
          <p:cNvSpPr/>
          <p:nvPr/>
        </p:nvSpPr>
        <p:spPr>
          <a:xfrm>
            <a:off x="557784" y="4590288"/>
            <a:ext cx="11109960" cy="502920"/>
          </a:xfrm>
          <a:prstGeom prst="rect">
            <a:avLst>
              <a:gd name="adj" fmla="val 21818"/>
            </a:avLst>
          </a:prstGeom>
          <a:solidFill>
            <a:srgbClr val="FFFFFF"/>
          </a:solidFill>
          <a:ln w="8890">
            <a:solidFill>
              <a:srgbClr val="DCE5DF"/>
            </a:solidFill>
            <a:prstDash val="solid"/>
          </a:ln>
        </p:spPr>
      </p:sp>
      <p:sp>
        <p:nvSpPr>
          <p:cNvPr id="30" name="Text 27"/>
          <p:cNvSpPr/>
          <p:nvPr/>
        </p:nvSpPr>
        <p:spPr>
          <a:xfrm>
            <a:off x="649224" y="4681728"/>
            <a:ext cx="2075688" cy="356616"/>
          </a:xfrm>
          <a:prstGeom prst="rect">
            <a:avLst/>
          </a:prstGeom>
          <a:noFill/>
          <a:ln/>
        </p:spPr>
        <p:txBody>
          <a:bodyPr wrap="square" lIns="0" tIns="0" rIns="0" bIns="0" rtlCol="0" anchor="t">
            <a:normAutofit/>
          </a:bodyPr>
          <a:lstStyle/>
          <a:p>
            <a:pPr indent="0" marL="0">
              <a:buNone/>
            </a:pPr>
            <a:r>
              <a:rPr lang="en-US" sz="1180" b="1" dirty="0">
                <a:solidFill>
                  <a:srgbClr val="0F766E"/>
                </a:solidFill>
                <a:latin typeface="Aptos Display" pitchFamily="34" charset="0"/>
                <a:ea typeface="Aptos Display" pitchFamily="34" charset="-122"/>
                <a:cs typeface="Aptos Display" pitchFamily="34" charset="-120"/>
              </a:rPr>
              <a:t>Consulta realizada / falta</a:t>
            </a:r>
            <a:endParaRPr lang="en-US" sz="1180" dirty="0"/>
          </a:p>
        </p:txBody>
      </p:sp>
      <p:sp>
        <p:nvSpPr>
          <p:cNvPr id="31" name="Text 28"/>
          <p:cNvSpPr/>
          <p:nvPr/>
        </p:nvSpPr>
        <p:spPr>
          <a:xfrm>
            <a:off x="2907792" y="4681728"/>
            <a:ext cx="3959352" cy="356616"/>
          </a:xfrm>
          <a:prstGeom prst="rect">
            <a:avLst/>
          </a:prstGeom>
          <a:noFill/>
          <a:ln/>
        </p:spPr>
        <p:txBody>
          <a:bodyPr wrap="square" lIns="0" tIns="0" rIns="0" bIns="0" rtlCol="0" anchor="t">
            <a:normAutofit/>
          </a:bodyPr>
          <a:lstStyle/>
          <a:p>
            <a:pPr indent="0" marL="0">
              <a:buNone/>
            </a:pPr>
            <a:r>
              <a:rPr lang="en-US" sz="1180" dirty="0">
                <a:solidFill>
                  <a:srgbClr val="17312F"/>
                </a:solidFill>
                <a:latin typeface="Aptos" pitchFamily="34" charset="0"/>
                <a:ea typeface="Aptos" pitchFamily="34" charset="-122"/>
                <a:cs typeface="Aptos" pitchFamily="34" charset="-120"/>
              </a:rPr>
              <a:t>Estado confirmado pela clínica</a:t>
            </a:r>
            <a:endParaRPr lang="en-US" sz="1180" dirty="0"/>
          </a:p>
        </p:txBody>
      </p:sp>
      <p:sp>
        <p:nvSpPr>
          <p:cNvPr id="32" name="Text 29"/>
          <p:cNvSpPr/>
          <p:nvPr/>
        </p:nvSpPr>
        <p:spPr>
          <a:xfrm>
            <a:off x="7050024" y="4681728"/>
            <a:ext cx="4526280" cy="356616"/>
          </a:xfrm>
          <a:prstGeom prst="rect">
            <a:avLst/>
          </a:prstGeom>
          <a:noFill/>
          <a:ln/>
        </p:spPr>
        <p:txBody>
          <a:bodyPr wrap="square" lIns="0" tIns="0" rIns="0" bIns="0" rtlCol="0" anchor="t">
            <a:normAutofit/>
          </a:bodyPr>
          <a:lstStyle/>
          <a:p>
            <a:pPr indent="0" marL="0">
              <a:buNone/>
            </a:pPr>
            <a:r>
              <a:rPr lang="en-US" sz="1180" dirty="0">
                <a:solidFill>
                  <a:srgbClr val="17312F"/>
                </a:solidFill>
                <a:latin typeface="Aptos" pitchFamily="34" charset="0"/>
                <a:ea typeface="Aptos" pitchFamily="34" charset="-122"/>
                <a:cs typeface="Aptos" pitchFamily="34" charset="-120"/>
              </a:rPr>
              <a:t>Contribuição incremental / no-show</a:t>
            </a:r>
            <a:endParaRPr lang="en-US" sz="1180" dirty="0"/>
          </a:p>
        </p:txBody>
      </p:sp>
      <p:sp>
        <p:nvSpPr>
          <p:cNvPr id="33" name="Shape 30"/>
          <p:cNvSpPr/>
          <p:nvPr/>
        </p:nvSpPr>
        <p:spPr>
          <a:xfrm>
            <a:off x="557784" y="5093208"/>
            <a:ext cx="11109960" cy="502920"/>
          </a:xfrm>
          <a:prstGeom prst="rect">
            <a:avLst>
              <a:gd name="adj" fmla="val 21818"/>
            </a:avLst>
          </a:prstGeom>
          <a:solidFill>
            <a:srgbClr val="FCFAF6"/>
          </a:solidFill>
          <a:ln w="8890">
            <a:solidFill>
              <a:srgbClr val="DCE5DF"/>
            </a:solidFill>
            <a:prstDash val="solid"/>
          </a:ln>
        </p:spPr>
      </p:sp>
      <p:sp>
        <p:nvSpPr>
          <p:cNvPr id="34" name="Text 31"/>
          <p:cNvSpPr/>
          <p:nvPr/>
        </p:nvSpPr>
        <p:spPr>
          <a:xfrm>
            <a:off x="649224" y="5184648"/>
            <a:ext cx="2075688" cy="356616"/>
          </a:xfrm>
          <a:prstGeom prst="rect">
            <a:avLst/>
          </a:prstGeom>
          <a:noFill/>
          <a:ln/>
        </p:spPr>
        <p:txBody>
          <a:bodyPr wrap="square" lIns="0" tIns="0" rIns="0" bIns="0" rtlCol="0" anchor="t">
            <a:normAutofit/>
          </a:bodyPr>
          <a:lstStyle/>
          <a:p>
            <a:pPr indent="0" marL="0">
              <a:buNone/>
            </a:pPr>
            <a:r>
              <a:rPr lang="en-US" sz="1180" b="1" dirty="0">
                <a:solidFill>
                  <a:srgbClr val="0F766E"/>
                </a:solidFill>
                <a:latin typeface="Aptos Display" pitchFamily="34" charset="0"/>
                <a:ea typeface="Aptos Display" pitchFamily="34" charset="-122"/>
                <a:cs typeface="Aptos Display" pitchFamily="34" charset="-120"/>
              </a:rPr>
              <a:t>Custo registrado</a:t>
            </a:r>
            <a:endParaRPr lang="en-US" sz="1180" dirty="0"/>
          </a:p>
        </p:txBody>
      </p:sp>
      <p:sp>
        <p:nvSpPr>
          <p:cNvPr id="35" name="Text 32"/>
          <p:cNvSpPr/>
          <p:nvPr/>
        </p:nvSpPr>
        <p:spPr>
          <a:xfrm>
            <a:off x="2907792" y="5184648"/>
            <a:ext cx="3959352" cy="356616"/>
          </a:xfrm>
          <a:prstGeom prst="rect">
            <a:avLst/>
          </a:prstGeom>
          <a:noFill/>
          <a:ln/>
        </p:spPr>
        <p:txBody>
          <a:bodyPr wrap="square" lIns="0" tIns="0" rIns="0" bIns="0" rtlCol="0" anchor="t">
            <a:normAutofit/>
          </a:bodyPr>
          <a:lstStyle/>
          <a:p>
            <a:pPr indent="0" marL="0">
              <a:buNone/>
            </a:pPr>
            <a:r>
              <a:rPr lang="en-US" sz="1180" dirty="0">
                <a:solidFill>
                  <a:srgbClr val="17312F"/>
                </a:solidFill>
                <a:latin typeface="Aptos" pitchFamily="34" charset="0"/>
                <a:ea typeface="Aptos" pitchFamily="34" charset="-122"/>
                <a:cs typeface="Aptos" pitchFamily="34" charset="-120"/>
              </a:rPr>
              <a:t>Modelo, tokens, canal, correções</a:t>
            </a:r>
            <a:endParaRPr lang="en-US" sz="1180" dirty="0"/>
          </a:p>
        </p:txBody>
      </p:sp>
      <p:sp>
        <p:nvSpPr>
          <p:cNvPr id="36" name="Text 33"/>
          <p:cNvSpPr/>
          <p:nvPr/>
        </p:nvSpPr>
        <p:spPr>
          <a:xfrm>
            <a:off x="7050024" y="5184648"/>
            <a:ext cx="4526280" cy="356616"/>
          </a:xfrm>
          <a:prstGeom prst="rect">
            <a:avLst/>
          </a:prstGeom>
          <a:noFill/>
          <a:ln/>
        </p:spPr>
        <p:txBody>
          <a:bodyPr wrap="square" lIns="0" tIns="0" rIns="0" bIns="0" rtlCol="0" anchor="t">
            <a:normAutofit/>
          </a:bodyPr>
          <a:lstStyle/>
          <a:p>
            <a:pPr indent="0" marL="0">
              <a:buNone/>
            </a:pPr>
            <a:r>
              <a:rPr lang="en-US" sz="1180" dirty="0">
                <a:solidFill>
                  <a:srgbClr val="17312F"/>
                </a:solidFill>
                <a:latin typeface="Aptos" pitchFamily="34" charset="0"/>
                <a:ea typeface="Aptos" pitchFamily="34" charset="-122"/>
                <a:cs typeface="Aptos" pitchFamily="34" charset="-120"/>
              </a:rPr>
              <a:t>Custo por resolução e por cliente</a:t>
            </a:r>
            <a:endParaRPr lang="en-US" sz="1180" dirty="0"/>
          </a:p>
        </p:txBody>
      </p:sp>
      <p:sp>
        <p:nvSpPr>
          <p:cNvPr id="37" name="Shape 34"/>
          <p:cNvSpPr/>
          <p:nvPr/>
        </p:nvSpPr>
        <p:spPr>
          <a:xfrm>
            <a:off x="521208" y="5797296"/>
            <a:ext cx="11128248" cy="393192"/>
          </a:xfrm>
          <a:prstGeom prst="rect">
            <a:avLst>
              <a:gd name="adj" fmla="val 27907"/>
            </a:avLst>
          </a:prstGeom>
          <a:solidFill>
            <a:srgbClr val="E7F2EC"/>
          </a:solidFill>
          <a:ln w="8890">
            <a:solidFill>
              <a:srgbClr val="E7F2EC"/>
            </a:solidFill>
            <a:prstDash val="solid"/>
          </a:ln>
        </p:spPr>
      </p:sp>
      <p:sp>
        <p:nvSpPr>
          <p:cNvPr id="38" name="Text 35"/>
          <p:cNvSpPr/>
          <p:nvPr/>
        </p:nvSpPr>
        <p:spPr>
          <a:xfrm>
            <a:off x="704088" y="5888736"/>
            <a:ext cx="10762488" cy="201168"/>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Taxa de resolução automática: episódios administrativos concluídos sem rework ÷ todos os episódios elegíveis iniciados.</a:t>
            </a:r>
            <a:endParaRPr lang="en-US" sz="12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20 / GATES ANTES DE ATENDER OUTRA CLÍNICA</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O mínimo comercial inclui confiança.</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Não é um item para “depois do PMF”.</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Requisitos de produto e operação; revisão jurídica especializada continua necessária.</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C2 · Código — configuração ativa e follow-up   |   L1 · LGPD — Lei 13.709/2018   |   L2 · ANPD — Resolução 15/2024</a:t>
            </a:r>
            <a:endParaRPr lang="en-US" sz="720" dirty="0"/>
          </a:p>
        </p:txBody>
      </p:sp>
      <p:sp>
        <p:nvSpPr>
          <p:cNvPr id="9" name="Shape 6"/>
          <p:cNvSpPr/>
          <p:nvPr/>
        </p:nvSpPr>
        <p:spPr>
          <a:xfrm>
            <a:off x="557784" y="2240280"/>
            <a:ext cx="3529584" cy="1847088"/>
          </a:xfrm>
          <a:prstGeom prst="roundRect">
            <a:avLst>
              <a:gd name="adj" fmla="val 5941"/>
            </a:avLst>
          </a:prstGeom>
          <a:solidFill>
            <a:srgbClr val="FFFFFF"/>
          </a:solidFill>
          <a:ln w="8890">
            <a:solidFill>
              <a:srgbClr val="DCE5DF"/>
            </a:solidFill>
            <a:prstDash val="solid"/>
          </a:ln>
        </p:spPr>
      </p:sp>
      <p:sp>
        <p:nvSpPr>
          <p:cNvPr id="10" name="Shape 7"/>
          <p:cNvSpPr/>
          <p:nvPr/>
        </p:nvSpPr>
        <p:spPr>
          <a:xfrm>
            <a:off x="722376" y="2441448"/>
            <a:ext cx="50292" cy="320040"/>
          </a:xfrm>
          <a:prstGeom prst="rect">
            <a:avLst>
              <a:gd name="adj" fmla="val 218182"/>
            </a:avLst>
          </a:prstGeom>
          <a:solidFill>
            <a:srgbClr val="0F766E"/>
          </a:solidFill>
          <a:ln w="8890">
            <a:solidFill>
              <a:srgbClr val="0F766E"/>
            </a:solidFill>
            <a:prstDash val="solid"/>
          </a:ln>
        </p:spPr>
      </p:sp>
      <p:sp>
        <p:nvSpPr>
          <p:cNvPr id="11" name="Text 8"/>
          <p:cNvSpPr/>
          <p:nvPr/>
        </p:nvSpPr>
        <p:spPr>
          <a:xfrm>
            <a:off x="886968" y="2450592"/>
            <a:ext cx="3017520" cy="438912"/>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ESCOPO E DADOS</a:t>
            </a:r>
            <a:endParaRPr lang="en-US" sz="1800" dirty="0"/>
          </a:p>
        </p:txBody>
      </p:sp>
      <p:sp>
        <p:nvSpPr>
          <p:cNvPr id="12" name="Text 9"/>
          <p:cNvSpPr/>
          <p:nvPr/>
        </p:nvSpPr>
        <p:spPr>
          <a:xfrm>
            <a:off x="768096" y="2935224"/>
            <a:ext cx="3108960" cy="1024128"/>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Só administração. Perfil aprovado; finalidade por campo; identidade; acesso restrito; minimização do conteúdo no canal.</a:t>
            </a:r>
            <a:endParaRPr lang="en-US" sz="1350" dirty="0"/>
          </a:p>
        </p:txBody>
      </p:sp>
      <p:sp>
        <p:nvSpPr>
          <p:cNvPr id="13" name="Shape 10"/>
          <p:cNvSpPr/>
          <p:nvPr/>
        </p:nvSpPr>
        <p:spPr>
          <a:xfrm>
            <a:off x="4343400" y="2240280"/>
            <a:ext cx="3529584" cy="1847088"/>
          </a:xfrm>
          <a:prstGeom prst="roundRect">
            <a:avLst>
              <a:gd name="adj" fmla="val 5941"/>
            </a:avLst>
          </a:prstGeom>
          <a:solidFill>
            <a:srgbClr val="FFFFFF"/>
          </a:solidFill>
          <a:ln w="8890">
            <a:solidFill>
              <a:srgbClr val="DCE5DF"/>
            </a:solidFill>
            <a:prstDash val="solid"/>
          </a:ln>
        </p:spPr>
      </p:sp>
      <p:sp>
        <p:nvSpPr>
          <p:cNvPr id="14" name="Shape 11"/>
          <p:cNvSpPr/>
          <p:nvPr/>
        </p:nvSpPr>
        <p:spPr>
          <a:xfrm>
            <a:off x="4507992" y="2441448"/>
            <a:ext cx="50292" cy="320040"/>
          </a:xfrm>
          <a:prstGeom prst="rect">
            <a:avLst>
              <a:gd name="adj" fmla="val 218182"/>
            </a:avLst>
          </a:prstGeom>
          <a:solidFill>
            <a:srgbClr val="0F766E"/>
          </a:solidFill>
          <a:ln w="8890">
            <a:solidFill>
              <a:srgbClr val="0F766E"/>
            </a:solidFill>
            <a:prstDash val="solid"/>
          </a:ln>
        </p:spPr>
      </p:sp>
      <p:sp>
        <p:nvSpPr>
          <p:cNvPr id="15" name="Text 12"/>
          <p:cNvSpPr/>
          <p:nvPr/>
        </p:nvSpPr>
        <p:spPr>
          <a:xfrm>
            <a:off x="4672584" y="2450592"/>
            <a:ext cx="3017520" cy="438912"/>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OPERAÇÃO E DIREITOS</a:t>
            </a:r>
            <a:endParaRPr lang="en-US" sz="1800" dirty="0"/>
          </a:p>
        </p:txBody>
      </p:sp>
      <p:sp>
        <p:nvSpPr>
          <p:cNvPr id="16" name="Text 13"/>
          <p:cNvSpPr/>
          <p:nvPr/>
        </p:nvSpPr>
        <p:spPr>
          <a:xfrm>
            <a:off x="4553712" y="2935224"/>
            <a:ext cx="3108960" cy="1024128"/>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Papéis e contratos; retenção; exportação/eliminação; logs; resposta a incidente; subprocessadores e transferências.</a:t>
            </a:r>
            <a:endParaRPr lang="en-US" sz="1350" dirty="0"/>
          </a:p>
        </p:txBody>
      </p:sp>
      <p:sp>
        <p:nvSpPr>
          <p:cNvPr id="17" name="Shape 14"/>
          <p:cNvSpPr/>
          <p:nvPr/>
        </p:nvSpPr>
        <p:spPr>
          <a:xfrm>
            <a:off x="8138160" y="2240280"/>
            <a:ext cx="3511296" cy="1847088"/>
          </a:xfrm>
          <a:prstGeom prst="roundRect">
            <a:avLst>
              <a:gd name="adj" fmla="val 5941"/>
            </a:avLst>
          </a:prstGeom>
          <a:solidFill>
            <a:srgbClr val="FFFFFF"/>
          </a:solidFill>
          <a:ln w="8890">
            <a:solidFill>
              <a:srgbClr val="DCE5DF"/>
            </a:solidFill>
            <a:prstDash val="solid"/>
          </a:ln>
        </p:spPr>
      </p:sp>
      <p:sp>
        <p:nvSpPr>
          <p:cNvPr id="18" name="Shape 15"/>
          <p:cNvSpPr/>
          <p:nvPr/>
        </p:nvSpPr>
        <p:spPr>
          <a:xfrm>
            <a:off x="8302752" y="2441448"/>
            <a:ext cx="50292" cy="320040"/>
          </a:xfrm>
          <a:prstGeom prst="rect">
            <a:avLst>
              <a:gd name="adj" fmla="val 218182"/>
            </a:avLst>
          </a:prstGeom>
          <a:solidFill>
            <a:srgbClr val="E67861"/>
          </a:solidFill>
          <a:ln w="8890">
            <a:solidFill>
              <a:srgbClr val="E67861"/>
            </a:solidFill>
            <a:prstDash val="solid"/>
          </a:ln>
        </p:spPr>
      </p:sp>
      <p:sp>
        <p:nvSpPr>
          <p:cNvPr id="19" name="Text 16"/>
          <p:cNvSpPr/>
          <p:nvPr/>
        </p:nvSpPr>
        <p:spPr>
          <a:xfrm>
            <a:off x="8467344" y="2450592"/>
            <a:ext cx="2999232" cy="438912"/>
          </a:xfrm>
          <a:prstGeom prst="rect">
            <a:avLst/>
          </a:prstGeom>
          <a:noFill/>
          <a:ln/>
        </p:spPr>
        <p:txBody>
          <a:bodyPr wrap="square" lIns="0" tIns="0" rIns="0" bIns="0" rtlCol="0" anchor="t">
            <a:normAutofit/>
          </a:bodyPr>
          <a:lstStyle/>
          <a:p>
            <a:pPr indent="0" marL="0">
              <a:buNone/>
            </a:pPr>
            <a:r>
              <a:rPr lang="en-US" sz="1800" b="1" dirty="0">
                <a:solidFill>
                  <a:srgbClr val="E67861"/>
                </a:solidFill>
                <a:latin typeface="Aptos Display" pitchFamily="34" charset="0"/>
                <a:ea typeface="Aptos Display" pitchFamily="34" charset="-122"/>
                <a:cs typeface="Aptos Display" pitchFamily="34" charset="-120"/>
              </a:rPr>
              <a:t>ISOLAMENTO DE CLÍNICAS</a:t>
            </a:r>
            <a:endParaRPr lang="en-US" sz="1800" dirty="0"/>
          </a:p>
        </p:txBody>
      </p:sp>
      <p:sp>
        <p:nvSpPr>
          <p:cNvPr id="20" name="Text 17"/>
          <p:cNvSpPr/>
          <p:nvPr/>
        </p:nvSpPr>
        <p:spPr>
          <a:xfrm>
            <a:off x="8348472" y="2935224"/>
            <a:ext cx="3090672" cy="1024128"/>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Configuração ativa é singleton por banco no código consultado. Separação SaaS não foi demonstrada nesta análise.</a:t>
            </a:r>
            <a:endParaRPr lang="en-US" sz="1350" dirty="0"/>
          </a:p>
        </p:txBody>
      </p:sp>
      <p:sp>
        <p:nvSpPr>
          <p:cNvPr id="21" name="Shape 18"/>
          <p:cNvSpPr/>
          <p:nvPr/>
        </p:nvSpPr>
        <p:spPr>
          <a:xfrm>
            <a:off x="566928" y="4535424"/>
            <a:ext cx="11055096" cy="1005840"/>
          </a:xfrm>
          <a:prstGeom prst="roundRect">
            <a:avLst>
              <a:gd name="adj" fmla="val 10909"/>
            </a:avLst>
          </a:prstGeom>
          <a:solidFill>
            <a:srgbClr val="FAE9E2"/>
          </a:solidFill>
          <a:ln w="8890">
            <a:solidFill>
              <a:srgbClr val="FAE9E2"/>
            </a:solidFill>
            <a:prstDash val="solid"/>
          </a:ln>
        </p:spPr>
      </p:sp>
      <p:sp>
        <p:nvSpPr>
          <p:cNvPr id="22" name="Text 19"/>
          <p:cNvSpPr/>
          <p:nvPr/>
        </p:nvSpPr>
        <p:spPr>
          <a:xfrm>
            <a:off x="786384" y="4736592"/>
            <a:ext cx="2103120" cy="283464"/>
          </a:xfrm>
          <a:prstGeom prst="rect">
            <a:avLst/>
          </a:prstGeom>
          <a:noFill/>
          <a:ln/>
        </p:spPr>
        <p:txBody>
          <a:bodyPr wrap="square" lIns="0" tIns="0" rIns="0" bIns="0" rtlCol="0" anchor="t">
            <a:normAutofit/>
          </a:bodyPr>
          <a:lstStyle/>
          <a:p>
            <a:pPr indent="0" marL="0">
              <a:buNone/>
            </a:pPr>
            <a:r>
              <a:rPr lang="en-US" sz="1900" b="1" dirty="0">
                <a:solidFill>
                  <a:srgbClr val="E67861"/>
                </a:solidFill>
                <a:latin typeface="Aptos Display" pitchFamily="34" charset="0"/>
                <a:ea typeface="Aptos Display" pitchFamily="34" charset="-122"/>
                <a:cs typeface="Aptos Display" pitchFamily="34" charset="-120"/>
              </a:rPr>
              <a:t>Gate de expansão</a:t>
            </a:r>
            <a:endParaRPr lang="en-US" sz="1900" dirty="0"/>
          </a:p>
        </p:txBody>
      </p:sp>
      <p:sp>
        <p:nvSpPr>
          <p:cNvPr id="23" name="Text 20"/>
          <p:cNvSpPr/>
          <p:nvPr/>
        </p:nvSpPr>
        <p:spPr>
          <a:xfrm>
            <a:off x="3026664" y="4727448"/>
            <a:ext cx="8202168" cy="612648"/>
          </a:xfrm>
          <a:prstGeom prst="rect">
            <a:avLst/>
          </a:prstGeom>
          <a:noFill/>
          <a:ln/>
        </p:spPr>
        <p:txBody>
          <a:bodyPr wrap="square" lIns="0" tIns="0" rIns="0" bIns="0" rtlCol="0" anchor="t">
            <a:normAutofit/>
          </a:bodyPr>
          <a:lstStyle/>
          <a:p>
            <a:pPr indent="0" marL="0">
              <a:buNone/>
            </a:pPr>
            <a:r>
              <a:rPr lang="en-US" sz="1400" dirty="0">
                <a:solidFill>
                  <a:srgbClr val="17312F"/>
                </a:solidFill>
                <a:latin typeface="Aptos" pitchFamily="34" charset="0"/>
                <a:ea typeface="Aptos" pitchFamily="34" charset="-122"/>
                <a:cs typeface="Aptos" pitchFamily="34" charset="-120"/>
              </a:rPr>
              <a:t>Antes do segundo cliente: provar segregação de dados, permissões, backups e recuperação. Instâncias isoladas só servem de piloto se o isolamento for realmente verificado.</a:t>
            </a:r>
            <a:endParaRPr lang="en-US" sz="14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21 / CENÁRIO DE VALOR — CONVERSÃO</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R$1.140/mês precisa comprar</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mais de R$1.140 de valor verificável.</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Simulação de uma clínica; os parâmetros abaixo precisam ser substituídos por dados do piloto.</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S4 · Feegow — Preços e Planos</a:t>
            </a:r>
            <a:endParaRPr lang="en-US" sz="720" dirty="0"/>
          </a:p>
        </p:txBody>
      </p:sp>
      <p:sp>
        <p:nvSpPr>
          <p:cNvPr id="9" name="Shape 6"/>
          <p:cNvSpPr/>
          <p:nvPr/>
        </p:nvSpPr>
        <p:spPr>
          <a:xfrm>
            <a:off x="566928" y="2157984"/>
            <a:ext cx="2715768" cy="256032"/>
          </a:xfrm>
          <a:prstGeom prst="roundRect">
            <a:avLst>
              <a:gd name="adj" fmla="val 42857"/>
            </a:avLst>
          </a:prstGeom>
          <a:solidFill>
            <a:srgbClr val="F4ECDE"/>
          </a:solidFill>
          <a:ln w="8890">
            <a:solidFill>
              <a:srgbClr val="F4ECDE"/>
            </a:solidFill>
            <a:prstDash val="solid"/>
          </a:ln>
        </p:spPr>
      </p:sp>
      <p:sp>
        <p:nvSpPr>
          <p:cNvPr id="10" name="Text 7"/>
          <p:cNvSpPr/>
          <p:nvPr/>
        </p:nvSpPr>
        <p:spPr>
          <a:xfrm>
            <a:off x="658368" y="2189988"/>
            <a:ext cx="2532888" cy="155448"/>
          </a:xfrm>
          <a:prstGeom prst="rect">
            <a:avLst/>
          </a:prstGeom>
          <a:noFill/>
          <a:ln/>
        </p:spPr>
        <p:txBody>
          <a:bodyPr wrap="square" lIns="0" tIns="0" rIns="0" bIns="0" rtlCol="0" anchor="t">
            <a:normAutofit/>
          </a:bodyPr>
          <a:lstStyle/>
          <a:p>
            <a:pPr indent="0" marL="0">
              <a:buNone/>
            </a:pPr>
            <a:r>
              <a:rPr lang="en-US" sz="850" b="1" dirty="0">
                <a:solidFill>
                  <a:srgbClr val="997039"/>
                </a:solidFill>
                <a:latin typeface="Aptos Display" pitchFamily="34" charset="0"/>
                <a:ea typeface="Aptos Display" pitchFamily="34" charset="-122"/>
                <a:cs typeface="Aptos Display" pitchFamily="34" charset="-120"/>
              </a:rPr>
              <a:t>CENÁRIO, NÃO RESULTADO</a:t>
            </a:r>
            <a:endParaRPr lang="en-US" sz="850" dirty="0"/>
          </a:p>
        </p:txBody>
      </p:sp>
      <p:sp>
        <p:nvSpPr>
          <p:cNvPr id="11" name="Shape 8"/>
          <p:cNvSpPr/>
          <p:nvPr/>
        </p:nvSpPr>
        <p:spPr>
          <a:xfrm>
            <a:off x="548640" y="2706624"/>
            <a:ext cx="3538728" cy="1481328"/>
          </a:xfrm>
          <a:prstGeom prst="roundRect">
            <a:avLst>
              <a:gd name="adj" fmla="val 7407"/>
            </a:avLst>
          </a:prstGeom>
          <a:solidFill>
            <a:srgbClr val="FFFFFF"/>
          </a:solidFill>
          <a:ln w="8890">
            <a:solidFill>
              <a:srgbClr val="DCE5DF"/>
            </a:solidFill>
            <a:prstDash val="solid"/>
          </a:ln>
        </p:spPr>
      </p:sp>
      <p:sp>
        <p:nvSpPr>
          <p:cNvPr id="12" name="Text 9"/>
          <p:cNvSpPr/>
          <p:nvPr/>
        </p:nvSpPr>
        <p:spPr>
          <a:xfrm>
            <a:off x="713232" y="2889504"/>
            <a:ext cx="3209544" cy="548640"/>
          </a:xfrm>
          <a:prstGeom prst="rect">
            <a:avLst/>
          </a:prstGeom>
          <a:noFill/>
          <a:ln/>
        </p:spPr>
        <p:txBody>
          <a:bodyPr wrap="square" lIns="0" tIns="0" rIns="0" bIns="0" rtlCol="0" anchor="t">
            <a:normAutofit/>
          </a:bodyPr>
          <a:lstStyle/>
          <a:p>
            <a:pPr indent="0" marL="0">
              <a:buNone/>
            </a:pPr>
            <a:r>
              <a:rPr lang="en-US" sz="3500" b="1" dirty="0">
                <a:solidFill>
                  <a:srgbClr val="0F766E"/>
                </a:solidFill>
                <a:latin typeface="Aptos Display" pitchFamily="34" charset="0"/>
                <a:ea typeface="Aptos Display" pitchFamily="34" charset="-122"/>
                <a:cs typeface="Aptos Display" pitchFamily="34" charset="-120"/>
              </a:rPr>
              <a:t>800</a:t>
            </a:r>
            <a:endParaRPr lang="en-US" sz="3500" dirty="0"/>
          </a:p>
        </p:txBody>
      </p:sp>
      <p:sp>
        <p:nvSpPr>
          <p:cNvPr id="13" name="Text 10"/>
          <p:cNvSpPr/>
          <p:nvPr/>
        </p:nvSpPr>
        <p:spPr>
          <a:xfrm>
            <a:off x="722376" y="3529584"/>
            <a:ext cx="3191256"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Contatos elegíveis / mês</a:t>
            </a:r>
            <a:endParaRPr lang="en-US" sz="1320" dirty="0"/>
          </a:p>
        </p:txBody>
      </p:sp>
      <p:sp>
        <p:nvSpPr>
          <p:cNvPr id="14" name="Text 11"/>
          <p:cNvSpPr/>
          <p:nvPr/>
        </p:nvSpPr>
        <p:spPr>
          <a:xfrm>
            <a:off x="722376" y="3877056"/>
            <a:ext cx="3191256"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Hipótese de volume</a:t>
            </a:r>
            <a:endParaRPr lang="en-US" sz="900" dirty="0"/>
          </a:p>
        </p:txBody>
      </p:sp>
      <p:sp>
        <p:nvSpPr>
          <p:cNvPr id="15" name="Shape 12"/>
          <p:cNvSpPr/>
          <p:nvPr/>
        </p:nvSpPr>
        <p:spPr>
          <a:xfrm>
            <a:off x="4343400" y="2706624"/>
            <a:ext cx="3538728" cy="1481328"/>
          </a:xfrm>
          <a:prstGeom prst="roundRect">
            <a:avLst>
              <a:gd name="adj" fmla="val 7407"/>
            </a:avLst>
          </a:prstGeom>
          <a:solidFill>
            <a:srgbClr val="FFFFFF"/>
          </a:solidFill>
          <a:ln w="8890">
            <a:solidFill>
              <a:srgbClr val="DCE5DF"/>
            </a:solidFill>
            <a:prstDash val="solid"/>
          </a:ln>
        </p:spPr>
      </p:sp>
      <p:sp>
        <p:nvSpPr>
          <p:cNvPr id="16" name="Text 13"/>
          <p:cNvSpPr/>
          <p:nvPr/>
        </p:nvSpPr>
        <p:spPr>
          <a:xfrm>
            <a:off x="4507992" y="2889504"/>
            <a:ext cx="3209544" cy="548640"/>
          </a:xfrm>
          <a:prstGeom prst="rect">
            <a:avLst/>
          </a:prstGeom>
          <a:noFill/>
          <a:ln/>
        </p:spPr>
        <p:txBody>
          <a:bodyPr wrap="square" lIns="0" tIns="0" rIns="0" bIns="0" rtlCol="0" anchor="t">
            <a:normAutofit/>
          </a:bodyPr>
          <a:lstStyle/>
          <a:p>
            <a:pPr indent="0" marL="0">
              <a:buNone/>
            </a:pPr>
            <a:r>
              <a:rPr lang="en-US" sz="3500" b="1" dirty="0">
                <a:solidFill>
                  <a:srgbClr val="0F766E"/>
                </a:solidFill>
                <a:latin typeface="Aptos Display" pitchFamily="34" charset="0"/>
                <a:ea typeface="Aptos Display" pitchFamily="34" charset="-122"/>
                <a:cs typeface="Aptos Display" pitchFamily="34" charset="-120"/>
              </a:rPr>
              <a:t>30% → 35%</a:t>
            </a:r>
            <a:endParaRPr lang="en-US" sz="3500" dirty="0"/>
          </a:p>
        </p:txBody>
      </p:sp>
      <p:sp>
        <p:nvSpPr>
          <p:cNvPr id="17" name="Text 14"/>
          <p:cNvSpPr/>
          <p:nvPr/>
        </p:nvSpPr>
        <p:spPr>
          <a:xfrm>
            <a:off x="4517136" y="3529584"/>
            <a:ext cx="3191256"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Conversão em agenda</a:t>
            </a:r>
            <a:endParaRPr lang="en-US" sz="1320" dirty="0"/>
          </a:p>
        </p:txBody>
      </p:sp>
      <p:sp>
        <p:nvSpPr>
          <p:cNvPr id="18" name="Text 15"/>
          <p:cNvSpPr/>
          <p:nvPr/>
        </p:nvSpPr>
        <p:spPr>
          <a:xfrm>
            <a:off x="4517136" y="3877056"/>
            <a:ext cx="3191256"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Ganho de 5 pontos percentuais</a:t>
            </a:r>
            <a:endParaRPr lang="en-US" sz="900" dirty="0"/>
          </a:p>
        </p:txBody>
      </p:sp>
      <p:sp>
        <p:nvSpPr>
          <p:cNvPr id="19" name="Shape 16"/>
          <p:cNvSpPr/>
          <p:nvPr/>
        </p:nvSpPr>
        <p:spPr>
          <a:xfrm>
            <a:off x="8138160" y="2706624"/>
            <a:ext cx="3511296" cy="1481328"/>
          </a:xfrm>
          <a:prstGeom prst="roundRect">
            <a:avLst>
              <a:gd name="adj" fmla="val 7407"/>
            </a:avLst>
          </a:prstGeom>
          <a:solidFill>
            <a:srgbClr val="FFFFFF"/>
          </a:solidFill>
          <a:ln w="8890">
            <a:solidFill>
              <a:srgbClr val="DCE5DF"/>
            </a:solidFill>
            <a:prstDash val="solid"/>
          </a:ln>
        </p:spPr>
      </p:sp>
      <p:sp>
        <p:nvSpPr>
          <p:cNvPr id="20" name="Text 17"/>
          <p:cNvSpPr/>
          <p:nvPr/>
        </p:nvSpPr>
        <p:spPr>
          <a:xfrm>
            <a:off x="8302752" y="2889504"/>
            <a:ext cx="3182112" cy="548640"/>
          </a:xfrm>
          <a:prstGeom prst="rect">
            <a:avLst/>
          </a:prstGeom>
          <a:noFill/>
          <a:ln/>
        </p:spPr>
        <p:txBody>
          <a:bodyPr wrap="square" lIns="0" tIns="0" rIns="0" bIns="0" rtlCol="0" anchor="t">
            <a:normAutofit/>
          </a:bodyPr>
          <a:lstStyle/>
          <a:p>
            <a:pPr indent="0" marL="0">
              <a:buNone/>
            </a:pPr>
            <a:r>
              <a:rPr lang="en-US" sz="3500" b="1" dirty="0">
                <a:solidFill>
                  <a:srgbClr val="0F766E"/>
                </a:solidFill>
                <a:latin typeface="Aptos Display" pitchFamily="34" charset="0"/>
                <a:ea typeface="Aptos Display" pitchFamily="34" charset="-122"/>
                <a:cs typeface="Aptos Display" pitchFamily="34" charset="-120"/>
              </a:rPr>
              <a:t>R$150</a:t>
            </a:r>
            <a:endParaRPr lang="en-US" sz="3500" dirty="0"/>
          </a:p>
        </p:txBody>
      </p:sp>
      <p:sp>
        <p:nvSpPr>
          <p:cNvPr id="21" name="Text 18"/>
          <p:cNvSpPr/>
          <p:nvPr/>
        </p:nvSpPr>
        <p:spPr>
          <a:xfrm>
            <a:off x="8311896" y="3529584"/>
            <a:ext cx="3163824"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Margem por consulta realizada</a:t>
            </a:r>
            <a:endParaRPr lang="en-US" sz="1320" dirty="0"/>
          </a:p>
        </p:txBody>
      </p:sp>
      <p:sp>
        <p:nvSpPr>
          <p:cNvPr id="22" name="Text 19"/>
          <p:cNvSpPr/>
          <p:nvPr/>
        </p:nvSpPr>
        <p:spPr>
          <a:xfrm>
            <a:off x="8311896" y="3877056"/>
            <a:ext cx="3163824"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Não receita bruta</a:t>
            </a:r>
            <a:endParaRPr lang="en-US" sz="900" dirty="0"/>
          </a:p>
        </p:txBody>
      </p:sp>
      <p:sp>
        <p:nvSpPr>
          <p:cNvPr id="23" name="Shape 20"/>
          <p:cNvSpPr/>
          <p:nvPr/>
        </p:nvSpPr>
        <p:spPr>
          <a:xfrm>
            <a:off x="566928" y="4507992"/>
            <a:ext cx="11045952" cy="1069848"/>
          </a:xfrm>
          <a:prstGeom prst="roundRect">
            <a:avLst>
              <a:gd name="adj" fmla="val 10256"/>
            </a:avLst>
          </a:prstGeom>
          <a:solidFill>
            <a:srgbClr val="0B3430"/>
          </a:solidFill>
          <a:ln w="8890">
            <a:solidFill>
              <a:srgbClr val="0B3430"/>
            </a:solidFill>
            <a:prstDash val="solid"/>
          </a:ln>
        </p:spPr>
      </p:sp>
      <p:sp>
        <p:nvSpPr>
          <p:cNvPr id="24" name="Text 21"/>
          <p:cNvSpPr/>
          <p:nvPr/>
        </p:nvSpPr>
        <p:spPr>
          <a:xfrm>
            <a:off x="804672" y="4681728"/>
            <a:ext cx="7287768" cy="283464"/>
          </a:xfrm>
          <a:prstGeom prst="rect">
            <a:avLst/>
          </a:prstGeom>
          <a:noFill/>
          <a:ln/>
        </p:spPr>
        <p:txBody>
          <a:bodyPr wrap="square" lIns="0" tIns="0" rIns="0" bIns="0" rtlCol="0" anchor="t">
            <a:normAutofit/>
          </a:bodyPr>
          <a:lstStyle/>
          <a:p>
            <a:pPr indent="0" marL="0">
              <a:buNone/>
            </a:pPr>
            <a:r>
              <a:rPr lang="en-US" sz="1800" b="1" dirty="0">
                <a:solidFill>
                  <a:srgbClr val="FCFAF6"/>
                </a:solidFill>
                <a:latin typeface="Aptos Display" pitchFamily="34" charset="0"/>
                <a:ea typeface="Aptos Display" pitchFamily="34" charset="-122"/>
                <a:cs typeface="Aptos Display" pitchFamily="34" charset="-120"/>
              </a:rPr>
              <a:t>800 × 5 p.p. × 80% de comparecimento × R$150</a:t>
            </a:r>
            <a:endParaRPr lang="en-US" sz="1800" dirty="0"/>
          </a:p>
        </p:txBody>
      </p:sp>
      <p:sp>
        <p:nvSpPr>
          <p:cNvPr id="25" name="Text 22"/>
          <p:cNvSpPr/>
          <p:nvPr/>
        </p:nvSpPr>
        <p:spPr>
          <a:xfrm>
            <a:off x="8202168" y="4617720"/>
            <a:ext cx="3099816" cy="576072"/>
          </a:xfrm>
          <a:prstGeom prst="rect">
            <a:avLst/>
          </a:prstGeom>
          <a:noFill/>
          <a:ln/>
        </p:spPr>
        <p:txBody>
          <a:bodyPr wrap="square" lIns="0" tIns="0" rIns="0" bIns="0" rtlCol="0" anchor="t">
            <a:normAutofit/>
          </a:bodyPr>
          <a:lstStyle/>
          <a:p>
            <a:pPr indent="0" marL="0">
              <a:buNone/>
            </a:pPr>
            <a:r>
              <a:rPr lang="en-US" sz="2800" b="1" dirty="0">
                <a:solidFill>
                  <a:srgbClr val="FCFAF6"/>
                </a:solidFill>
                <a:latin typeface="Aptos Display" pitchFamily="34" charset="0"/>
                <a:ea typeface="Aptos Display" pitchFamily="34" charset="-122"/>
                <a:cs typeface="Aptos Display" pitchFamily="34" charset="-120"/>
              </a:rPr>
              <a:t>= R$4.800/mês</a:t>
            </a:r>
            <a:endParaRPr lang="en-US" sz="2800" dirty="0"/>
          </a:p>
        </p:txBody>
      </p:sp>
      <p:sp>
        <p:nvSpPr>
          <p:cNvPr id="26" name="Shape 23"/>
          <p:cNvSpPr/>
          <p:nvPr/>
        </p:nvSpPr>
        <p:spPr>
          <a:xfrm>
            <a:off x="521208" y="5797296"/>
            <a:ext cx="11128248" cy="393192"/>
          </a:xfrm>
          <a:prstGeom prst="rect">
            <a:avLst>
              <a:gd name="adj" fmla="val 27907"/>
            </a:avLst>
          </a:prstGeom>
          <a:solidFill>
            <a:srgbClr val="E7F2EC"/>
          </a:solidFill>
          <a:ln w="8890">
            <a:solidFill>
              <a:srgbClr val="E7F2EC"/>
            </a:solidFill>
            <a:prstDash val="solid"/>
          </a:ln>
        </p:spPr>
      </p:sp>
      <p:sp>
        <p:nvSpPr>
          <p:cNvPr id="27" name="Text 24"/>
          <p:cNvSpPr/>
          <p:nvPr/>
        </p:nvSpPr>
        <p:spPr>
          <a:xfrm>
            <a:off x="704088" y="5888736"/>
            <a:ext cx="10762488" cy="201168"/>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Custo simulado: R$990 + R$150 de canal → saldo incremental R$3.660/mês; benefício/custo ≈ 4,2×.</a:t>
            </a:r>
            <a:endParaRPr lang="en-US" sz="12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22 / NÃO SOMAR BENEFÍCIOS QUE SE SOBREPÕEM</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O resultado é muito sensível</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à capacidade, comparecimento e margem.</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Faltas e carga da recepção são alavancas alternativas ou complementares só depois de deduplicar eventos.</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Análise Oria · hipóteses e metas explicitadas · 14/10/2026</a:t>
            </a:r>
            <a:endParaRPr lang="en-US" sz="720" dirty="0"/>
          </a:p>
        </p:txBody>
      </p:sp>
      <p:sp>
        <p:nvSpPr>
          <p:cNvPr id="9" name="Shape 6"/>
          <p:cNvSpPr/>
          <p:nvPr/>
        </p:nvSpPr>
        <p:spPr>
          <a:xfrm>
            <a:off x="548640" y="2203704"/>
            <a:ext cx="11109960" cy="384048"/>
          </a:xfrm>
          <a:prstGeom prst="rect">
            <a:avLst>
              <a:gd name="adj" fmla="val 28571"/>
            </a:avLst>
          </a:prstGeom>
          <a:solidFill>
            <a:srgbClr val="0B3430"/>
          </a:solidFill>
          <a:ln w="8890">
            <a:solidFill>
              <a:srgbClr val="0B3430"/>
            </a:solidFill>
            <a:prstDash val="solid"/>
          </a:ln>
        </p:spPr>
      </p:sp>
      <p:sp>
        <p:nvSpPr>
          <p:cNvPr id="10" name="Text 7"/>
          <p:cNvSpPr/>
          <p:nvPr/>
        </p:nvSpPr>
        <p:spPr>
          <a:xfrm>
            <a:off x="640080" y="2304288"/>
            <a:ext cx="1673352"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Ganho de conversão</a:t>
            </a:r>
            <a:endParaRPr lang="en-US" sz="1050" dirty="0"/>
          </a:p>
        </p:txBody>
      </p:sp>
      <p:sp>
        <p:nvSpPr>
          <p:cNvPr id="11" name="Text 8"/>
          <p:cNvSpPr/>
          <p:nvPr/>
        </p:nvSpPr>
        <p:spPr>
          <a:xfrm>
            <a:off x="2496312" y="2304288"/>
            <a:ext cx="3739896"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Consultas extras realizadas</a:t>
            </a:r>
            <a:endParaRPr lang="en-US" sz="1050" dirty="0"/>
          </a:p>
        </p:txBody>
      </p:sp>
      <p:sp>
        <p:nvSpPr>
          <p:cNvPr id="12" name="Text 9"/>
          <p:cNvSpPr/>
          <p:nvPr/>
        </p:nvSpPr>
        <p:spPr>
          <a:xfrm>
            <a:off x="6419088" y="2304288"/>
            <a:ext cx="2203704"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Valor incremental</a:t>
            </a:r>
            <a:endParaRPr lang="en-US" sz="1050" dirty="0"/>
          </a:p>
        </p:txBody>
      </p:sp>
      <p:sp>
        <p:nvSpPr>
          <p:cNvPr id="13" name="Text 10"/>
          <p:cNvSpPr/>
          <p:nvPr/>
        </p:nvSpPr>
        <p:spPr>
          <a:xfrm>
            <a:off x="8805672" y="2304288"/>
            <a:ext cx="2761488"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Saldo após R$1.140</a:t>
            </a:r>
            <a:endParaRPr lang="en-US" sz="1050" dirty="0"/>
          </a:p>
        </p:txBody>
      </p:sp>
      <p:sp>
        <p:nvSpPr>
          <p:cNvPr id="14" name="Shape 11"/>
          <p:cNvSpPr/>
          <p:nvPr/>
        </p:nvSpPr>
        <p:spPr>
          <a:xfrm>
            <a:off x="548640" y="2587752"/>
            <a:ext cx="11109960" cy="539496"/>
          </a:xfrm>
          <a:prstGeom prst="rect">
            <a:avLst>
              <a:gd name="adj" fmla="val 20339"/>
            </a:avLst>
          </a:prstGeom>
          <a:solidFill>
            <a:srgbClr val="FFFFFF"/>
          </a:solidFill>
          <a:ln w="8890">
            <a:solidFill>
              <a:srgbClr val="DCE5DF"/>
            </a:solidFill>
            <a:prstDash val="solid"/>
          </a:ln>
        </p:spPr>
      </p:sp>
      <p:sp>
        <p:nvSpPr>
          <p:cNvPr id="15" name="Text 12"/>
          <p:cNvSpPr/>
          <p:nvPr/>
        </p:nvSpPr>
        <p:spPr>
          <a:xfrm>
            <a:off x="640080" y="2679192"/>
            <a:ext cx="1673352" cy="393192"/>
          </a:xfrm>
          <a:prstGeom prst="rect">
            <a:avLst/>
          </a:prstGeom>
          <a:noFill/>
          <a:ln/>
        </p:spPr>
        <p:txBody>
          <a:bodyPr wrap="square" lIns="0" tIns="0" rIns="0" bIns="0" rtlCol="0" anchor="t">
            <a:normAutofit/>
          </a:bodyPr>
          <a:lstStyle/>
          <a:p>
            <a:pPr indent="0" marL="0">
              <a:buNone/>
            </a:pPr>
            <a:r>
              <a:rPr lang="en-US" sz="1250" b="1" dirty="0">
                <a:solidFill>
                  <a:srgbClr val="0F766E"/>
                </a:solidFill>
                <a:latin typeface="Aptos Display" pitchFamily="34" charset="0"/>
                <a:ea typeface="Aptos Display" pitchFamily="34" charset="-122"/>
                <a:cs typeface="Aptos Display" pitchFamily="34" charset="-120"/>
              </a:rPr>
              <a:t>+1 p.p.</a:t>
            </a:r>
            <a:endParaRPr lang="en-US" sz="1250" dirty="0"/>
          </a:p>
        </p:txBody>
      </p:sp>
      <p:sp>
        <p:nvSpPr>
          <p:cNvPr id="16" name="Text 13"/>
          <p:cNvSpPr/>
          <p:nvPr/>
        </p:nvSpPr>
        <p:spPr>
          <a:xfrm>
            <a:off x="2496312" y="2679192"/>
            <a:ext cx="3739896" cy="393192"/>
          </a:xfrm>
          <a:prstGeom prst="rect">
            <a:avLst/>
          </a:prstGeom>
          <a:noFill/>
          <a:ln/>
        </p:spPr>
        <p:txBody>
          <a:bodyPr wrap="square" lIns="0" tIns="0" rIns="0" bIns="0" rtlCol="0" anchor="t">
            <a:normAutofit/>
          </a:bodyPr>
          <a:lstStyle/>
          <a:p>
            <a:pPr indent="0" marL="0">
              <a:buNone/>
            </a:pPr>
            <a:r>
              <a:rPr lang="en-US" sz="1250" dirty="0">
                <a:solidFill>
                  <a:srgbClr val="17312F"/>
                </a:solidFill>
                <a:latin typeface="Aptos" pitchFamily="34" charset="0"/>
                <a:ea typeface="Aptos" pitchFamily="34" charset="-122"/>
                <a:cs typeface="Aptos" pitchFamily="34" charset="-120"/>
              </a:rPr>
              <a:t>800 × 1% × 80% = 6,4</a:t>
            </a:r>
            <a:endParaRPr lang="en-US" sz="1250" dirty="0"/>
          </a:p>
        </p:txBody>
      </p:sp>
      <p:sp>
        <p:nvSpPr>
          <p:cNvPr id="17" name="Text 14"/>
          <p:cNvSpPr/>
          <p:nvPr/>
        </p:nvSpPr>
        <p:spPr>
          <a:xfrm>
            <a:off x="6419088" y="2679192"/>
            <a:ext cx="2203704" cy="393192"/>
          </a:xfrm>
          <a:prstGeom prst="rect">
            <a:avLst/>
          </a:prstGeom>
          <a:noFill/>
          <a:ln/>
        </p:spPr>
        <p:txBody>
          <a:bodyPr wrap="square" lIns="0" tIns="0" rIns="0" bIns="0" rtlCol="0" anchor="t">
            <a:normAutofit/>
          </a:bodyPr>
          <a:lstStyle/>
          <a:p>
            <a:pPr indent="0" marL="0">
              <a:buNone/>
            </a:pPr>
            <a:r>
              <a:rPr lang="en-US" sz="1250" dirty="0">
                <a:solidFill>
                  <a:srgbClr val="17312F"/>
                </a:solidFill>
                <a:latin typeface="Aptos" pitchFamily="34" charset="0"/>
                <a:ea typeface="Aptos" pitchFamily="34" charset="-122"/>
                <a:cs typeface="Aptos" pitchFamily="34" charset="-120"/>
              </a:rPr>
              <a:t>R$960</a:t>
            </a:r>
            <a:endParaRPr lang="en-US" sz="1250" dirty="0"/>
          </a:p>
        </p:txBody>
      </p:sp>
      <p:sp>
        <p:nvSpPr>
          <p:cNvPr id="18" name="Text 15"/>
          <p:cNvSpPr/>
          <p:nvPr/>
        </p:nvSpPr>
        <p:spPr>
          <a:xfrm>
            <a:off x="8805672" y="2679192"/>
            <a:ext cx="2761488" cy="393192"/>
          </a:xfrm>
          <a:prstGeom prst="rect">
            <a:avLst/>
          </a:prstGeom>
          <a:noFill/>
          <a:ln/>
        </p:spPr>
        <p:txBody>
          <a:bodyPr wrap="square" lIns="0" tIns="0" rIns="0" bIns="0" rtlCol="0" anchor="t">
            <a:normAutofit/>
          </a:bodyPr>
          <a:lstStyle/>
          <a:p>
            <a:pPr indent="0" marL="0">
              <a:buNone/>
            </a:pPr>
            <a:r>
              <a:rPr lang="en-US" sz="1250" dirty="0">
                <a:solidFill>
                  <a:srgbClr val="17312F"/>
                </a:solidFill>
                <a:latin typeface="Aptos" pitchFamily="34" charset="0"/>
                <a:ea typeface="Aptos" pitchFamily="34" charset="-122"/>
                <a:cs typeface="Aptos" pitchFamily="34" charset="-120"/>
              </a:rPr>
              <a:t>−R$180</a:t>
            </a:r>
            <a:endParaRPr lang="en-US" sz="1250" dirty="0"/>
          </a:p>
        </p:txBody>
      </p:sp>
      <p:sp>
        <p:nvSpPr>
          <p:cNvPr id="19" name="Shape 16"/>
          <p:cNvSpPr/>
          <p:nvPr/>
        </p:nvSpPr>
        <p:spPr>
          <a:xfrm>
            <a:off x="548640" y="3127248"/>
            <a:ext cx="11109960" cy="539496"/>
          </a:xfrm>
          <a:prstGeom prst="rect">
            <a:avLst>
              <a:gd name="adj" fmla="val 20339"/>
            </a:avLst>
          </a:prstGeom>
          <a:solidFill>
            <a:srgbClr val="FCFAF6"/>
          </a:solidFill>
          <a:ln w="8890">
            <a:solidFill>
              <a:srgbClr val="DCE5DF"/>
            </a:solidFill>
            <a:prstDash val="solid"/>
          </a:ln>
        </p:spPr>
      </p:sp>
      <p:sp>
        <p:nvSpPr>
          <p:cNvPr id="20" name="Text 17"/>
          <p:cNvSpPr/>
          <p:nvPr/>
        </p:nvSpPr>
        <p:spPr>
          <a:xfrm>
            <a:off x="640080" y="3218688"/>
            <a:ext cx="1673352" cy="393192"/>
          </a:xfrm>
          <a:prstGeom prst="rect">
            <a:avLst/>
          </a:prstGeom>
          <a:noFill/>
          <a:ln/>
        </p:spPr>
        <p:txBody>
          <a:bodyPr wrap="square" lIns="0" tIns="0" rIns="0" bIns="0" rtlCol="0" anchor="t">
            <a:normAutofit/>
          </a:bodyPr>
          <a:lstStyle/>
          <a:p>
            <a:pPr indent="0" marL="0">
              <a:buNone/>
            </a:pPr>
            <a:r>
              <a:rPr lang="en-US" sz="1250" b="1" dirty="0">
                <a:solidFill>
                  <a:srgbClr val="0F766E"/>
                </a:solidFill>
                <a:latin typeface="Aptos Display" pitchFamily="34" charset="0"/>
                <a:ea typeface="Aptos Display" pitchFamily="34" charset="-122"/>
                <a:cs typeface="Aptos Display" pitchFamily="34" charset="-120"/>
              </a:rPr>
              <a:t>+3 p.p.</a:t>
            </a:r>
            <a:endParaRPr lang="en-US" sz="1250" dirty="0"/>
          </a:p>
        </p:txBody>
      </p:sp>
      <p:sp>
        <p:nvSpPr>
          <p:cNvPr id="21" name="Text 18"/>
          <p:cNvSpPr/>
          <p:nvPr/>
        </p:nvSpPr>
        <p:spPr>
          <a:xfrm>
            <a:off x="2496312" y="3218688"/>
            <a:ext cx="3739896" cy="393192"/>
          </a:xfrm>
          <a:prstGeom prst="rect">
            <a:avLst/>
          </a:prstGeom>
          <a:noFill/>
          <a:ln/>
        </p:spPr>
        <p:txBody>
          <a:bodyPr wrap="square" lIns="0" tIns="0" rIns="0" bIns="0" rtlCol="0" anchor="t">
            <a:normAutofit/>
          </a:bodyPr>
          <a:lstStyle/>
          <a:p>
            <a:pPr indent="0" marL="0">
              <a:buNone/>
            </a:pPr>
            <a:r>
              <a:rPr lang="en-US" sz="1250" dirty="0">
                <a:solidFill>
                  <a:srgbClr val="17312F"/>
                </a:solidFill>
                <a:latin typeface="Aptos" pitchFamily="34" charset="0"/>
                <a:ea typeface="Aptos" pitchFamily="34" charset="-122"/>
                <a:cs typeface="Aptos" pitchFamily="34" charset="-120"/>
              </a:rPr>
              <a:t>800 × 3% × 80% = 19,2</a:t>
            </a:r>
            <a:endParaRPr lang="en-US" sz="1250" dirty="0"/>
          </a:p>
        </p:txBody>
      </p:sp>
      <p:sp>
        <p:nvSpPr>
          <p:cNvPr id="22" name="Text 19"/>
          <p:cNvSpPr/>
          <p:nvPr/>
        </p:nvSpPr>
        <p:spPr>
          <a:xfrm>
            <a:off x="6419088" y="3218688"/>
            <a:ext cx="2203704" cy="393192"/>
          </a:xfrm>
          <a:prstGeom prst="rect">
            <a:avLst/>
          </a:prstGeom>
          <a:noFill/>
          <a:ln/>
        </p:spPr>
        <p:txBody>
          <a:bodyPr wrap="square" lIns="0" tIns="0" rIns="0" bIns="0" rtlCol="0" anchor="t">
            <a:normAutofit/>
          </a:bodyPr>
          <a:lstStyle/>
          <a:p>
            <a:pPr indent="0" marL="0">
              <a:buNone/>
            </a:pPr>
            <a:r>
              <a:rPr lang="en-US" sz="1250" dirty="0">
                <a:solidFill>
                  <a:srgbClr val="17312F"/>
                </a:solidFill>
                <a:latin typeface="Aptos" pitchFamily="34" charset="0"/>
                <a:ea typeface="Aptos" pitchFamily="34" charset="-122"/>
                <a:cs typeface="Aptos" pitchFamily="34" charset="-120"/>
              </a:rPr>
              <a:t>R$2.880</a:t>
            </a:r>
            <a:endParaRPr lang="en-US" sz="1250" dirty="0"/>
          </a:p>
        </p:txBody>
      </p:sp>
      <p:sp>
        <p:nvSpPr>
          <p:cNvPr id="23" name="Text 20"/>
          <p:cNvSpPr/>
          <p:nvPr/>
        </p:nvSpPr>
        <p:spPr>
          <a:xfrm>
            <a:off x="8805672" y="3218688"/>
            <a:ext cx="2761488" cy="393192"/>
          </a:xfrm>
          <a:prstGeom prst="rect">
            <a:avLst/>
          </a:prstGeom>
          <a:noFill/>
          <a:ln/>
        </p:spPr>
        <p:txBody>
          <a:bodyPr wrap="square" lIns="0" tIns="0" rIns="0" bIns="0" rtlCol="0" anchor="t">
            <a:normAutofit/>
          </a:bodyPr>
          <a:lstStyle/>
          <a:p>
            <a:pPr indent="0" marL="0">
              <a:buNone/>
            </a:pPr>
            <a:r>
              <a:rPr lang="en-US" sz="1250" dirty="0">
                <a:solidFill>
                  <a:srgbClr val="17312F"/>
                </a:solidFill>
                <a:latin typeface="Aptos" pitchFamily="34" charset="0"/>
                <a:ea typeface="Aptos" pitchFamily="34" charset="-122"/>
                <a:cs typeface="Aptos" pitchFamily="34" charset="-120"/>
              </a:rPr>
              <a:t>R$1.740</a:t>
            </a:r>
            <a:endParaRPr lang="en-US" sz="1250" dirty="0"/>
          </a:p>
        </p:txBody>
      </p:sp>
      <p:sp>
        <p:nvSpPr>
          <p:cNvPr id="24" name="Shape 21"/>
          <p:cNvSpPr/>
          <p:nvPr/>
        </p:nvSpPr>
        <p:spPr>
          <a:xfrm>
            <a:off x="548640" y="3666744"/>
            <a:ext cx="11109960" cy="539496"/>
          </a:xfrm>
          <a:prstGeom prst="rect">
            <a:avLst>
              <a:gd name="adj" fmla="val 20339"/>
            </a:avLst>
          </a:prstGeom>
          <a:solidFill>
            <a:srgbClr val="FFFFFF"/>
          </a:solidFill>
          <a:ln w="8890">
            <a:solidFill>
              <a:srgbClr val="DCE5DF"/>
            </a:solidFill>
            <a:prstDash val="solid"/>
          </a:ln>
        </p:spPr>
      </p:sp>
      <p:sp>
        <p:nvSpPr>
          <p:cNvPr id="25" name="Text 22"/>
          <p:cNvSpPr/>
          <p:nvPr/>
        </p:nvSpPr>
        <p:spPr>
          <a:xfrm>
            <a:off x="640080" y="3758184"/>
            <a:ext cx="1673352" cy="393192"/>
          </a:xfrm>
          <a:prstGeom prst="rect">
            <a:avLst/>
          </a:prstGeom>
          <a:noFill/>
          <a:ln/>
        </p:spPr>
        <p:txBody>
          <a:bodyPr wrap="square" lIns="0" tIns="0" rIns="0" bIns="0" rtlCol="0" anchor="t">
            <a:normAutofit/>
          </a:bodyPr>
          <a:lstStyle/>
          <a:p>
            <a:pPr indent="0" marL="0">
              <a:buNone/>
            </a:pPr>
            <a:r>
              <a:rPr lang="en-US" sz="1250" b="1" dirty="0">
                <a:solidFill>
                  <a:srgbClr val="0F766E"/>
                </a:solidFill>
                <a:latin typeface="Aptos Display" pitchFamily="34" charset="0"/>
                <a:ea typeface="Aptos Display" pitchFamily="34" charset="-122"/>
                <a:cs typeface="Aptos Display" pitchFamily="34" charset="-120"/>
              </a:rPr>
              <a:t>+5 p.p.</a:t>
            </a:r>
            <a:endParaRPr lang="en-US" sz="1250" dirty="0"/>
          </a:p>
        </p:txBody>
      </p:sp>
      <p:sp>
        <p:nvSpPr>
          <p:cNvPr id="26" name="Text 23"/>
          <p:cNvSpPr/>
          <p:nvPr/>
        </p:nvSpPr>
        <p:spPr>
          <a:xfrm>
            <a:off x="2496312" y="3758184"/>
            <a:ext cx="3739896" cy="393192"/>
          </a:xfrm>
          <a:prstGeom prst="rect">
            <a:avLst/>
          </a:prstGeom>
          <a:noFill/>
          <a:ln/>
        </p:spPr>
        <p:txBody>
          <a:bodyPr wrap="square" lIns="0" tIns="0" rIns="0" bIns="0" rtlCol="0" anchor="t">
            <a:normAutofit/>
          </a:bodyPr>
          <a:lstStyle/>
          <a:p>
            <a:pPr indent="0" marL="0">
              <a:buNone/>
            </a:pPr>
            <a:r>
              <a:rPr lang="en-US" sz="1250" dirty="0">
                <a:solidFill>
                  <a:srgbClr val="17312F"/>
                </a:solidFill>
                <a:latin typeface="Aptos" pitchFamily="34" charset="0"/>
                <a:ea typeface="Aptos" pitchFamily="34" charset="-122"/>
                <a:cs typeface="Aptos" pitchFamily="34" charset="-120"/>
              </a:rPr>
              <a:t>800 × 5% × 80% = 32</a:t>
            </a:r>
            <a:endParaRPr lang="en-US" sz="1250" dirty="0"/>
          </a:p>
        </p:txBody>
      </p:sp>
      <p:sp>
        <p:nvSpPr>
          <p:cNvPr id="27" name="Text 24"/>
          <p:cNvSpPr/>
          <p:nvPr/>
        </p:nvSpPr>
        <p:spPr>
          <a:xfrm>
            <a:off x="6419088" y="3758184"/>
            <a:ext cx="2203704" cy="393192"/>
          </a:xfrm>
          <a:prstGeom prst="rect">
            <a:avLst/>
          </a:prstGeom>
          <a:noFill/>
          <a:ln/>
        </p:spPr>
        <p:txBody>
          <a:bodyPr wrap="square" lIns="0" tIns="0" rIns="0" bIns="0" rtlCol="0" anchor="t">
            <a:normAutofit/>
          </a:bodyPr>
          <a:lstStyle/>
          <a:p>
            <a:pPr indent="0" marL="0">
              <a:buNone/>
            </a:pPr>
            <a:r>
              <a:rPr lang="en-US" sz="1250" dirty="0">
                <a:solidFill>
                  <a:srgbClr val="17312F"/>
                </a:solidFill>
                <a:latin typeface="Aptos" pitchFamily="34" charset="0"/>
                <a:ea typeface="Aptos" pitchFamily="34" charset="-122"/>
                <a:cs typeface="Aptos" pitchFamily="34" charset="-120"/>
              </a:rPr>
              <a:t>R$4.800</a:t>
            </a:r>
            <a:endParaRPr lang="en-US" sz="1250" dirty="0"/>
          </a:p>
        </p:txBody>
      </p:sp>
      <p:sp>
        <p:nvSpPr>
          <p:cNvPr id="28" name="Text 25"/>
          <p:cNvSpPr/>
          <p:nvPr/>
        </p:nvSpPr>
        <p:spPr>
          <a:xfrm>
            <a:off x="8805672" y="3758184"/>
            <a:ext cx="2761488" cy="393192"/>
          </a:xfrm>
          <a:prstGeom prst="rect">
            <a:avLst/>
          </a:prstGeom>
          <a:noFill/>
          <a:ln/>
        </p:spPr>
        <p:txBody>
          <a:bodyPr wrap="square" lIns="0" tIns="0" rIns="0" bIns="0" rtlCol="0" anchor="t">
            <a:normAutofit/>
          </a:bodyPr>
          <a:lstStyle/>
          <a:p>
            <a:pPr indent="0" marL="0">
              <a:buNone/>
            </a:pPr>
            <a:r>
              <a:rPr lang="en-US" sz="1250" dirty="0">
                <a:solidFill>
                  <a:srgbClr val="17312F"/>
                </a:solidFill>
                <a:latin typeface="Aptos" pitchFamily="34" charset="0"/>
                <a:ea typeface="Aptos" pitchFamily="34" charset="-122"/>
                <a:cs typeface="Aptos" pitchFamily="34" charset="-120"/>
              </a:rPr>
              <a:t>R$3.660</a:t>
            </a:r>
            <a:endParaRPr lang="en-US" sz="1250" dirty="0"/>
          </a:p>
        </p:txBody>
      </p:sp>
      <p:sp>
        <p:nvSpPr>
          <p:cNvPr id="29" name="Shape 26"/>
          <p:cNvSpPr/>
          <p:nvPr/>
        </p:nvSpPr>
        <p:spPr>
          <a:xfrm>
            <a:off x="548640" y="4443984"/>
            <a:ext cx="5413248" cy="1353312"/>
          </a:xfrm>
          <a:prstGeom prst="roundRect">
            <a:avLst>
              <a:gd name="adj" fmla="val 8108"/>
            </a:avLst>
          </a:prstGeom>
          <a:solidFill>
            <a:srgbClr val="FFFFFF"/>
          </a:solidFill>
          <a:ln w="8890">
            <a:solidFill>
              <a:srgbClr val="DCE5DF"/>
            </a:solidFill>
            <a:prstDash val="solid"/>
          </a:ln>
        </p:spPr>
      </p:sp>
      <p:sp>
        <p:nvSpPr>
          <p:cNvPr id="30" name="Shape 27"/>
          <p:cNvSpPr/>
          <p:nvPr/>
        </p:nvSpPr>
        <p:spPr>
          <a:xfrm>
            <a:off x="713232" y="4645152"/>
            <a:ext cx="50292" cy="320040"/>
          </a:xfrm>
          <a:prstGeom prst="rect">
            <a:avLst>
              <a:gd name="adj" fmla="val 218182"/>
            </a:avLst>
          </a:prstGeom>
          <a:solidFill>
            <a:srgbClr val="0F766E"/>
          </a:solidFill>
          <a:ln w="8890">
            <a:solidFill>
              <a:srgbClr val="0F766E"/>
            </a:solidFill>
            <a:prstDash val="solid"/>
          </a:ln>
        </p:spPr>
      </p:sp>
      <p:sp>
        <p:nvSpPr>
          <p:cNvPr id="31" name="Text 28"/>
          <p:cNvSpPr/>
          <p:nvPr/>
        </p:nvSpPr>
        <p:spPr>
          <a:xfrm>
            <a:off x="877824" y="4654296"/>
            <a:ext cx="4901184" cy="438912"/>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FALTAS — CENÁRIO SEPARADO</a:t>
            </a:r>
            <a:endParaRPr lang="en-US" sz="1800" dirty="0"/>
          </a:p>
        </p:txBody>
      </p:sp>
      <p:sp>
        <p:nvSpPr>
          <p:cNvPr id="32" name="Text 29"/>
          <p:cNvSpPr/>
          <p:nvPr/>
        </p:nvSpPr>
        <p:spPr>
          <a:xfrm>
            <a:off x="758952" y="5138928"/>
            <a:ext cx="4992624" cy="530352"/>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600 agendamentos; 15% → 11% de faltas = 24 consultas recuperadas. A R$150: R$3.600 de contribuição.</a:t>
            </a:r>
            <a:endParaRPr lang="en-US" sz="1350" dirty="0"/>
          </a:p>
        </p:txBody>
      </p:sp>
      <p:sp>
        <p:nvSpPr>
          <p:cNvPr id="33" name="Shape 30"/>
          <p:cNvSpPr/>
          <p:nvPr/>
        </p:nvSpPr>
        <p:spPr>
          <a:xfrm>
            <a:off x="6217920" y="4443984"/>
            <a:ext cx="5413248" cy="1353312"/>
          </a:xfrm>
          <a:prstGeom prst="roundRect">
            <a:avLst>
              <a:gd name="adj" fmla="val 8108"/>
            </a:avLst>
          </a:prstGeom>
          <a:solidFill>
            <a:srgbClr val="FFFFFF"/>
          </a:solidFill>
          <a:ln w="8890">
            <a:solidFill>
              <a:srgbClr val="DCE5DF"/>
            </a:solidFill>
            <a:prstDash val="solid"/>
          </a:ln>
        </p:spPr>
      </p:sp>
      <p:sp>
        <p:nvSpPr>
          <p:cNvPr id="34" name="Shape 31"/>
          <p:cNvSpPr/>
          <p:nvPr/>
        </p:nvSpPr>
        <p:spPr>
          <a:xfrm>
            <a:off x="6382512" y="4645152"/>
            <a:ext cx="50292" cy="320040"/>
          </a:xfrm>
          <a:prstGeom prst="rect">
            <a:avLst>
              <a:gd name="adj" fmla="val 218182"/>
            </a:avLst>
          </a:prstGeom>
          <a:solidFill>
            <a:srgbClr val="456C91"/>
          </a:solidFill>
          <a:ln w="8890">
            <a:solidFill>
              <a:srgbClr val="456C91"/>
            </a:solidFill>
            <a:prstDash val="solid"/>
          </a:ln>
        </p:spPr>
      </p:sp>
      <p:sp>
        <p:nvSpPr>
          <p:cNvPr id="35" name="Text 32"/>
          <p:cNvSpPr/>
          <p:nvPr/>
        </p:nvSpPr>
        <p:spPr>
          <a:xfrm>
            <a:off x="6547104" y="4654296"/>
            <a:ext cx="4901184" cy="438912"/>
          </a:xfrm>
          <a:prstGeom prst="rect">
            <a:avLst/>
          </a:prstGeom>
          <a:noFill/>
          <a:ln/>
        </p:spPr>
        <p:txBody>
          <a:bodyPr wrap="square" lIns="0" tIns="0" rIns="0" bIns="0" rtlCol="0" anchor="t">
            <a:normAutofit/>
          </a:bodyPr>
          <a:lstStyle/>
          <a:p>
            <a:pPr indent="0" marL="0">
              <a:buNone/>
            </a:pPr>
            <a:r>
              <a:rPr lang="en-US" sz="1800" b="1" dirty="0">
                <a:solidFill>
                  <a:srgbClr val="456C91"/>
                </a:solidFill>
                <a:latin typeface="Aptos Display" pitchFamily="34" charset="0"/>
                <a:ea typeface="Aptos Display" pitchFamily="34" charset="-122"/>
                <a:cs typeface="Aptos Display" pitchFamily="34" charset="-120"/>
              </a:rPr>
              <a:t>TEMPO — CAPACIDADE, NÃO CAIXA</a:t>
            </a:r>
            <a:endParaRPr lang="en-US" sz="1800" dirty="0"/>
          </a:p>
        </p:txBody>
      </p:sp>
      <p:sp>
        <p:nvSpPr>
          <p:cNvPr id="36" name="Text 33"/>
          <p:cNvSpPr/>
          <p:nvPr/>
        </p:nvSpPr>
        <p:spPr>
          <a:xfrm>
            <a:off x="6428232" y="5138928"/>
            <a:ext cx="4992624" cy="530352"/>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600 tarefas × 3 min × 50% resolvidas = 15 h/mês. A R$30/h: R$450 de capacidade estimada.</a:t>
            </a:r>
            <a:endParaRPr lang="en-US" sz="135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23 / MONETIZAÇÃO PROPOSTA</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Teste uma oferta de clínica.</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Não quatro planos antes de aprender.</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Preço de experimento, não preço validado de mercado nem compromisso comercial.</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D1 · Documento de partida — v1.md   |   S4 · Feegow — Preços e Planos   |   S9 · WhatsApp — preços da plataforma</a:t>
            </a:r>
            <a:endParaRPr lang="en-US" sz="720" dirty="0"/>
          </a:p>
        </p:txBody>
      </p:sp>
      <p:sp>
        <p:nvSpPr>
          <p:cNvPr id="9" name="Shape 6"/>
          <p:cNvSpPr/>
          <p:nvPr/>
        </p:nvSpPr>
        <p:spPr>
          <a:xfrm>
            <a:off x="566928" y="2221992"/>
            <a:ext cx="4974336" cy="3429000"/>
          </a:xfrm>
          <a:prstGeom prst="roundRect">
            <a:avLst>
              <a:gd name="adj" fmla="val 3200"/>
            </a:avLst>
          </a:prstGeom>
          <a:solidFill>
            <a:srgbClr val="0B3430"/>
          </a:solidFill>
          <a:ln w="8890">
            <a:solidFill>
              <a:srgbClr val="0B3430"/>
            </a:solidFill>
            <a:prstDash val="solid"/>
          </a:ln>
        </p:spPr>
      </p:sp>
      <p:sp>
        <p:nvSpPr>
          <p:cNvPr id="10" name="Shape 7"/>
          <p:cNvSpPr/>
          <p:nvPr/>
        </p:nvSpPr>
        <p:spPr>
          <a:xfrm>
            <a:off x="804672" y="2487168"/>
            <a:ext cx="1865376" cy="256032"/>
          </a:xfrm>
          <a:prstGeom prst="roundRect">
            <a:avLst>
              <a:gd name="adj" fmla="val 42857"/>
            </a:avLst>
          </a:prstGeom>
          <a:solidFill>
            <a:srgbClr val="F4ECDE"/>
          </a:solidFill>
          <a:ln w="8890">
            <a:solidFill>
              <a:srgbClr val="F4ECDE"/>
            </a:solidFill>
            <a:prstDash val="solid"/>
          </a:ln>
        </p:spPr>
      </p:sp>
      <p:sp>
        <p:nvSpPr>
          <p:cNvPr id="11" name="Text 8"/>
          <p:cNvSpPr/>
          <p:nvPr/>
        </p:nvSpPr>
        <p:spPr>
          <a:xfrm>
            <a:off x="896112" y="2519172"/>
            <a:ext cx="1682496" cy="155448"/>
          </a:xfrm>
          <a:prstGeom prst="rect">
            <a:avLst/>
          </a:prstGeom>
          <a:noFill/>
          <a:ln/>
        </p:spPr>
        <p:txBody>
          <a:bodyPr wrap="square" lIns="0" tIns="0" rIns="0" bIns="0" rtlCol="0" anchor="t">
            <a:normAutofit/>
          </a:bodyPr>
          <a:lstStyle/>
          <a:p>
            <a:pPr indent="0" marL="0">
              <a:buNone/>
            </a:pPr>
            <a:r>
              <a:rPr lang="en-US" sz="850" b="1" dirty="0">
                <a:solidFill>
                  <a:srgbClr val="997039"/>
                </a:solidFill>
                <a:latin typeface="Aptos Display" pitchFamily="34" charset="0"/>
                <a:ea typeface="Aptos Display" pitchFamily="34" charset="-122"/>
                <a:cs typeface="Aptos Display" pitchFamily="34" charset="-120"/>
              </a:rPr>
              <a:t>PREÇO A TESTAR</a:t>
            </a:r>
            <a:endParaRPr lang="en-US" sz="850" dirty="0"/>
          </a:p>
        </p:txBody>
      </p:sp>
      <p:sp>
        <p:nvSpPr>
          <p:cNvPr id="12" name="Text 9"/>
          <p:cNvSpPr/>
          <p:nvPr/>
        </p:nvSpPr>
        <p:spPr>
          <a:xfrm>
            <a:off x="841248" y="3035808"/>
            <a:ext cx="4133088" cy="832104"/>
          </a:xfrm>
          <a:prstGeom prst="rect">
            <a:avLst/>
          </a:prstGeom>
          <a:noFill/>
          <a:ln/>
        </p:spPr>
        <p:txBody>
          <a:bodyPr wrap="square" lIns="0" tIns="0" rIns="0" bIns="0" rtlCol="0" anchor="t">
            <a:normAutofit/>
          </a:bodyPr>
          <a:lstStyle/>
          <a:p>
            <a:pPr indent="0" marL="0">
              <a:buNone/>
            </a:pPr>
            <a:r>
              <a:rPr lang="en-US" sz="5100" b="1" dirty="0">
                <a:solidFill>
                  <a:srgbClr val="FCFAF6"/>
                </a:solidFill>
                <a:latin typeface="Aptos Display" pitchFamily="34" charset="0"/>
                <a:ea typeface="Aptos Display" pitchFamily="34" charset="-122"/>
                <a:cs typeface="Aptos Display" pitchFamily="34" charset="-120"/>
              </a:rPr>
              <a:t>R$990</a:t>
            </a:r>
            <a:endParaRPr lang="en-US" sz="5100" dirty="0"/>
          </a:p>
        </p:txBody>
      </p:sp>
      <p:sp>
        <p:nvSpPr>
          <p:cNvPr id="13" name="Text 10"/>
          <p:cNvSpPr/>
          <p:nvPr/>
        </p:nvSpPr>
        <p:spPr>
          <a:xfrm>
            <a:off x="850392" y="3986784"/>
            <a:ext cx="4206240" cy="438912"/>
          </a:xfrm>
          <a:prstGeom prst="rect">
            <a:avLst/>
          </a:prstGeom>
          <a:noFill/>
          <a:ln/>
        </p:spPr>
        <p:txBody>
          <a:bodyPr wrap="square" lIns="0" tIns="0" rIns="0" bIns="0" rtlCol="0" anchor="t">
            <a:normAutofit/>
          </a:bodyPr>
          <a:lstStyle/>
          <a:p>
            <a:pPr indent="0" marL="0">
              <a:buNone/>
            </a:pPr>
            <a:r>
              <a:rPr lang="en-US" sz="1800" dirty="0">
                <a:solidFill>
                  <a:srgbClr val="FCFAF6"/>
                </a:solidFill>
                <a:latin typeface="Aptos" pitchFamily="34" charset="0"/>
                <a:ea typeface="Aptos" pitchFamily="34" charset="-122"/>
                <a:cs typeface="Aptos" pitchFamily="34" charset="-120"/>
              </a:rPr>
              <a:t>/ clínica / mês + consumo do canal</a:t>
            </a:r>
            <a:endParaRPr lang="en-US" sz="1800" dirty="0"/>
          </a:p>
        </p:txBody>
      </p:sp>
      <p:sp>
        <p:nvSpPr>
          <p:cNvPr id="14" name="Text 11"/>
          <p:cNvSpPr/>
          <p:nvPr/>
        </p:nvSpPr>
        <p:spPr>
          <a:xfrm>
            <a:off x="850392" y="4709160"/>
            <a:ext cx="4251960" cy="658368"/>
          </a:xfrm>
          <a:prstGeom prst="rect">
            <a:avLst/>
          </a:prstGeom>
          <a:noFill/>
          <a:ln/>
        </p:spPr>
        <p:txBody>
          <a:bodyPr wrap="square" lIns="0" tIns="0" rIns="0" bIns="0" rtlCol="0" anchor="t">
            <a:normAutofit/>
          </a:bodyPr>
          <a:lstStyle/>
          <a:p>
            <a:pPr indent="0" marL="0">
              <a:buNone/>
            </a:pPr>
            <a:r>
              <a:rPr lang="en-US" sz="1300" dirty="0">
                <a:solidFill>
                  <a:srgbClr val="C6DBD1"/>
                </a:solidFill>
                <a:latin typeface="Aptos" pitchFamily="34" charset="0"/>
                <a:ea typeface="Aptos" pitchFamily="34" charset="-122"/>
                <a:cs typeface="Aptos" pitchFamily="34" charset="-120"/>
              </a:rPr>
              <a:t>Operação administrativa + agenda + handoff + métricas.</a:t>
            </a:r>
            <a:endParaRPr lang="en-US" sz="1300" dirty="0"/>
          </a:p>
          <a:p>
            <a:pPr indent="0" marL="0">
              <a:buNone/>
            </a:pPr>
            <a:r>
              <a:rPr lang="en-US" sz="1300" dirty="0">
                <a:solidFill>
                  <a:srgbClr val="C6DBD1"/>
                </a:solidFill>
                <a:latin typeface="Aptos" pitchFamily="34" charset="0"/>
                <a:ea typeface="Aptos" pitchFamily="34" charset="-122"/>
                <a:cs typeface="Aptos" pitchFamily="34" charset="-120"/>
              </a:rPr>
              <a:t>Limites e serviços definidos em contrato.</a:t>
            </a:r>
            <a:endParaRPr lang="en-US" sz="1300" dirty="0"/>
          </a:p>
        </p:txBody>
      </p:sp>
      <p:sp>
        <p:nvSpPr>
          <p:cNvPr id="15" name="Shape 12"/>
          <p:cNvSpPr/>
          <p:nvPr/>
        </p:nvSpPr>
        <p:spPr>
          <a:xfrm>
            <a:off x="6016752" y="2638044"/>
            <a:ext cx="64008" cy="64008"/>
          </a:xfrm>
          <a:prstGeom prst="ellipse">
            <a:avLst/>
          </a:prstGeom>
          <a:solidFill>
            <a:srgbClr val="0F766E"/>
          </a:solidFill>
          <a:ln w="12700">
            <a:solidFill>
              <a:srgbClr val="0F766E"/>
            </a:solidFill>
            <a:prstDash val="solid"/>
          </a:ln>
        </p:spPr>
      </p:sp>
      <p:sp>
        <p:nvSpPr>
          <p:cNvPr id="16" name="Text 13"/>
          <p:cNvSpPr/>
          <p:nvPr/>
        </p:nvSpPr>
        <p:spPr>
          <a:xfrm>
            <a:off x="6217920" y="2560320"/>
            <a:ext cx="5221224" cy="484632"/>
          </a:xfrm>
          <a:prstGeom prst="rect">
            <a:avLst/>
          </a:prstGeom>
          <a:noFill/>
          <a:ln/>
        </p:spPr>
        <p:txBody>
          <a:bodyPr wrap="square" lIns="0" tIns="0" rIns="0" bIns="0" rtlCol="0" anchor="t">
            <a:normAutofit/>
          </a:bodyPr>
          <a:lstStyle/>
          <a:p>
            <a:pPr indent="0" marL="0">
              <a:buNone/>
            </a:pPr>
            <a:r>
              <a:rPr lang="en-US" sz="1450" dirty="0">
                <a:solidFill>
                  <a:srgbClr val="17312F"/>
                </a:solidFill>
                <a:latin typeface="Aptos" pitchFamily="34" charset="0"/>
                <a:ea typeface="Aptos" pitchFamily="34" charset="-122"/>
                <a:cs typeface="Aptos" pitchFamily="34" charset="-120"/>
              </a:rPr>
              <a:t>Piloto de 30 dias com baseline e escopo escrito.</a:t>
            </a:r>
            <a:endParaRPr lang="en-US" sz="1450" dirty="0"/>
          </a:p>
        </p:txBody>
      </p:sp>
      <p:sp>
        <p:nvSpPr>
          <p:cNvPr id="17" name="Shape 14"/>
          <p:cNvSpPr/>
          <p:nvPr/>
        </p:nvSpPr>
        <p:spPr>
          <a:xfrm>
            <a:off x="6016752" y="3232404"/>
            <a:ext cx="64008" cy="64008"/>
          </a:xfrm>
          <a:prstGeom prst="ellipse">
            <a:avLst/>
          </a:prstGeom>
          <a:solidFill>
            <a:srgbClr val="0F766E"/>
          </a:solidFill>
          <a:ln w="12700">
            <a:solidFill>
              <a:srgbClr val="0F766E"/>
            </a:solidFill>
            <a:prstDash val="solid"/>
          </a:ln>
        </p:spPr>
      </p:sp>
      <p:sp>
        <p:nvSpPr>
          <p:cNvPr id="18" name="Text 15"/>
          <p:cNvSpPr/>
          <p:nvPr/>
        </p:nvSpPr>
        <p:spPr>
          <a:xfrm>
            <a:off x="6217920" y="3154680"/>
            <a:ext cx="5221224" cy="484632"/>
          </a:xfrm>
          <a:prstGeom prst="rect">
            <a:avLst/>
          </a:prstGeom>
          <a:noFill/>
          <a:ln/>
        </p:spPr>
        <p:txBody>
          <a:bodyPr wrap="square" lIns="0" tIns="0" rIns="0" bIns="0" rtlCol="0" anchor="t">
            <a:normAutofit/>
          </a:bodyPr>
          <a:lstStyle/>
          <a:p>
            <a:pPr indent="0" marL="0">
              <a:buNone/>
            </a:pPr>
            <a:r>
              <a:rPr lang="en-US" sz="1450" dirty="0">
                <a:solidFill>
                  <a:srgbClr val="17312F"/>
                </a:solidFill>
                <a:latin typeface="Aptos" pitchFamily="34" charset="0"/>
                <a:ea typeface="Aptos" pitchFamily="34" charset="-122"/>
                <a:cs typeface="Aptos" pitchFamily="34" charset="-120"/>
              </a:rPr>
              <a:t>Cobrança por clínica; não esconder implantação.</a:t>
            </a:r>
            <a:endParaRPr lang="en-US" sz="1450" dirty="0"/>
          </a:p>
        </p:txBody>
      </p:sp>
      <p:sp>
        <p:nvSpPr>
          <p:cNvPr id="19" name="Shape 16"/>
          <p:cNvSpPr/>
          <p:nvPr/>
        </p:nvSpPr>
        <p:spPr>
          <a:xfrm>
            <a:off x="6016752" y="3826764"/>
            <a:ext cx="64008" cy="64008"/>
          </a:xfrm>
          <a:prstGeom prst="ellipse">
            <a:avLst/>
          </a:prstGeom>
          <a:solidFill>
            <a:srgbClr val="0F766E"/>
          </a:solidFill>
          <a:ln w="12700">
            <a:solidFill>
              <a:srgbClr val="0F766E"/>
            </a:solidFill>
            <a:prstDash val="solid"/>
          </a:ln>
        </p:spPr>
      </p:sp>
      <p:sp>
        <p:nvSpPr>
          <p:cNvPr id="20" name="Text 17"/>
          <p:cNvSpPr/>
          <p:nvPr/>
        </p:nvSpPr>
        <p:spPr>
          <a:xfrm>
            <a:off x="6217920" y="3749040"/>
            <a:ext cx="5221224" cy="484632"/>
          </a:xfrm>
          <a:prstGeom prst="rect">
            <a:avLst/>
          </a:prstGeom>
          <a:noFill/>
          <a:ln/>
        </p:spPr>
        <p:txBody>
          <a:bodyPr wrap="square" lIns="0" tIns="0" rIns="0" bIns="0" rtlCol="0" anchor="t">
            <a:normAutofit/>
          </a:bodyPr>
          <a:lstStyle/>
          <a:p>
            <a:pPr indent="0" marL="0">
              <a:buNone/>
            </a:pPr>
            <a:r>
              <a:rPr lang="en-US" sz="1450" dirty="0">
                <a:solidFill>
                  <a:srgbClr val="17312F"/>
                </a:solidFill>
                <a:latin typeface="Aptos" pitchFamily="34" charset="0"/>
                <a:ea typeface="Aptos" pitchFamily="34" charset="-122"/>
                <a:cs typeface="Aptos" pitchFamily="34" charset="-120"/>
              </a:rPr>
              <a:t>Mensagens e provedor com franquia ou repasse claro.</a:t>
            </a:r>
            <a:endParaRPr lang="en-US" sz="1450" dirty="0"/>
          </a:p>
        </p:txBody>
      </p:sp>
      <p:sp>
        <p:nvSpPr>
          <p:cNvPr id="21" name="Shape 18"/>
          <p:cNvSpPr/>
          <p:nvPr/>
        </p:nvSpPr>
        <p:spPr>
          <a:xfrm>
            <a:off x="6016752" y="4421124"/>
            <a:ext cx="64008" cy="64008"/>
          </a:xfrm>
          <a:prstGeom prst="ellipse">
            <a:avLst/>
          </a:prstGeom>
          <a:solidFill>
            <a:srgbClr val="0F766E"/>
          </a:solidFill>
          <a:ln w="12700">
            <a:solidFill>
              <a:srgbClr val="0F766E"/>
            </a:solidFill>
            <a:prstDash val="solid"/>
          </a:ln>
        </p:spPr>
      </p:sp>
      <p:sp>
        <p:nvSpPr>
          <p:cNvPr id="22" name="Text 19"/>
          <p:cNvSpPr/>
          <p:nvPr/>
        </p:nvSpPr>
        <p:spPr>
          <a:xfrm>
            <a:off x="6217920" y="4343400"/>
            <a:ext cx="5221224" cy="484632"/>
          </a:xfrm>
          <a:prstGeom prst="rect">
            <a:avLst/>
          </a:prstGeom>
          <a:noFill/>
          <a:ln/>
        </p:spPr>
        <p:txBody>
          <a:bodyPr wrap="square" lIns="0" tIns="0" rIns="0" bIns="0" rtlCol="0" anchor="t">
            <a:normAutofit/>
          </a:bodyPr>
          <a:lstStyle/>
          <a:p>
            <a:pPr indent="0" marL="0">
              <a:buNone/>
            </a:pPr>
            <a:r>
              <a:rPr lang="en-US" sz="1450" dirty="0">
                <a:solidFill>
                  <a:srgbClr val="17312F"/>
                </a:solidFill>
                <a:latin typeface="Aptos" pitchFamily="34" charset="0"/>
                <a:ea typeface="Aptos" pitchFamily="34" charset="-122"/>
                <a:cs typeface="Aptos" pitchFamily="34" charset="-120"/>
              </a:rPr>
              <a:t>Integração externa cotada depois de discovery.</a:t>
            </a:r>
            <a:endParaRPr lang="en-US" sz="1450" dirty="0"/>
          </a:p>
        </p:txBody>
      </p:sp>
      <p:sp>
        <p:nvSpPr>
          <p:cNvPr id="23" name="Shape 20"/>
          <p:cNvSpPr/>
          <p:nvPr/>
        </p:nvSpPr>
        <p:spPr>
          <a:xfrm>
            <a:off x="6016752" y="5015484"/>
            <a:ext cx="64008" cy="64008"/>
          </a:xfrm>
          <a:prstGeom prst="ellipse">
            <a:avLst/>
          </a:prstGeom>
          <a:solidFill>
            <a:srgbClr val="0F766E"/>
          </a:solidFill>
          <a:ln w="12700">
            <a:solidFill>
              <a:srgbClr val="0F766E"/>
            </a:solidFill>
            <a:prstDash val="solid"/>
          </a:ln>
        </p:spPr>
      </p:sp>
      <p:sp>
        <p:nvSpPr>
          <p:cNvPr id="24" name="Text 21"/>
          <p:cNvSpPr/>
          <p:nvPr/>
        </p:nvSpPr>
        <p:spPr>
          <a:xfrm>
            <a:off x="6217920" y="4937760"/>
            <a:ext cx="5221224" cy="484632"/>
          </a:xfrm>
          <a:prstGeom prst="rect">
            <a:avLst/>
          </a:prstGeom>
          <a:noFill/>
          <a:ln/>
        </p:spPr>
        <p:txBody>
          <a:bodyPr wrap="square" lIns="0" tIns="0" rIns="0" bIns="0" rtlCol="0" anchor="t">
            <a:normAutofit/>
          </a:bodyPr>
          <a:lstStyle/>
          <a:p>
            <a:pPr indent="0" marL="0">
              <a:buNone/>
            </a:pPr>
            <a:r>
              <a:rPr lang="en-US" sz="1450" dirty="0">
                <a:solidFill>
                  <a:srgbClr val="17312F"/>
                </a:solidFill>
                <a:latin typeface="Aptos" pitchFamily="34" charset="0"/>
                <a:ea typeface="Aptos" pitchFamily="34" charset="-122"/>
                <a:cs typeface="Aptos" pitchFamily="34" charset="-120"/>
              </a:rPr>
              <a:t>Teste R$790 vs R$990 vs R$1.490 em propostas reais.</a:t>
            </a:r>
            <a:endParaRPr lang="en-US" sz="1450" dirty="0"/>
          </a:p>
        </p:txBody>
      </p:sp>
      <p:sp>
        <p:nvSpPr>
          <p:cNvPr id="25" name="Text 22"/>
          <p:cNvSpPr/>
          <p:nvPr/>
        </p:nvSpPr>
        <p:spPr>
          <a:xfrm>
            <a:off x="6217920" y="5541264"/>
            <a:ext cx="5138928" cy="393192"/>
          </a:xfrm>
          <a:prstGeom prst="rect">
            <a:avLst/>
          </a:prstGeom>
          <a:noFill/>
          <a:ln/>
        </p:spPr>
        <p:txBody>
          <a:bodyPr wrap="square" lIns="0" tIns="0" rIns="0" bIns="0" rtlCol="0" anchor="t">
            <a:normAutofit/>
          </a:bodyPr>
          <a:lstStyle/>
          <a:p>
            <a:pPr indent="0" marL="0">
              <a:buNone/>
            </a:pPr>
            <a:r>
              <a:rPr lang="en-US" sz="1040" dirty="0">
                <a:solidFill>
                  <a:srgbClr val="657775"/>
                </a:solidFill>
                <a:latin typeface="Aptos" pitchFamily="34" charset="0"/>
                <a:ea typeface="Aptos" pitchFamily="34" charset="-122"/>
                <a:cs typeface="Aptos" pitchFamily="34" charset="-120"/>
              </a:rPr>
              <a:t>Não comparar diretamente com R$199/profissional de um prontuário: são funções e unidades de cobrança diferentes.</a:t>
            </a:r>
            <a:endParaRPr lang="en-US" sz="104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24 / ECONOMIA UNITÁRIA — CENÁRIO MENSAL</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A margem precisa sobreviver</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a mensagens, retries e suporte humano.</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Orçamento ilustrativo por clínica; antes de impostos, CAC, inadimplência e despesas fixas.</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S9 · WhatsApp — preços da plataforma   |   S10 · Microsoft Learn — Advanced Messaging pricing</a:t>
            </a:r>
            <a:endParaRPr lang="en-US" sz="720" dirty="0"/>
          </a:p>
        </p:txBody>
      </p:sp>
      <p:sp>
        <p:nvSpPr>
          <p:cNvPr id="9" name="Shape 6"/>
          <p:cNvSpPr/>
          <p:nvPr/>
        </p:nvSpPr>
        <p:spPr>
          <a:xfrm>
            <a:off x="557784" y="2194560"/>
            <a:ext cx="11109960" cy="384048"/>
          </a:xfrm>
          <a:prstGeom prst="rect">
            <a:avLst>
              <a:gd name="adj" fmla="val 28571"/>
            </a:avLst>
          </a:prstGeom>
          <a:solidFill>
            <a:srgbClr val="0B3430"/>
          </a:solidFill>
          <a:ln w="8890">
            <a:solidFill>
              <a:srgbClr val="0B3430"/>
            </a:solidFill>
            <a:prstDash val="solid"/>
          </a:ln>
        </p:spPr>
      </p:sp>
      <p:sp>
        <p:nvSpPr>
          <p:cNvPr id="10" name="Text 7"/>
          <p:cNvSpPr/>
          <p:nvPr/>
        </p:nvSpPr>
        <p:spPr>
          <a:xfrm>
            <a:off x="649224" y="2295144"/>
            <a:ext cx="2871216"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Componente</a:t>
            </a:r>
            <a:endParaRPr lang="en-US" sz="1050" dirty="0"/>
          </a:p>
        </p:txBody>
      </p:sp>
      <p:sp>
        <p:nvSpPr>
          <p:cNvPr id="11" name="Text 8"/>
          <p:cNvSpPr/>
          <p:nvPr/>
        </p:nvSpPr>
        <p:spPr>
          <a:xfrm>
            <a:off x="3703320" y="2295144"/>
            <a:ext cx="2505456"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Valor simulado</a:t>
            </a:r>
            <a:endParaRPr lang="en-US" sz="1050" dirty="0"/>
          </a:p>
        </p:txBody>
      </p:sp>
      <p:sp>
        <p:nvSpPr>
          <p:cNvPr id="12" name="Text 9"/>
          <p:cNvSpPr/>
          <p:nvPr/>
        </p:nvSpPr>
        <p:spPr>
          <a:xfrm>
            <a:off x="6391656" y="2295144"/>
            <a:ext cx="5184648"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Como validar</a:t>
            </a:r>
            <a:endParaRPr lang="en-US" sz="1050" dirty="0"/>
          </a:p>
        </p:txBody>
      </p:sp>
      <p:sp>
        <p:nvSpPr>
          <p:cNvPr id="13" name="Shape 10"/>
          <p:cNvSpPr/>
          <p:nvPr/>
        </p:nvSpPr>
        <p:spPr>
          <a:xfrm>
            <a:off x="557784" y="2578608"/>
            <a:ext cx="11109960" cy="475488"/>
          </a:xfrm>
          <a:prstGeom prst="rect">
            <a:avLst>
              <a:gd name="adj" fmla="val 23077"/>
            </a:avLst>
          </a:prstGeom>
          <a:solidFill>
            <a:srgbClr val="FFFFFF"/>
          </a:solidFill>
          <a:ln w="8890">
            <a:solidFill>
              <a:srgbClr val="DCE5DF"/>
            </a:solidFill>
            <a:prstDash val="solid"/>
          </a:ln>
        </p:spPr>
      </p:sp>
      <p:sp>
        <p:nvSpPr>
          <p:cNvPr id="14" name="Text 11"/>
          <p:cNvSpPr/>
          <p:nvPr/>
        </p:nvSpPr>
        <p:spPr>
          <a:xfrm>
            <a:off x="649224" y="2670048"/>
            <a:ext cx="2871216" cy="329184"/>
          </a:xfrm>
          <a:prstGeom prst="rect">
            <a:avLst/>
          </a:prstGeom>
          <a:noFill/>
          <a:ln/>
        </p:spPr>
        <p:txBody>
          <a:bodyPr wrap="square" lIns="0" tIns="0" rIns="0" bIns="0" rtlCol="0" anchor="t">
            <a:normAutofit/>
          </a:bodyPr>
          <a:lstStyle/>
          <a:p>
            <a:pPr indent="0" marL="0">
              <a:buNone/>
            </a:pPr>
            <a:r>
              <a:rPr lang="en-US" sz="1230" b="1" dirty="0">
                <a:solidFill>
                  <a:srgbClr val="0F766E"/>
                </a:solidFill>
                <a:latin typeface="Aptos Display" pitchFamily="34" charset="0"/>
                <a:ea typeface="Aptos Display" pitchFamily="34" charset="-122"/>
                <a:cs typeface="Aptos Display" pitchFamily="34" charset="-120"/>
              </a:rPr>
              <a:t>Assinatura SaaS</a:t>
            </a:r>
            <a:endParaRPr lang="en-US" sz="1230" dirty="0"/>
          </a:p>
        </p:txBody>
      </p:sp>
      <p:sp>
        <p:nvSpPr>
          <p:cNvPr id="15" name="Text 12"/>
          <p:cNvSpPr/>
          <p:nvPr/>
        </p:nvSpPr>
        <p:spPr>
          <a:xfrm>
            <a:off x="3703320" y="2670048"/>
            <a:ext cx="2505456" cy="329184"/>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R$990</a:t>
            </a:r>
            <a:endParaRPr lang="en-US" sz="1230" dirty="0"/>
          </a:p>
        </p:txBody>
      </p:sp>
      <p:sp>
        <p:nvSpPr>
          <p:cNvPr id="16" name="Text 13"/>
          <p:cNvSpPr/>
          <p:nvPr/>
        </p:nvSpPr>
        <p:spPr>
          <a:xfrm>
            <a:off x="6391656" y="2670048"/>
            <a:ext cx="5184648" cy="329184"/>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Contrato e pagamento, não intenção de compra</a:t>
            </a:r>
            <a:endParaRPr lang="en-US" sz="1230" dirty="0"/>
          </a:p>
        </p:txBody>
      </p:sp>
      <p:sp>
        <p:nvSpPr>
          <p:cNvPr id="17" name="Shape 14"/>
          <p:cNvSpPr/>
          <p:nvPr/>
        </p:nvSpPr>
        <p:spPr>
          <a:xfrm>
            <a:off x="557784" y="3054096"/>
            <a:ext cx="11109960" cy="475488"/>
          </a:xfrm>
          <a:prstGeom prst="rect">
            <a:avLst>
              <a:gd name="adj" fmla="val 23077"/>
            </a:avLst>
          </a:prstGeom>
          <a:solidFill>
            <a:srgbClr val="FCFAF6"/>
          </a:solidFill>
          <a:ln w="8890">
            <a:solidFill>
              <a:srgbClr val="DCE5DF"/>
            </a:solidFill>
            <a:prstDash val="solid"/>
          </a:ln>
        </p:spPr>
      </p:sp>
      <p:sp>
        <p:nvSpPr>
          <p:cNvPr id="18" name="Text 15"/>
          <p:cNvSpPr/>
          <p:nvPr/>
        </p:nvSpPr>
        <p:spPr>
          <a:xfrm>
            <a:off x="649224" y="3145536"/>
            <a:ext cx="2871216" cy="329184"/>
          </a:xfrm>
          <a:prstGeom prst="rect">
            <a:avLst/>
          </a:prstGeom>
          <a:noFill/>
          <a:ln/>
        </p:spPr>
        <p:txBody>
          <a:bodyPr wrap="square" lIns="0" tIns="0" rIns="0" bIns="0" rtlCol="0" anchor="t">
            <a:normAutofit/>
          </a:bodyPr>
          <a:lstStyle/>
          <a:p>
            <a:pPr indent="0" marL="0">
              <a:buNone/>
            </a:pPr>
            <a:r>
              <a:rPr lang="en-US" sz="1230" b="1" dirty="0">
                <a:solidFill>
                  <a:srgbClr val="0F766E"/>
                </a:solidFill>
                <a:latin typeface="Aptos Display" pitchFamily="34" charset="0"/>
                <a:ea typeface="Aptos Display" pitchFamily="34" charset="-122"/>
                <a:cs typeface="Aptos Display" pitchFamily="34" charset="-120"/>
              </a:rPr>
              <a:t>Consumo de canal repassado</a:t>
            </a:r>
            <a:endParaRPr lang="en-US" sz="1230" dirty="0"/>
          </a:p>
        </p:txBody>
      </p:sp>
      <p:sp>
        <p:nvSpPr>
          <p:cNvPr id="19" name="Text 16"/>
          <p:cNvSpPr/>
          <p:nvPr/>
        </p:nvSpPr>
        <p:spPr>
          <a:xfrm>
            <a:off x="3703320" y="3145536"/>
            <a:ext cx="2505456" cy="329184"/>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R$150</a:t>
            </a:r>
            <a:endParaRPr lang="en-US" sz="1230" dirty="0"/>
          </a:p>
        </p:txBody>
      </p:sp>
      <p:sp>
        <p:nvSpPr>
          <p:cNvPr id="20" name="Text 17"/>
          <p:cNvSpPr/>
          <p:nvPr/>
        </p:nvSpPr>
        <p:spPr>
          <a:xfrm>
            <a:off x="6391656" y="3145536"/>
            <a:ext cx="5184648" cy="329184"/>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Categoria, templates, BSP e fatura real</a:t>
            </a:r>
            <a:endParaRPr lang="en-US" sz="1230" dirty="0"/>
          </a:p>
        </p:txBody>
      </p:sp>
      <p:sp>
        <p:nvSpPr>
          <p:cNvPr id="21" name="Shape 18"/>
          <p:cNvSpPr/>
          <p:nvPr/>
        </p:nvSpPr>
        <p:spPr>
          <a:xfrm>
            <a:off x="557784" y="3529584"/>
            <a:ext cx="11109960" cy="475488"/>
          </a:xfrm>
          <a:prstGeom prst="rect">
            <a:avLst>
              <a:gd name="adj" fmla="val 23077"/>
            </a:avLst>
          </a:prstGeom>
          <a:solidFill>
            <a:srgbClr val="FFFFFF"/>
          </a:solidFill>
          <a:ln w="8890">
            <a:solidFill>
              <a:srgbClr val="DCE5DF"/>
            </a:solidFill>
            <a:prstDash val="solid"/>
          </a:ln>
        </p:spPr>
      </p:sp>
      <p:sp>
        <p:nvSpPr>
          <p:cNvPr id="22" name="Text 19"/>
          <p:cNvSpPr/>
          <p:nvPr/>
        </p:nvSpPr>
        <p:spPr>
          <a:xfrm>
            <a:off x="649224" y="3621024"/>
            <a:ext cx="2871216" cy="329184"/>
          </a:xfrm>
          <a:prstGeom prst="rect">
            <a:avLst/>
          </a:prstGeom>
          <a:noFill/>
          <a:ln/>
        </p:spPr>
        <p:txBody>
          <a:bodyPr wrap="square" lIns="0" tIns="0" rIns="0" bIns="0" rtlCol="0" anchor="t">
            <a:normAutofit/>
          </a:bodyPr>
          <a:lstStyle/>
          <a:p>
            <a:pPr indent="0" marL="0">
              <a:buNone/>
            </a:pPr>
            <a:r>
              <a:rPr lang="en-US" sz="1230" b="1" dirty="0">
                <a:solidFill>
                  <a:srgbClr val="0F766E"/>
                </a:solidFill>
                <a:latin typeface="Aptos Display" pitchFamily="34" charset="0"/>
                <a:ea typeface="Aptos Display" pitchFamily="34" charset="-122"/>
                <a:cs typeface="Aptos Display" pitchFamily="34" charset="-120"/>
              </a:rPr>
              <a:t>Custo de canal</a:t>
            </a:r>
            <a:endParaRPr lang="en-US" sz="1230" dirty="0"/>
          </a:p>
        </p:txBody>
      </p:sp>
      <p:sp>
        <p:nvSpPr>
          <p:cNvPr id="23" name="Text 20"/>
          <p:cNvSpPr/>
          <p:nvPr/>
        </p:nvSpPr>
        <p:spPr>
          <a:xfrm>
            <a:off x="3703320" y="3621024"/>
            <a:ext cx="2505456" cy="329184"/>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−R$150</a:t>
            </a:r>
            <a:endParaRPr lang="en-US" sz="1230" dirty="0"/>
          </a:p>
        </p:txBody>
      </p:sp>
      <p:sp>
        <p:nvSpPr>
          <p:cNvPr id="24" name="Text 21"/>
          <p:cNvSpPr/>
          <p:nvPr/>
        </p:nvSpPr>
        <p:spPr>
          <a:xfrm>
            <a:off x="6391656" y="3621024"/>
            <a:ext cx="5184648" cy="329184"/>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Não confundir repasse com ARR SaaS</a:t>
            </a:r>
            <a:endParaRPr lang="en-US" sz="1230" dirty="0"/>
          </a:p>
        </p:txBody>
      </p:sp>
      <p:sp>
        <p:nvSpPr>
          <p:cNvPr id="25" name="Shape 22"/>
          <p:cNvSpPr/>
          <p:nvPr/>
        </p:nvSpPr>
        <p:spPr>
          <a:xfrm>
            <a:off x="557784" y="4005072"/>
            <a:ext cx="11109960" cy="475488"/>
          </a:xfrm>
          <a:prstGeom prst="rect">
            <a:avLst>
              <a:gd name="adj" fmla="val 23077"/>
            </a:avLst>
          </a:prstGeom>
          <a:solidFill>
            <a:srgbClr val="FCFAF6"/>
          </a:solidFill>
          <a:ln w="8890">
            <a:solidFill>
              <a:srgbClr val="DCE5DF"/>
            </a:solidFill>
            <a:prstDash val="solid"/>
          </a:ln>
        </p:spPr>
      </p:sp>
      <p:sp>
        <p:nvSpPr>
          <p:cNvPr id="26" name="Text 23"/>
          <p:cNvSpPr/>
          <p:nvPr/>
        </p:nvSpPr>
        <p:spPr>
          <a:xfrm>
            <a:off x="649224" y="4096512"/>
            <a:ext cx="2871216" cy="329184"/>
          </a:xfrm>
          <a:prstGeom prst="rect">
            <a:avLst/>
          </a:prstGeom>
          <a:noFill/>
          <a:ln/>
        </p:spPr>
        <p:txBody>
          <a:bodyPr wrap="square" lIns="0" tIns="0" rIns="0" bIns="0" rtlCol="0" anchor="t">
            <a:normAutofit/>
          </a:bodyPr>
          <a:lstStyle/>
          <a:p>
            <a:pPr indent="0" marL="0">
              <a:buNone/>
            </a:pPr>
            <a:r>
              <a:rPr lang="en-US" sz="1230" b="1" dirty="0">
                <a:solidFill>
                  <a:srgbClr val="0F766E"/>
                </a:solidFill>
                <a:latin typeface="Aptos Display" pitchFamily="34" charset="0"/>
                <a:ea typeface="Aptos Display" pitchFamily="34" charset="-122"/>
                <a:cs typeface="Aptos Display" pitchFamily="34" charset="-120"/>
              </a:rPr>
              <a:t>Modelos / infra / suporte</a:t>
            </a:r>
            <a:endParaRPr lang="en-US" sz="1230" dirty="0"/>
          </a:p>
        </p:txBody>
      </p:sp>
      <p:sp>
        <p:nvSpPr>
          <p:cNvPr id="27" name="Text 24"/>
          <p:cNvSpPr/>
          <p:nvPr/>
        </p:nvSpPr>
        <p:spPr>
          <a:xfrm>
            <a:off x="3703320" y="4096512"/>
            <a:ext cx="2505456" cy="329184"/>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−R$40 / −R$40 / −R$100</a:t>
            </a:r>
            <a:endParaRPr lang="en-US" sz="1230" dirty="0"/>
          </a:p>
        </p:txBody>
      </p:sp>
      <p:sp>
        <p:nvSpPr>
          <p:cNvPr id="28" name="Text 25"/>
          <p:cNvSpPr/>
          <p:nvPr/>
        </p:nvSpPr>
        <p:spPr>
          <a:xfrm>
            <a:off x="6391656" y="4096512"/>
            <a:ext cx="5184648" cy="329184"/>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Tokens, tempo de equipe e custo alocado</a:t>
            </a:r>
            <a:endParaRPr lang="en-US" sz="1230" dirty="0"/>
          </a:p>
        </p:txBody>
      </p:sp>
      <p:sp>
        <p:nvSpPr>
          <p:cNvPr id="29" name="Shape 26"/>
          <p:cNvSpPr/>
          <p:nvPr/>
        </p:nvSpPr>
        <p:spPr>
          <a:xfrm>
            <a:off x="566928" y="4690872"/>
            <a:ext cx="3547872" cy="1481328"/>
          </a:xfrm>
          <a:prstGeom prst="roundRect">
            <a:avLst>
              <a:gd name="adj" fmla="val 7407"/>
            </a:avLst>
          </a:prstGeom>
          <a:solidFill>
            <a:srgbClr val="FFFFFF"/>
          </a:solidFill>
          <a:ln w="8890">
            <a:solidFill>
              <a:srgbClr val="DCE5DF"/>
            </a:solidFill>
            <a:prstDash val="solid"/>
          </a:ln>
        </p:spPr>
      </p:sp>
      <p:sp>
        <p:nvSpPr>
          <p:cNvPr id="30" name="Text 27"/>
          <p:cNvSpPr/>
          <p:nvPr/>
        </p:nvSpPr>
        <p:spPr>
          <a:xfrm>
            <a:off x="731520" y="4873752"/>
            <a:ext cx="3218688" cy="548640"/>
          </a:xfrm>
          <a:prstGeom prst="rect">
            <a:avLst/>
          </a:prstGeom>
          <a:noFill/>
          <a:ln/>
        </p:spPr>
        <p:txBody>
          <a:bodyPr wrap="square" lIns="0" tIns="0" rIns="0" bIns="0" rtlCol="0" anchor="t">
            <a:normAutofit/>
          </a:bodyPr>
          <a:lstStyle/>
          <a:p>
            <a:pPr indent="0" marL="0">
              <a:buNone/>
            </a:pPr>
            <a:r>
              <a:rPr lang="en-US" sz="3500" b="1" dirty="0">
                <a:solidFill>
                  <a:srgbClr val="0F766E"/>
                </a:solidFill>
                <a:latin typeface="Aptos Display" pitchFamily="34" charset="0"/>
                <a:ea typeface="Aptos Display" pitchFamily="34" charset="-122"/>
                <a:cs typeface="Aptos Display" pitchFamily="34" charset="-120"/>
              </a:rPr>
              <a:t>R$810</a:t>
            </a:r>
            <a:endParaRPr lang="en-US" sz="3500" dirty="0"/>
          </a:p>
        </p:txBody>
      </p:sp>
      <p:sp>
        <p:nvSpPr>
          <p:cNvPr id="31" name="Text 28"/>
          <p:cNvSpPr/>
          <p:nvPr/>
        </p:nvSpPr>
        <p:spPr>
          <a:xfrm>
            <a:off x="740664" y="5513832"/>
            <a:ext cx="3200400"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Margem bruta mensal</a:t>
            </a:r>
            <a:endParaRPr lang="en-US" sz="1320" dirty="0"/>
          </a:p>
        </p:txBody>
      </p:sp>
      <p:sp>
        <p:nvSpPr>
          <p:cNvPr id="32" name="Text 29"/>
          <p:cNvSpPr/>
          <p:nvPr/>
        </p:nvSpPr>
        <p:spPr>
          <a:xfrm>
            <a:off x="740664" y="5861304"/>
            <a:ext cx="3200400"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R$1.140 faturado − R$330 de custo</a:t>
            </a:r>
            <a:endParaRPr lang="en-US" sz="900" dirty="0"/>
          </a:p>
        </p:txBody>
      </p:sp>
      <p:sp>
        <p:nvSpPr>
          <p:cNvPr id="33" name="Shape 30"/>
          <p:cNvSpPr/>
          <p:nvPr/>
        </p:nvSpPr>
        <p:spPr>
          <a:xfrm>
            <a:off x="4343400" y="4690872"/>
            <a:ext cx="3547872" cy="1481328"/>
          </a:xfrm>
          <a:prstGeom prst="roundRect">
            <a:avLst>
              <a:gd name="adj" fmla="val 7407"/>
            </a:avLst>
          </a:prstGeom>
          <a:solidFill>
            <a:srgbClr val="FFFFFF"/>
          </a:solidFill>
          <a:ln w="8890">
            <a:solidFill>
              <a:srgbClr val="DCE5DF"/>
            </a:solidFill>
            <a:prstDash val="solid"/>
          </a:ln>
        </p:spPr>
      </p:sp>
      <p:sp>
        <p:nvSpPr>
          <p:cNvPr id="34" name="Text 31"/>
          <p:cNvSpPr/>
          <p:nvPr/>
        </p:nvSpPr>
        <p:spPr>
          <a:xfrm>
            <a:off x="4507992" y="4873752"/>
            <a:ext cx="3218688" cy="548640"/>
          </a:xfrm>
          <a:prstGeom prst="rect">
            <a:avLst/>
          </a:prstGeom>
          <a:noFill/>
          <a:ln/>
        </p:spPr>
        <p:txBody>
          <a:bodyPr wrap="square" lIns="0" tIns="0" rIns="0" bIns="0" rtlCol="0" anchor="t">
            <a:normAutofit/>
          </a:bodyPr>
          <a:lstStyle/>
          <a:p>
            <a:pPr indent="0" marL="0">
              <a:buNone/>
            </a:pPr>
            <a:r>
              <a:rPr lang="en-US" sz="3500" b="1" dirty="0">
                <a:solidFill>
                  <a:srgbClr val="0F766E"/>
                </a:solidFill>
                <a:latin typeface="Aptos Display" pitchFamily="34" charset="0"/>
                <a:ea typeface="Aptos Display" pitchFamily="34" charset="-122"/>
                <a:cs typeface="Aptos Display" pitchFamily="34" charset="-120"/>
              </a:rPr>
              <a:t>71,1%</a:t>
            </a:r>
            <a:endParaRPr lang="en-US" sz="3500" dirty="0"/>
          </a:p>
        </p:txBody>
      </p:sp>
      <p:sp>
        <p:nvSpPr>
          <p:cNvPr id="35" name="Text 32"/>
          <p:cNvSpPr/>
          <p:nvPr/>
        </p:nvSpPr>
        <p:spPr>
          <a:xfrm>
            <a:off x="4517136" y="5513832"/>
            <a:ext cx="3200400"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Margem sobre fatura total</a:t>
            </a:r>
            <a:endParaRPr lang="en-US" sz="1320" dirty="0"/>
          </a:p>
        </p:txBody>
      </p:sp>
      <p:sp>
        <p:nvSpPr>
          <p:cNvPr id="36" name="Text 33"/>
          <p:cNvSpPr/>
          <p:nvPr/>
        </p:nvSpPr>
        <p:spPr>
          <a:xfrm>
            <a:off x="4517136" y="5861304"/>
            <a:ext cx="3200400"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SaaS isolado: 81,8%</a:t>
            </a:r>
            <a:endParaRPr lang="en-US" sz="900" dirty="0"/>
          </a:p>
        </p:txBody>
      </p:sp>
      <p:sp>
        <p:nvSpPr>
          <p:cNvPr id="37" name="Shape 34"/>
          <p:cNvSpPr/>
          <p:nvPr/>
        </p:nvSpPr>
        <p:spPr>
          <a:xfrm>
            <a:off x="8129016" y="4690872"/>
            <a:ext cx="3511296" cy="1481328"/>
          </a:xfrm>
          <a:prstGeom prst="roundRect">
            <a:avLst>
              <a:gd name="adj" fmla="val 7407"/>
            </a:avLst>
          </a:prstGeom>
          <a:solidFill>
            <a:srgbClr val="FFFFFF"/>
          </a:solidFill>
          <a:ln w="8890">
            <a:solidFill>
              <a:srgbClr val="DCE5DF"/>
            </a:solidFill>
            <a:prstDash val="solid"/>
          </a:ln>
        </p:spPr>
      </p:sp>
      <p:sp>
        <p:nvSpPr>
          <p:cNvPr id="38" name="Text 35"/>
          <p:cNvSpPr/>
          <p:nvPr/>
        </p:nvSpPr>
        <p:spPr>
          <a:xfrm>
            <a:off x="8293608" y="4873752"/>
            <a:ext cx="3182112" cy="548640"/>
          </a:xfrm>
          <a:prstGeom prst="rect">
            <a:avLst/>
          </a:prstGeom>
          <a:noFill/>
          <a:ln/>
        </p:spPr>
        <p:txBody>
          <a:bodyPr wrap="square" lIns="0" tIns="0" rIns="0" bIns="0" rtlCol="0" anchor="t">
            <a:normAutofit/>
          </a:bodyPr>
          <a:lstStyle/>
          <a:p>
            <a:pPr indent="0" marL="0">
              <a:buNone/>
            </a:pPr>
            <a:r>
              <a:rPr lang="en-US" sz="3500" b="1" dirty="0">
                <a:solidFill>
                  <a:srgbClr val="E67861"/>
                </a:solidFill>
                <a:latin typeface="Aptos Display" pitchFamily="34" charset="0"/>
                <a:ea typeface="Aptos Display" pitchFamily="34" charset="-122"/>
                <a:cs typeface="Aptos Display" pitchFamily="34" charset="-120"/>
              </a:rPr>
              <a:t>54,4%</a:t>
            </a:r>
            <a:endParaRPr lang="en-US" sz="3500" dirty="0"/>
          </a:p>
        </p:txBody>
      </p:sp>
      <p:sp>
        <p:nvSpPr>
          <p:cNvPr id="39" name="Text 36"/>
          <p:cNvSpPr/>
          <p:nvPr/>
        </p:nvSpPr>
        <p:spPr>
          <a:xfrm>
            <a:off x="8302752" y="5513832"/>
            <a:ext cx="3163824" cy="301752"/>
          </a:xfrm>
          <a:prstGeom prst="rect">
            <a:avLst/>
          </a:prstGeom>
          <a:noFill/>
          <a:ln/>
        </p:spPr>
        <p:txBody>
          <a:bodyPr wrap="square" lIns="0" tIns="0" rIns="0" bIns="0" rtlCol="0" anchor="t">
            <a:normAutofit/>
          </a:bodyPr>
          <a:lstStyle/>
          <a:p>
            <a:pPr indent="0" marL="0">
              <a:buNone/>
            </a:pPr>
            <a:r>
              <a:rPr lang="en-US" sz="1320" b="1" dirty="0">
                <a:solidFill>
                  <a:srgbClr val="17312F"/>
                </a:solidFill>
                <a:latin typeface="Aptos Display" pitchFamily="34" charset="0"/>
                <a:ea typeface="Aptos Display" pitchFamily="34" charset="-122"/>
                <a:cs typeface="Aptos Display" pitchFamily="34" charset="-120"/>
              </a:rPr>
              <a:t>Se suporte sobe a R$290</a:t>
            </a:r>
            <a:endParaRPr lang="en-US" sz="1320" dirty="0"/>
          </a:p>
        </p:txBody>
      </p:sp>
      <p:sp>
        <p:nvSpPr>
          <p:cNvPr id="40" name="Text 37"/>
          <p:cNvSpPr/>
          <p:nvPr/>
        </p:nvSpPr>
        <p:spPr>
          <a:xfrm>
            <a:off x="8302752" y="5861304"/>
            <a:ext cx="3163824" cy="201168"/>
          </a:xfrm>
          <a:prstGeom prst="rect">
            <a:avLst/>
          </a:prstGeom>
          <a:noFill/>
          <a:ln/>
        </p:spPr>
        <p:txBody>
          <a:bodyPr wrap="square" lIns="0" tIns="0" rIns="0" bIns="0" rtlCol="0" anchor="t">
            <a:normAutofit/>
          </a:bodyPr>
          <a:lstStyle/>
          <a:p>
            <a:pPr indent="0" marL="0">
              <a:buNone/>
            </a:pPr>
            <a:r>
              <a:rPr lang="en-US" sz="900" dirty="0">
                <a:solidFill>
                  <a:srgbClr val="657775"/>
                </a:solidFill>
                <a:latin typeface="Aptos" pitchFamily="34" charset="0"/>
                <a:ea typeface="Aptos" pitchFamily="34" charset="-122"/>
                <a:cs typeface="Aptos" pitchFamily="34" charset="-120"/>
              </a:rPr>
              <a:t>Mesmos outros custos; cenário de stress</a:t>
            </a:r>
            <a:endParaRPr lang="en-US" sz="9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25 / ESCALA POR NÚMERO DE CLÍNICAS</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Há caminho para receita relevante.</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Isso ainda não é um TAM validado.</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Cenários de ARR SaaS a R$990/mês; excluem consumo repassado, descontos, churn e inadimplência.</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Análise Oria · hipóteses e metas explicitadas · 14/10/2026</a:t>
            </a:r>
            <a:endParaRPr lang="en-US" sz="720" dirty="0"/>
          </a:p>
        </p:txBody>
      </p:sp>
      <p:sp>
        <p:nvSpPr>
          <p:cNvPr id="9" name="Text 6"/>
          <p:cNvSpPr/>
          <p:nvPr/>
        </p:nvSpPr>
        <p:spPr>
          <a:xfrm>
            <a:off x="649224" y="2395728"/>
            <a:ext cx="2212848" cy="329184"/>
          </a:xfrm>
          <a:prstGeom prst="rect">
            <a:avLst/>
          </a:prstGeom>
          <a:noFill/>
          <a:ln/>
        </p:spPr>
        <p:txBody>
          <a:bodyPr wrap="square" lIns="0" tIns="0" rIns="0" bIns="0" rtlCol="0" anchor="t">
            <a:normAutofit/>
          </a:bodyPr>
          <a:lstStyle/>
          <a:p>
            <a:pPr indent="0" marL="0">
              <a:buNone/>
            </a:pPr>
            <a:r>
              <a:rPr lang="en-US" sz="1800" b="1" dirty="0">
                <a:solidFill>
                  <a:srgbClr val="17312F"/>
                </a:solidFill>
                <a:latin typeface="Aptos Display" pitchFamily="34" charset="0"/>
                <a:ea typeface="Aptos Display" pitchFamily="34" charset="-122"/>
                <a:cs typeface="Aptos Display" pitchFamily="34" charset="-120"/>
              </a:rPr>
              <a:t>500 clínicas</a:t>
            </a:r>
            <a:endParaRPr lang="en-US" sz="1800" dirty="0"/>
          </a:p>
        </p:txBody>
      </p:sp>
      <p:sp>
        <p:nvSpPr>
          <p:cNvPr id="10" name="Shape 7"/>
          <p:cNvSpPr/>
          <p:nvPr/>
        </p:nvSpPr>
        <p:spPr>
          <a:xfrm>
            <a:off x="2980944" y="2304288"/>
            <a:ext cx="6949440" cy="512064"/>
          </a:xfrm>
          <a:prstGeom prst="rect">
            <a:avLst>
              <a:gd name="adj" fmla="val 21429"/>
            </a:avLst>
          </a:prstGeom>
          <a:solidFill>
            <a:srgbClr val="E8EDE6"/>
          </a:solidFill>
          <a:ln w="8890">
            <a:solidFill>
              <a:srgbClr val="E8EDE6"/>
            </a:solidFill>
            <a:prstDash val="solid"/>
          </a:ln>
        </p:spPr>
      </p:sp>
      <p:sp>
        <p:nvSpPr>
          <p:cNvPr id="11" name="Shape 8"/>
          <p:cNvSpPr/>
          <p:nvPr/>
        </p:nvSpPr>
        <p:spPr>
          <a:xfrm>
            <a:off x="2980944" y="2304288"/>
            <a:ext cx="347472" cy="512064"/>
          </a:xfrm>
          <a:prstGeom prst="rect">
            <a:avLst>
              <a:gd name="adj" fmla="val 31579"/>
            </a:avLst>
          </a:prstGeom>
          <a:solidFill>
            <a:srgbClr val="0F766E"/>
          </a:solidFill>
          <a:ln w="8890">
            <a:solidFill>
              <a:srgbClr val="0F766E"/>
            </a:solidFill>
            <a:prstDash val="solid"/>
          </a:ln>
        </p:spPr>
      </p:sp>
      <p:sp>
        <p:nvSpPr>
          <p:cNvPr id="12" name="Text 9"/>
          <p:cNvSpPr/>
          <p:nvPr/>
        </p:nvSpPr>
        <p:spPr>
          <a:xfrm>
            <a:off x="10085832" y="2359152"/>
            <a:ext cx="1444752" cy="411480"/>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R$5,94 mi</a:t>
            </a:r>
            <a:endParaRPr lang="en-US" sz="1800" dirty="0"/>
          </a:p>
        </p:txBody>
      </p:sp>
      <p:sp>
        <p:nvSpPr>
          <p:cNvPr id="13" name="Text 10"/>
          <p:cNvSpPr/>
          <p:nvPr/>
        </p:nvSpPr>
        <p:spPr>
          <a:xfrm>
            <a:off x="649224" y="3319272"/>
            <a:ext cx="2212848" cy="329184"/>
          </a:xfrm>
          <a:prstGeom prst="rect">
            <a:avLst/>
          </a:prstGeom>
          <a:noFill/>
          <a:ln/>
        </p:spPr>
        <p:txBody>
          <a:bodyPr wrap="square" lIns="0" tIns="0" rIns="0" bIns="0" rtlCol="0" anchor="t">
            <a:normAutofit/>
          </a:bodyPr>
          <a:lstStyle/>
          <a:p>
            <a:pPr indent="0" marL="0">
              <a:buNone/>
            </a:pPr>
            <a:r>
              <a:rPr lang="en-US" sz="1800" b="1" dirty="0">
                <a:solidFill>
                  <a:srgbClr val="17312F"/>
                </a:solidFill>
                <a:latin typeface="Aptos Display" pitchFamily="34" charset="0"/>
                <a:ea typeface="Aptos Display" pitchFamily="34" charset="-122"/>
                <a:cs typeface="Aptos Display" pitchFamily="34" charset="-120"/>
              </a:rPr>
              <a:t>2.000 clínicas</a:t>
            </a:r>
            <a:endParaRPr lang="en-US" sz="1800" dirty="0"/>
          </a:p>
        </p:txBody>
      </p:sp>
      <p:sp>
        <p:nvSpPr>
          <p:cNvPr id="14" name="Shape 11"/>
          <p:cNvSpPr/>
          <p:nvPr/>
        </p:nvSpPr>
        <p:spPr>
          <a:xfrm>
            <a:off x="2980944" y="3227832"/>
            <a:ext cx="6949440" cy="512064"/>
          </a:xfrm>
          <a:prstGeom prst="rect">
            <a:avLst>
              <a:gd name="adj" fmla="val 21429"/>
            </a:avLst>
          </a:prstGeom>
          <a:solidFill>
            <a:srgbClr val="E8EDE6"/>
          </a:solidFill>
          <a:ln w="8890">
            <a:solidFill>
              <a:srgbClr val="E8EDE6"/>
            </a:solidFill>
            <a:prstDash val="solid"/>
          </a:ln>
        </p:spPr>
      </p:sp>
      <p:sp>
        <p:nvSpPr>
          <p:cNvPr id="15" name="Shape 12"/>
          <p:cNvSpPr/>
          <p:nvPr/>
        </p:nvSpPr>
        <p:spPr>
          <a:xfrm>
            <a:off x="2980944" y="3227832"/>
            <a:ext cx="1389888" cy="512064"/>
          </a:xfrm>
          <a:prstGeom prst="rect">
            <a:avLst>
              <a:gd name="adj" fmla="val 21429"/>
            </a:avLst>
          </a:prstGeom>
          <a:solidFill>
            <a:srgbClr val="0F766E"/>
          </a:solidFill>
          <a:ln w="8890">
            <a:solidFill>
              <a:srgbClr val="0F766E"/>
            </a:solidFill>
            <a:prstDash val="solid"/>
          </a:ln>
        </p:spPr>
      </p:sp>
      <p:sp>
        <p:nvSpPr>
          <p:cNvPr id="16" name="Text 13"/>
          <p:cNvSpPr/>
          <p:nvPr/>
        </p:nvSpPr>
        <p:spPr>
          <a:xfrm>
            <a:off x="10085832" y="3282696"/>
            <a:ext cx="1444752" cy="411480"/>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R$23,76 mi</a:t>
            </a:r>
            <a:endParaRPr lang="en-US" sz="1800" dirty="0"/>
          </a:p>
        </p:txBody>
      </p:sp>
      <p:sp>
        <p:nvSpPr>
          <p:cNvPr id="17" name="Text 14"/>
          <p:cNvSpPr/>
          <p:nvPr/>
        </p:nvSpPr>
        <p:spPr>
          <a:xfrm>
            <a:off x="649224" y="4242816"/>
            <a:ext cx="2212848" cy="329184"/>
          </a:xfrm>
          <a:prstGeom prst="rect">
            <a:avLst/>
          </a:prstGeom>
          <a:noFill/>
          <a:ln/>
        </p:spPr>
        <p:txBody>
          <a:bodyPr wrap="square" lIns="0" tIns="0" rIns="0" bIns="0" rtlCol="0" anchor="t">
            <a:normAutofit/>
          </a:bodyPr>
          <a:lstStyle/>
          <a:p>
            <a:pPr indent="0" marL="0">
              <a:buNone/>
            </a:pPr>
            <a:r>
              <a:rPr lang="en-US" sz="1800" b="1" dirty="0">
                <a:solidFill>
                  <a:srgbClr val="17312F"/>
                </a:solidFill>
                <a:latin typeface="Aptos Display" pitchFamily="34" charset="0"/>
                <a:ea typeface="Aptos Display" pitchFamily="34" charset="-122"/>
                <a:cs typeface="Aptos Display" pitchFamily="34" charset="-120"/>
              </a:rPr>
              <a:t>10.000 clínicas</a:t>
            </a:r>
            <a:endParaRPr lang="en-US" sz="1800" dirty="0"/>
          </a:p>
        </p:txBody>
      </p:sp>
      <p:sp>
        <p:nvSpPr>
          <p:cNvPr id="18" name="Shape 15"/>
          <p:cNvSpPr/>
          <p:nvPr/>
        </p:nvSpPr>
        <p:spPr>
          <a:xfrm>
            <a:off x="2980944" y="4151376"/>
            <a:ext cx="6949440" cy="512064"/>
          </a:xfrm>
          <a:prstGeom prst="rect">
            <a:avLst>
              <a:gd name="adj" fmla="val 21429"/>
            </a:avLst>
          </a:prstGeom>
          <a:solidFill>
            <a:srgbClr val="E8EDE6"/>
          </a:solidFill>
          <a:ln w="8890">
            <a:solidFill>
              <a:srgbClr val="E8EDE6"/>
            </a:solidFill>
            <a:prstDash val="solid"/>
          </a:ln>
        </p:spPr>
      </p:sp>
      <p:sp>
        <p:nvSpPr>
          <p:cNvPr id="19" name="Shape 16"/>
          <p:cNvSpPr/>
          <p:nvPr/>
        </p:nvSpPr>
        <p:spPr>
          <a:xfrm>
            <a:off x="2980944" y="4151376"/>
            <a:ext cx="6949440" cy="512064"/>
          </a:xfrm>
          <a:prstGeom prst="rect">
            <a:avLst>
              <a:gd name="adj" fmla="val 21429"/>
            </a:avLst>
          </a:prstGeom>
          <a:solidFill>
            <a:srgbClr val="0F766E"/>
          </a:solidFill>
          <a:ln w="8890">
            <a:solidFill>
              <a:srgbClr val="0F766E"/>
            </a:solidFill>
            <a:prstDash val="solid"/>
          </a:ln>
        </p:spPr>
      </p:sp>
      <p:sp>
        <p:nvSpPr>
          <p:cNvPr id="20" name="Text 17"/>
          <p:cNvSpPr/>
          <p:nvPr/>
        </p:nvSpPr>
        <p:spPr>
          <a:xfrm>
            <a:off x="10085832" y="4206240"/>
            <a:ext cx="1444752" cy="411480"/>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R$118,8 mi</a:t>
            </a:r>
            <a:endParaRPr lang="en-US" sz="1800" dirty="0"/>
          </a:p>
        </p:txBody>
      </p:sp>
      <p:sp>
        <p:nvSpPr>
          <p:cNvPr id="21" name="Shape 18"/>
          <p:cNvSpPr/>
          <p:nvPr/>
        </p:nvSpPr>
        <p:spPr>
          <a:xfrm>
            <a:off x="576072" y="5349240"/>
            <a:ext cx="11045952" cy="594360"/>
          </a:xfrm>
          <a:prstGeom prst="roundRect">
            <a:avLst>
              <a:gd name="adj" fmla="val 18462"/>
            </a:avLst>
          </a:prstGeom>
          <a:solidFill>
            <a:srgbClr val="F4ECDE"/>
          </a:solidFill>
          <a:ln w="8890">
            <a:solidFill>
              <a:srgbClr val="F4ECDE"/>
            </a:solidFill>
            <a:prstDash val="solid"/>
          </a:ln>
        </p:spPr>
      </p:sp>
      <p:sp>
        <p:nvSpPr>
          <p:cNvPr id="22" name="Text 19"/>
          <p:cNvSpPr/>
          <p:nvPr/>
        </p:nvSpPr>
        <p:spPr>
          <a:xfrm>
            <a:off x="786384" y="5532120"/>
            <a:ext cx="10634472" cy="292608"/>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100 clientes = R$1,188 mi de ARR. 3 pagantes no piloto = R$2.970 de MRR; prova inicial, não PMF.</a:t>
            </a:r>
            <a:endParaRPr lang="en-US" sz="15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26 / GO-TO-MARKET DOS PRIMEIROS CLIENTES</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O canal inicial é o fundador.</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O funil inicial cabe numa planilha.</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Metas de atividade e aprendizado — não um pipeline já existente.</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Análise Oria · hipóteses e metas explicitadas · 14/10/2026</a:t>
            </a:r>
            <a:endParaRPr lang="en-US" sz="720" dirty="0"/>
          </a:p>
        </p:txBody>
      </p:sp>
      <p:sp>
        <p:nvSpPr>
          <p:cNvPr id="9" name="Shape 6"/>
          <p:cNvSpPr/>
          <p:nvPr/>
        </p:nvSpPr>
        <p:spPr>
          <a:xfrm>
            <a:off x="603504" y="2532888"/>
            <a:ext cx="1984248" cy="1655064"/>
          </a:xfrm>
          <a:prstGeom prst="roundRect">
            <a:avLst>
              <a:gd name="adj" fmla="val 6630"/>
            </a:avLst>
          </a:prstGeom>
          <a:solidFill>
            <a:srgbClr val="FFFFFF"/>
          </a:solidFill>
          <a:ln w="8890">
            <a:solidFill>
              <a:srgbClr val="DCE5DF"/>
            </a:solidFill>
            <a:prstDash val="solid"/>
          </a:ln>
        </p:spPr>
      </p:sp>
      <p:sp>
        <p:nvSpPr>
          <p:cNvPr id="10" name="Text 7"/>
          <p:cNvSpPr/>
          <p:nvPr/>
        </p:nvSpPr>
        <p:spPr>
          <a:xfrm>
            <a:off x="740664" y="2743200"/>
            <a:ext cx="1700784" cy="658368"/>
          </a:xfrm>
          <a:prstGeom prst="rect">
            <a:avLst/>
          </a:prstGeom>
          <a:noFill/>
          <a:ln/>
        </p:spPr>
        <p:txBody>
          <a:bodyPr wrap="square" lIns="0" tIns="0" rIns="0" bIns="0" rtlCol="0" anchor="t">
            <a:normAutofit/>
          </a:bodyPr>
          <a:lstStyle/>
          <a:p>
            <a:pPr algn="ctr" indent="0" marL="0">
              <a:buNone/>
            </a:pPr>
            <a:r>
              <a:rPr lang="en-US" sz="4200" b="1" dirty="0">
                <a:solidFill>
                  <a:srgbClr val="0F766E"/>
                </a:solidFill>
                <a:latin typeface="Aptos Display" pitchFamily="34" charset="0"/>
                <a:ea typeface="Aptos Display" pitchFamily="34" charset="-122"/>
                <a:cs typeface="Aptos Display" pitchFamily="34" charset="-120"/>
              </a:rPr>
              <a:t>50</a:t>
            </a:r>
            <a:endParaRPr lang="en-US" sz="4200" dirty="0"/>
          </a:p>
        </p:txBody>
      </p:sp>
      <p:sp>
        <p:nvSpPr>
          <p:cNvPr id="11" name="Text 8"/>
          <p:cNvSpPr/>
          <p:nvPr/>
        </p:nvSpPr>
        <p:spPr>
          <a:xfrm>
            <a:off x="740664" y="3657600"/>
            <a:ext cx="1700784" cy="411480"/>
          </a:xfrm>
          <a:prstGeom prst="rect">
            <a:avLst/>
          </a:prstGeom>
          <a:noFill/>
          <a:ln/>
        </p:spPr>
        <p:txBody>
          <a:bodyPr wrap="square" lIns="0" tIns="0" rIns="0" bIns="0" rtlCol="0" anchor="t">
            <a:normAutofit/>
          </a:bodyPr>
          <a:lstStyle/>
          <a:p>
            <a:pPr algn="ctr" indent="0" marL="0">
              <a:buNone/>
            </a:pPr>
            <a:r>
              <a:rPr lang="en-US" sz="1150" b="1" dirty="0">
                <a:solidFill>
                  <a:srgbClr val="17312F"/>
                </a:solidFill>
                <a:latin typeface="Aptos Display" pitchFamily="34" charset="0"/>
                <a:ea typeface="Aptos Display" pitchFamily="34" charset="-122"/>
                <a:cs typeface="Aptos Display" pitchFamily="34" charset="-120"/>
              </a:rPr>
              <a:t>Clínicas-alvo</a:t>
            </a:r>
            <a:endParaRPr lang="en-US" sz="1150" dirty="0"/>
          </a:p>
        </p:txBody>
      </p:sp>
      <p:sp>
        <p:nvSpPr>
          <p:cNvPr id="12" name="Shape 9"/>
          <p:cNvSpPr/>
          <p:nvPr/>
        </p:nvSpPr>
        <p:spPr>
          <a:xfrm>
            <a:off x="2624328" y="3355848"/>
            <a:ext cx="164592" cy="0"/>
          </a:xfrm>
          <a:prstGeom prst="line">
            <a:avLst/>
          </a:prstGeom>
          <a:noFill/>
          <a:ln w="16510">
            <a:solidFill>
              <a:srgbClr val="0F766E"/>
            </a:solidFill>
            <a:prstDash val="solid"/>
            <a:tailEnd type="triangle"/>
          </a:ln>
        </p:spPr>
      </p:sp>
      <p:sp>
        <p:nvSpPr>
          <p:cNvPr id="13" name="Shape 10"/>
          <p:cNvSpPr/>
          <p:nvPr/>
        </p:nvSpPr>
        <p:spPr>
          <a:xfrm>
            <a:off x="2871216" y="2532888"/>
            <a:ext cx="1984248" cy="1655064"/>
          </a:xfrm>
          <a:prstGeom prst="roundRect">
            <a:avLst>
              <a:gd name="adj" fmla="val 6630"/>
            </a:avLst>
          </a:prstGeom>
          <a:solidFill>
            <a:srgbClr val="FFFFFF"/>
          </a:solidFill>
          <a:ln w="8890">
            <a:solidFill>
              <a:srgbClr val="DCE5DF"/>
            </a:solidFill>
            <a:prstDash val="solid"/>
          </a:ln>
        </p:spPr>
      </p:sp>
      <p:sp>
        <p:nvSpPr>
          <p:cNvPr id="14" name="Text 11"/>
          <p:cNvSpPr/>
          <p:nvPr/>
        </p:nvSpPr>
        <p:spPr>
          <a:xfrm>
            <a:off x="3008376" y="2743200"/>
            <a:ext cx="1700784" cy="658368"/>
          </a:xfrm>
          <a:prstGeom prst="rect">
            <a:avLst/>
          </a:prstGeom>
          <a:noFill/>
          <a:ln/>
        </p:spPr>
        <p:txBody>
          <a:bodyPr wrap="square" lIns="0" tIns="0" rIns="0" bIns="0" rtlCol="0" anchor="t">
            <a:normAutofit/>
          </a:bodyPr>
          <a:lstStyle/>
          <a:p>
            <a:pPr algn="ctr" indent="0" marL="0">
              <a:buNone/>
            </a:pPr>
            <a:r>
              <a:rPr lang="en-US" sz="4200" b="1" dirty="0">
                <a:solidFill>
                  <a:srgbClr val="0F766E"/>
                </a:solidFill>
                <a:latin typeface="Aptos Display" pitchFamily="34" charset="0"/>
                <a:ea typeface="Aptos Display" pitchFamily="34" charset="-122"/>
                <a:cs typeface="Aptos Display" pitchFamily="34" charset="-120"/>
              </a:rPr>
              <a:t>15</a:t>
            </a:r>
            <a:endParaRPr lang="en-US" sz="4200" dirty="0"/>
          </a:p>
        </p:txBody>
      </p:sp>
      <p:sp>
        <p:nvSpPr>
          <p:cNvPr id="15" name="Text 12"/>
          <p:cNvSpPr/>
          <p:nvPr/>
        </p:nvSpPr>
        <p:spPr>
          <a:xfrm>
            <a:off x="3008376" y="3657600"/>
            <a:ext cx="1700784" cy="411480"/>
          </a:xfrm>
          <a:prstGeom prst="rect">
            <a:avLst/>
          </a:prstGeom>
          <a:noFill/>
          <a:ln/>
        </p:spPr>
        <p:txBody>
          <a:bodyPr wrap="square" lIns="0" tIns="0" rIns="0" bIns="0" rtlCol="0" anchor="t">
            <a:normAutofit/>
          </a:bodyPr>
          <a:lstStyle/>
          <a:p>
            <a:pPr algn="ctr" indent="0" marL="0">
              <a:buNone/>
            </a:pPr>
            <a:r>
              <a:rPr lang="en-US" sz="1150" b="1" dirty="0">
                <a:solidFill>
                  <a:srgbClr val="17312F"/>
                </a:solidFill>
                <a:latin typeface="Aptos Display" pitchFamily="34" charset="0"/>
                <a:ea typeface="Aptos Display" pitchFamily="34" charset="-122"/>
                <a:cs typeface="Aptos Display" pitchFamily="34" charset="-120"/>
              </a:rPr>
              <a:t>Entrevistas com decisores</a:t>
            </a:r>
            <a:endParaRPr lang="en-US" sz="1150" dirty="0"/>
          </a:p>
        </p:txBody>
      </p:sp>
      <p:sp>
        <p:nvSpPr>
          <p:cNvPr id="16" name="Shape 13"/>
          <p:cNvSpPr/>
          <p:nvPr/>
        </p:nvSpPr>
        <p:spPr>
          <a:xfrm>
            <a:off x="4892040" y="3355848"/>
            <a:ext cx="164592" cy="0"/>
          </a:xfrm>
          <a:prstGeom prst="line">
            <a:avLst/>
          </a:prstGeom>
          <a:noFill/>
          <a:ln w="16510">
            <a:solidFill>
              <a:srgbClr val="0F766E"/>
            </a:solidFill>
            <a:prstDash val="solid"/>
            <a:tailEnd type="triangle"/>
          </a:ln>
        </p:spPr>
      </p:sp>
      <p:sp>
        <p:nvSpPr>
          <p:cNvPr id="17" name="Shape 14"/>
          <p:cNvSpPr/>
          <p:nvPr/>
        </p:nvSpPr>
        <p:spPr>
          <a:xfrm>
            <a:off x="5138928" y="2532888"/>
            <a:ext cx="1984248" cy="1655064"/>
          </a:xfrm>
          <a:prstGeom prst="roundRect">
            <a:avLst>
              <a:gd name="adj" fmla="val 6630"/>
            </a:avLst>
          </a:prstGeom>
          <a:solidFill>
            <a:srgbClr val="FFFFFF"/>
          </a:solidFill>
          <a:ln w="8890">
            <a:solidFill>
              <a:srgbClr val="DCE5DF"/>
            </a:solidFill>
            <a:prstDash val="solid"/>
          </a:ln>
        </p:spPr>
      </p:sp>
      <p:sp>
        <p:nvSpPr>
          <p:cNvPr id="18" name="Text 15"/>
          <p:cNvSpPr/>
          <p:nvPr/>
        </p:nvSpPr>
        <p:spPr>
          <a:xfrm>
            <a:off x="5276088" y="2743200"/>
            <a:ext cx="1700784" cy="658368"/>
          </a:xfrm>
          <a:prstGeom prst="rect">
            <a:avLst/>
          </a:prstGeom>
          <a:noFill/>
          <a:ln/>
        </p:spPr>
        <p:txBody>
          <a:bodyPr wrap="square" lIns="0" tIns="0" rIns="0" bIns="0" rtlCol="0" anchor="t">
            <a:normAutofit/>
          </a:bodyPr>
          <a:lstStyle/>
          <a:p>
            <a:pPr algn="ctr" indent="0" marL="0">
              <a:buNone/>
            </a:pPr>
            <a:r>
              <a:rPr lang="en-US" sz="4200" b="1" dirty="0">
                <a:solidFill>
                  <a:srgbClr val="0F766E"/>
                </a:solidFill>
                <a:latin typeface="Aptos Display" pitchFamily="34" charset="0"/>
                <a:ea typeface="Aptos Display" pitchFamily="34" charset="-122"/>
                <a:cs typeface="Aptos Display" pitchFamily="34" charset="-120"/>
              </a:rPr>
              <a:t>8</a:t>
            </a:r>
            <a:endParaRPr lang="en-US" sz="4200" dirty="0"/>
          </a:p>
        </p:txBody>
      </p:sp>
      <p:sp>
        <p:nvSpPr>
          <p:cNvPr id="19" name="Text 16"/>
          <p:cNvSpPr/>
          <p:nvPr/>
        </p:nvSpPr>
        <p:spPr>
          <a:xfrm>
            <a:off x="5276088" y="3657600"/>
            <a:ext cx="1700784" cy="411480"/>
          </a:xfrm>
          <a:prstGeom prst="rect">
            <a:avLst/>
          </a:prstGeom>
          <a:noFill/>
          <a:ln/>
        </p:spPr>
        <p:txBody>
          <a:bodyPr wrap="square" lIns="0" tIns="0" rIns="0" bIns="0" rtlCol="0" anchor="t">
            <a:normAutofit/>
          </a:bodyPr>
          <a:lstStyle/>
          <a:p>
            <a:pPr algn="ctr" indent="0" marL="0">
              <a:buNone/>
            </a:pPr>
            <a:r>
              <a:rPr lang="en-US" sz="1150" b="1" dirty="0">
                <a:solidFill>
                  <a:srgbClr val="17312F"/>
                </a:solidFill>
                <a:latin typeface="Aptos Display" pitchFamily="34" charset="0"/>
                <a:ea typeface="Aptos Display" pitchFamily="34" charset="-122"/>
                <a:cs typeface="Aptos Display" pitchFamily="34" charset="-120"/>
              </a:rPr>
              <a:t>Workflows elegíveis</a:t>
            </a:r>
            <a:endParaRPr lang="en-US" sz="1150" dirty="0"/>
          </a:p>
        </p:txBody>
      </p:sp>
      <p:sp>
        <p:nvSpPr>
          <p:cNvPr id="20" name="Shape 17"/>
          <p:cNvSpPr/>
          <p:nvPr/>
        </p:nvSpPr>
        <p:spPr>
          <a:xfrm>
            <a:off x="7159752" y="3355848"/>
            <a:ext cx="164592" cy="0"/>
          </a:xfrm>
          <a:prstGeom prst="line">
            <a:avLst/>
          </a:prstGeom>
          <a:noFill/>
          <a:ln w="16510">
            <a:solidFill>
              <a:srgbClr val="0F766E"/>
            </a:solidFill>
            <a:prstDash val="solid"/>
            <a:tailEnd type="triangle"/>
          </a:ln>
        </p:spPr>
      </p:sp>
      <p:sp>
        <p:nvSpPr>
          <p:cNvPr id="21" name="Shape 18"/>
          <p:cNvSpPr/>
          <p:nvPr/>
        </p:nvSpPr>
        <p:spPr>
          <a:xfrm>
            <a:off x="7406640" y="2532888"/>
            <a:ext cx="1984248" cy="1655064"/>
          </a:xfrm>
          <a:prstGeom prst="roundRect">
            <a:avLst>
              <a:gd name="adj" fmla="val 6630"/>
            </a:avLst>
          </a:prstGeom>
          <a:solidFill>
            <a:srgbClr val="FFFFFF"/>
          </a:solidFill>
          <a:ln w="8890">
            <a:solidFill>
              <a:srgbClr val="DCE5DF"/>
            </a:solidFill>
            <a:prstDash val="solid"/>
          </a:ln>
        </p:spPr>
      </p:sp>
      <p:sp>
        <p:nvSpPr>
          <p:cNvPr id="22" name="Text 19"/>
          <p:cNvSpPr/>
          <p:nvPr/>
        </p:nvSpPr>
        <p:spPr>
          <a:xfrm>
            <a:off x="7543800" y="2743200"/>
            <a:ext cx="1700784" cy="658368"/>
          </a:xfrm>
          <a:prstGeom prst="rect">
            <a:avLst/>
          </a:prstGeom>
          <a:noFill/>
          <a:ln/>
        </p:spPr>
        <p:txBody>
          <a:bodyPr wrap="square" lIns="0" tIns="0" rIns="0" bIns="0" rtlCol="0" anchor="t">
            <a:normAutofit/>
          </a:bodyPr>
          <a:lstStyle/>
          <a:p>
            <a:pPr algn="ctr" indent="0" marL="0">
              <a:buNone/>
            </a:pPr>
            <a:r>
              <a:rPr lang="en-US" sz="4200" b="1" dirty="0">
                <a:solidFill>
                  <a:srgbClr val="0F766E"/>
                </a:solidFill>
                <a:latin typeface="Aptos Display" pitchFamily="34" charset="0"/>
                <a:ea typeface="Aptos Display" pitchFamily="34" charset="-122"/>
                <a:cs typeface="Aptos Display" pitchFamily="34" charset="-120"/>
              </a:rPr>
              <a:t>5</a:t>
            </a:r>
            <a:endParaRPr lang="en-US" sz="4200" dirty="0"/>
          </a:p>
        </p:txBody>
      </p:sp>
      <p:sp>
        <p:nvSpPr>
          <p:cNvPr id="23" name="Text 20"/>
          <p:cNvSpPr/>
          <p:nvPr/>
        </p:nvSpPr>
        <p:spPr>
          <a:xfrm>
            <a:off x="7543800" y="3657600"/>
            <a:ext cx="1700784" cy="411480"/>
          </a:xfrm>
          <a:prstGeom prst="rect">
            <a:avLst/>
          </a:prstGeom>
          <a:noFill/>
          <a:ln/>
        </p:spPr>
        <p:txBody>
          <a:bodyPr wrap="square" lIns="0" tIns="0" rIns="0" bIns="0" rtlCol="0" anchor="t">
            <a:normAutofit/>
          </a:bodyPr>
          <a:lstStyle/>
          <a:p>
            <a:pPr algn="ctr" indent="0" marL="0">
              <a:buNone/>
            </a:pPr>
            <a:r>
              <a:rPr lang="en-US" sz="1150" b="1" dirty="0">
                <a:solidFill>
                  <a:srgbClr val="17312F"/>
                </a:solidFill>
                <a:latin typeface="Aptos Display" pitchFamily="34" charset="0"/>
                <a:ea typeface="Aptos Display" pitchFamily="34" charset="-122"/>
                <a:cs typeface="Aptos Display" pitchFamily="34" charset="-120"/>
              </a:rPr>
              <a:t>Pilotos contratados</a:t>
            </a:r>
            <a:endParaRPr lang="en-US" sz="1150" dirty="0"/>
          </a:p>
        </p:txBody>
      </p:sp>
      <p:sp>
        <p:nvSpPr>
          <p:cNvPr id="24" name="Shape 21"/>
          <p:cNvSpPr/>
          <p:nvPr/>
        </p:nvSpPr>
        <p:spPr>
          <a:xfrm>
            <a:off x="9427464" y="3355848"/>
            <a:ext cx="164592" cy="0"/>
          </a:xfrm>
          <a:prstGeom prst="line">
            <a:avLst/>
          </a:prstGeom>
          <a:noFill/>
          <a:ln w="16510">
            <a:solidFill>
              <a:srgbClr val="0F766E"/>
            </a:solidFill>
            <a:prstDash val="solid"/>
            <a:tailEnd type="triangle"/>
          </a:ln>
        </p:spPr>
      </p:sp>
      <p:sp>
        <p:nvSpPr>
          <p:cNvPr id="25" name="Shape 22"/>
          <p:cNvSpPr/>
          <p:nvPr/>
        </p:nvSpPr>
        <p:spPr>
          <a:xfrm>
            <a:off x="9674352" y="2532888"/>
            <a:ext cx="1984248" cy="1655064"/>
          </a:xfrm>
          <a:prstGeom prst="roundRect">
            <a:avLst>
              <a:gd name="adj" fmla="val 6630"/>
            </a:avLst>
          </a:prstGeom>
          <a:solidFill>
            <a:srgbClr val="0B3430"/>
          </a:solidFill>
          <a:ln w="8890">
            <a:solidFill>
              <a:srgbClr val="0B3430"/>
            </a:solidFill>
            <a:prstDash val="solid"/>
          </a:ln>
        </p:spPr>
      </p:sp>
      <p:sp>
        <p:nvSpPr>
          <p:cNvPr id="26" name="Text 23"/>
          <p:cNvSpPr/>
          <p:nvPr/>
        </p:nvSpPr>
        <p:spPr>
          <a:xfrm>
            <a:off x="9811512" y="2743200"/>
            <a:ext cx="1700784" cy="658368"/>
          </a:xfrm>
          <a:prstGeom prst="rect">
            <a:avLst/>
          </a:prstGeom>
          <a:noFill/>
          <a:ln/>
        </p:spPr>
        <p:txBody>
          <a:bodyPr wrap="square" lIns="0" tIns="0" rIns="0" bIns="0" rtlCol="0" anchor="t">
            <a:normAutofit/>
          </a:bodyPr>
          <a:lstStyle/>
          <a:p>
            <a:pPr algn="ctr" indent="0" marL="0">
              <a:buNone/>
            </a:pPr>
            <a:r>
              <a:rPr lang="en-US" sz="4200" b="1" dirty="0">
                <a:solidFill>
                  <a:srgbClr val="FCFAF6"/>
                </a:solidFill>
                <a:latin typeface="Aptos Display" pitchFamily="34" charset="0"/>
                <a:ea typeface="Aptos Display" pitchFamily="34" charset="-122"/>
                <a:cs typeface="Aptos Display" pitchFamily="34" charset="-120"/>
              </a:rPr>
              <a:t>3</a:t>
            </a:r>
            <a:endParaRPr lang="en-US" sz="4200" dirty="0"/>
          </a:p>
        </p:txBody>
      </p:sp>
      <p:sp>
        <p:nvSpPr>
          <p:cNvPr id="27" name="Text 24"/>
          <p:cNvSpPr/>
          <p:nvPr/>
        </p:nvSpPr>
        <p:spPr>
          <a:xfrm>
            <a:off x="9811512" y="3657600"/>
            <a:ext cx="1700784" cy="411480"/>
          </a:xfrm>
          <a:prstGeom prst="rect">
            <a:avLst/>
          </a:prstGeom>
          <a:noFill/>
          <a:ln/>
        </p:spPr>
        <p:txBody>
          <a:bodyPr wrap="square" lIns="0" tIns="0" rIns="0" bIns="0" rtlCol="0" anchor="t">
            <a:normAutofit/>
          </a:bodyPr>
          <a:lstStyle/>
          <a:p>
            <a:pPr algn="ctr" indent="0" marL="0">
              <a:buNone/>
            </a:pPr>
            <a:r>
              <a:rPr lang="en-US" sz="1150" b="1" dirty="0">
                <a:solidFill>
                  <a:srgbClr val="FCFAF6"/>
                </a:solidFill>
                <a:latin typeface="Aptos Display" pitchFamily="34" charset="0"/>
                <a:ea typeface="Aptos Display" pitchFamily="34" charset="-122"/>
                <a:cs typeface="Aptos Display" pitchFamily="34" charset="-120"/>
              </a:rPr>
              <a:t>Clientes pagantes</a:t>
            </a:r>
            <a:endParaRPr lang="en-US" sz="1150" dirty="0"/>
          </a:p>
        </p:txBody>
      </p:sp>
      <p:sp>
        <p:nvSpPr>
          <p:cNvPr id="28" name="Text 25"/>
          <p:cNvSpPr/>
          <p:nvPr/>
        </p:nvSpPr>
        <p:spPr>
          <a:xfrm>
            <a:off x="658368" y="4709160"/>
            <a:ext cx="3291840" cy="292608"/>
          </a:xfrm>
          <a:prstGeom prst="rect">
            <a:avLst/>
          </a:prstGeom>
          <a:noFill/>
          <a:ln/>
        </p:spPr>
        <p:txBody>
          <a:bodyPr wrap="square" lIns="0" tIns="0" rIns="0" bIns="0" rtlCol="0" anchor="t">
            <a:normAutofit/>
          </a:bodyPr>
          <a:lstStyle/>
          <a:p>
            <a:pPr indent="0" marL="0">
              <a:buNone/>
            </a:pPr>
            <a:r>
              <a:rPr lang="en-US" sz="2000" b="1" dirty="0">
                <a:solidFill>
                  <a:srgbClr val="17312F"/>
                </a:solidFill>
                <a:latin typeface="Aptos Display" pitchFamily="34" charset="0"/>
                <a:ea typeface="Aptos Display" pitchFamily="34" charset="-122"/>
                <a:cs typeface="Aptos Display" pitchFamily="34" charset="-120"/>
              </a:rPr>
              <a:t>A entrevista que importa</a:t>
            </a:r>
            <a:endParaRPr lang="en-US" sz="2000" dirty="0"/>
          </a:p>
        </p:txBody>
      </p:sp>
      <p:sp>
        <p:nvSpPr>
          <p:cNvPr id="29" name="Text 26"/>
          <p:cNvSpPr/>
          <p:nvPr/>
        </p:nvSpPr>
        <p:spPr>
          <a:xfrm>
            <a:off x="4169664" y="4636008"/>
            <a:ext cx="7168896" cy="658368"/>
          </a:xfrm>
          <a:prstGeom prst="rect">
            <a:avLst/>
          </a:prstGeom>
          <a:noFill/>
          <a:ln/>
        </p:spPr>
        <p:txBody>
          <a:bodyPr wrap="square" lIns="0" tIns="0" rIns="0" bIns="0" rtlCol="0" anchor="t">
            <a:normAutofit/>
          </a:bodyPr>
          <a:lstStyle/>
          <a:p>
            <a:pPr indent="0" marL="0">
              <a:buNone/>
            </a:pPr>
            <a:r>
              <a:rPr lang="en-US" sz="1700" dirty="0">
                <a:solidFill>
                  <a:srgbClr val="17312F"/>
                </a:solidFill>
                <a:latin typeface="Aptos" pitchFamily="34" charset="0"/>
                <a:ea typeface="Aptos" pitchFamily="34" charset="-122"/>
                <a:cs typeface="Aptos" pitchFamily="34" charset="-120"/>
              </a:rPr>
              <a:t>Mostrar 20 pedidos anonimizados; quantificar perdas; verificar acesso à agenda; entender quem paga e como aprova a compra.</a:t>
            </a:r>
            <a:endParaRPr lang="en-US" sz="1700" dirty="0"/>
          </a:p>
        </p:txBody>
      </p:sp>
      <p:sp>
        <p:nvSpPr>
          <p:cNvPr id="30" name="Shape 27"/>
          <p:cNvSpPr/>
          <p:nvPr/>
        </p:nvSpPr>
        <p:spPr>
          <a:xfrm>
            <a:off x="521208" y="5797296"/>
            <a:ext cx="11128248" cy="393192"/>
          </a:xfrm>
          <a:prstGeom prst="rect">
            <a:avLst>
              <a:gd name="adj" fmla="val 27907"/>
            </a:avLst>
          </a:prstGeom>
          <a:solidFill>
            <a:srgbClr val="E7F2EC"/>
          </a:solidFill>
          <a:ln w="8890">
            <a:solidFill>
              <a:srgbClr val="E7F2EC"/>
            </a:solidFill>
            <a:prstDash val="solid"/>
          </a:ln>
        </p:spPr>
      </p:sp>
      <p:sp>
        <p:nvSpPr>
          <p:cNvPr id="31" name="Text 28"/>
          <p:cNvSpPr/>
          <p:nvPr/>
        </p:nvSpPr>
        <p:spPr>
          <a:xfrm>
            <a:off x="704088" y="5888736"/>
            <a:ext cx="10762488" cy="201168"/>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Evitar piloto grátis infinito. Registrar motivo de “não”, tempo de onboarding e disposição real a pagar.</a:t>
            </a:r>
            <a:endParaRPr lang="en-US" sz="12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27 / ROADMAP EXECUTÁVEL</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90 dias para validar a cadeia.</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Não para construir uma plataforma inteira.</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Uma frente técnica, uma frente comercial e revisão jurídica em paralelo.</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Análise Oria · hipóteses e metas explicitadas · 14/10/2026</a:t>
            </a:r>
            <a:endParaRPr lang="en-US" sz="720" dirty="0"/>
          </a:p>
        </p:txBody>
      </p:sp>
      <p:sp>
        <p:nvSpPr>
          <p:cNvPr id="9" name="Shape 6"/>
          <p:cNvSpPr/>
          <p:nvPr/>
        </p:nvSpPr>
        <p:spPr>
          <a:xfrm>
            <a:off x="566928" y="2322576"/>
            <a:ext cx="2514600" cy="256032"/>
          </a:xfrm>
          <a:prstGeom prst="roundRect">
            <a:avLst>
              <a:gd name="adj" fmla="val 42857"/>
            </a:avLst>
          </a:prstGeom>
          <a:solidFill>
            <a:srgbClr val="EBF0F6"/>
          </a:solidFill>
          <a:ln w="8890">
            <a:solidFill>
              <a:srgbClr val="EBF0F6"/>
            </a:solidFill>
            <a:prstDash val="solid"/>
          </a:ln>
        </p:spPr>
      </p:sp>
      <p:sp>
        <p:nvSpPr>
          <p:cNvPr id="10" name="Text 7"/>
          <p:cNvSpPr/>
          <p:nvPr/>
        </p:nvSpPr>
        <p:spPr>
          <a:xfrm>
            <a:off x="658368" y="2354580"/>
            <a:ext cx="2331720" cy="155448"/>
          </a:xfrm>
          <a:prstGeom prst="rect">
            <a:avLst/>
          </a:prstGeom>
          <a:noFill/>
          <a:ln/>
        </p:spPr>
        <p:txBody>
          <a:bodyPr wrap="square" lIns="0" tIns="0" rIns="0" bIns="0" rtlCol="0" anchor="t">
            <a:normAutofit/>
          </a:bodyPr>
          <a:lstStyle/>
          <a:p>
            <a:pPr indent="0" marL="0">
              <a:buNone/>
            </a:pPr>
            <a:r>
              <a:rPr lang="en-US" sz="850" b="1" dirty="0">
                <a:solidFill>
                  <a:srgbClr val="456C91"/>
                </a:solidFill>
                <a:latin typeface="Aptos Display" pitchFamily="34" charset="0"/>
                <a:ea typeface="Aptos Display" pitchFamily="34" charset="-122"/>
                <a:cs typeface="Aptos Display" pitchFamily="34" charset="-120"/>
              </a:rPr>
              <a:t>D0–14</a:t>
            </a:r>
            <a:endParaRPr lang="en-US" sz="850" dirty="0"/>
          </a:p>
        </p:txBody>
      </p:sp>
      <p:sp>
        <p:nvSpPr>
          <p:cNvPr id="11" name="Shape 8"/>
          <p:cNvSpPr/>
          <p:nvPr/>
        </p:nvSpPr>
        <p:spPr>
          <a:xfrm>
            <a:off x="566928" y="2761488"/>
            <a:ext cx="2514600" cy="2258568"/>
          </a:xfrm>
          <a:prstGeom prst="roundRect">
            <a:avLst>
              <a:gd name="adj" fmla="val 4858"/>
            </a:avLst>
          </a:prstGeom>
          <a:solidFill>
            <a:srgbClr val="FFFFFF"/>
          </a:solidFill>
          <a:ln w="8890">
            <a:solidFill>
              <a:srgbClr val="DCE5DF"/>
            </a:solidFill>
            <a:prstDash val="solid"/>
          </a:ln>
        </p:spPr>
      </p:sp>
      <p:sp>
        <p:nvSpPr>
          <p:cNvPr id="12" name="Text 9"/>
          <p:cNvSpPr/>
          <p:nvPr/>
        </p:nvSpPr>
        <p:spPr>
          <a:xfrm>
            <a:off x="731520" y="2962656"/>
            <a:ext cx="2176272" cy="704088"/>
          </a:xfrm>
          <a:prstGeom prst="rect">
            <a:avLst/>
          </a:prstGeom>
          <a:noFill/>
          <a:ln/>
        </p:spPr>
        <p:txBody>
          <a:bodyPr wrap="square" lIns="0" tIns="0" rIns="0" bIns="0" rtlCol="0" anchor="t">
            <a:normAutofit/>
          </a:bodyPr>
          <a:lstStyle/>
          <a:p>
            <a:pPr indent="0" marL="0">
              <a:buNone/>
            </a:pPr>
            <a:r>
              <a:rPr lang="en-US" sz="2000" b="1" dirty="0">
                <a:solidFill>
                  <a:srgbClr val="0F766E"/>
                </a:solidFill>
                <a:latin typeface="Aptos Display" pitchFamily="34" charset="0"/>
                <a:ea typeface="Aptos Display" pitchFamily="34" charset="-122"/>
                <a:cs typeface="Aptos Display" pitchFamily="34" charset="-120"/>
              </a:rPr>
              <a:t>Recorte + baseline</a:t>
            </a:r>
            <a:endParaRPr lang="en-US" sz="2000" dirty="0"/>
          </a:p>
        </p:txBody>
      </p:sp>
      <p:sp>
        <p:nvSpPr>
          <p:cNvPr id="13" name="Text 10"/>
          <p:cNvSpPr/>
          <p:nvPr/>
        </p:nvSpPr>
        <p:spPr>
          <a:xfrm>
            <a:off x="731520" y="3858768"/>
            <a:ext cx="2185416" cy="914400"/>
          </a:xfrm>
          <a:prstGeom prst="rect">
            <a:avLst/>
          </a:prstGeom>
          <a:noFill/>
          <a:ln/>
        </p:spPr>
        <p:txBody>
          <a:bodyPr wrap="square" lIns="0" tIns="0" rIns="0" bIns="0" rtlCol="0" anchor="t">
            <a:normAutofit/>
          </a:bodyPr>
          <a:lstStyle/>
          <a:p>
            <a:pPr indent="0" marL="0">
              <a:buNone/>
            </a:pPr>
            <a:r>
              <a:rPr lang="en-US" sz="1300" dirty="0">
                <a:solidFill>
                  <a:srgbClr val="17312F"/>
                </a:solidFill>
                <a:latin typeface="Aptos" pitchFamily="34" charset="0"/>
                <a:ea typeface="Aptos" pitchFamily="34" charset="-122"/>
                <a:cs typeface="Aptos" pitchFamily="34" charset="-120"/>
              </a:rPr>
              <a:t>15 entrevistas; acesso à agenda; 14 dias de linha de base; gates de dados.</a:t>
            </a:r>
            <a:endParaRPr lang="en-US" sz="1300" dirty="0"/>
          </a:p>
        </p:txBody>
      </p:sp>
      <p:sp>
        <p:nvSpPr>
          <p:cNvPr id="14" name="Shape 11"/>
          <p:cNvSpPr/>
          <p:nvPr/>
        </p:nvSpPr>
        <p:spPr>
          <a:xfrm>
            <a:off x="3419856" y="2322576"/>
            <a:ext cx="2514600" cy="256032"/>
          </a:xfrm>
          <a:prstGeom prst="roundRect">
            <a:avLst>
              <a:gd name="adj" fmla="val 42857"/>
            </a:avLst>
          </a:prstGeom>
          <a:solidFill>
            <a:srgbClr val="EBF0F6"/>
          </a:solidFill>
          <a:ln w="8890">
            <a:solidFill>
              <a:srgbClr val="EBF0F6"/>
            </a:solidFill>
            <a:prstDash val="solid"/>
          </a:ln>
        </p:spPr>
      </p:sp>
      <p:sp>
        <p:nvSpPr>
          <p:cNvPr id="15" name="Text 12"/>
          <p:cNvSpPr/>
          <p:nvPr/>
        </p:nvSpPr>
        <p:spPr>
          <a:xfrm>
            <a:off x="3511296" y="2354580"/>
            <a:ext cx="2331720" cy="155448"/>
          </a:xfrm>
          <a:prstGeom prst="rect">
            <a:avLst/>
          </a:prstGeom>
          <a:noFill/>
          <a:ln/>
        </p:spPr>
        <p:txBody>
          <a:bodyPr wrap="square" lIns="0" tIns="0" rIns="0" bIns="0" rtlCol="0" anchor="t">
            <a:normAutofit/>
          </a:bodyPr>
          <a:lstStyle/>
          <a:p>
            <a:pPr indent="0" marL="0">
              <a:buNone/>
            </a:pPr>
            <a:r>
              <a:rPr lang="en-US" sz="850" b="1" dirty="0">
                <a:solidFill>
                  <a:srgbClr val="456C91"/>
                </a:solidFill>
                <a:latin typeface="Aptos Display" pitchFamily="34" charset="0"/>
                <a:ea typeface="Aptos Display" pitchFamily="34" charset="-122"/>
                <a:cs typeface="Aptos Display" pitchFamily="34" charset="-120"/>
              </a:rPr>
              <a:t>D15–35</a:t>
            </a:r>
            <a:endParaRPr lang="en-US" sz="850" dirty="0"/>
          </a:p>
        </p:txBody>
      </p:sp>
      <p:sp>
        <p:nvSpPr>
          <p:cNvPr id="16" name="Shape 13"/>
          <p:cNvSpPr/>
          <p:nvPr/>
        </p:nvSpPr>
        <p:spPr>
          <a:xfrm>
            <a:off x="3419856" y="2761488"/>
            <a:ext cx="2514600" cy="2258568"/>
          </a:xfrm>
          <a:prstGeom prst="roundRect">
            <a:avLst>
              <a:gd name="adj" fmla="val 4858"/>
            </a:avLst>
          </a:prstGeom>
          <a:solidFill>
            <a:srgbClr val="FFFFFF"/>
          </a:solidFill>
          <a:ln w="8890">
            <a:solidFill>
              <a:srgbClr val="DCE5DF"/>
            </a:solidFill>
            <a:prstDash val="solid"/>
          </a:ln>
        </p:spPr>
      </p:sp>
      <p:sp>
        <p:nvSpPr>
          <p:cNvPr id="17" name="Text 14"/>
          <p:cNvSpPr/>
          <p:nvPr/>
        </p:nvSpPr>
        <p:spPr>
          <a:xfrm>
            <a:off x="3584448" y="2962656"/>
            <a:ext cx="2176272" cy="704088"/>
          </a:xfrm>
          <a:prstGeom prst="rect">
            <a:avLst/>
          </a:prstGeom>
          <a:noFill/>
          <a:ln/>
        </p:spPr>
        <p:txBody>
          <a:bodyPr wrap="square" lIns="0" tIns="0" rIns="0" bIns="0" rtlCol="0" anchor="t">
            <a:normAutofit/>
          </a:bodyPr>
          <a:lstStyle/>
          <a:p>
            <a:pPr indent="0" marL="0">
              <a:buNone/>
            </a:pPr>
            <a:r>
              <a:rPr lang="en-US" sz="2000" b="1" dirty="0">
                <a:solidFill>
                  <a:srgbClr val="0F766E"/>
                </a:solidFill>
                <a:latin typeface="Aptos Display" pitchFamily="34" charset="0"/>
                <a:ea typeface="Aptos Display" pitchFamily="34" charset="-122"/>
                <a:cs typeface="Aptos Display" pitchFamily="34" charset="-120"/>
              </a:rPr>
              <a:t>Fechar gaps + shadow</a:t>
            </a:r>
            <a:endParaRPr lang="en-US" sz="2000" dirty="0"/>
          </a:p>
        </p:txBody>
      </p:sp>
      <p:sp>
        <p:nvSpPr>
          <p:cNvPr id="18" name="Text 15"/>
          <p:cNvSpPr/>
          <p:nvPr/>
        </p:nvSpPr>
        <p:spPr>
          <a:xfrm>
            <a:off x="3584448" y="3858768"/>
            <a:ext cx="2185416" cy="914400"/>
          </a:xfrm>
          <a:prstGeom prst="rect">
            <a:avLst/>
          </a:prstGeom>
          <a:noFill/>
          <a:ln/>
        </p:spPr>
        <p:txBody>
          <a:bodyPr wrap="square" lIns="0" tIns="0" rIns="0" bIns="0" rtlCol="0" anchor="t">
            <a:normAutofit/>
          </a:bodyPr>
          <a:lstStyle/>
          <a:p>
            <a:pPr indent="0" marL="0">
              <a:buNone/>
            </a:pPr>
            <a:r>
              <a:rPr lang="en-US" sz="1300" dirty="0">
                <a:solidFill>
                  <a:srgbClr val="17312F"/>
                </a:solidFill>
                <a:latin typeface="Aptos" pitchFamily="34" charset="0"/>
                <a:ea typeface="Aptos" pitchFamily="34" charset="-122"/>
                <a:cs typeface="Aptos" pitchFamily="34" charset="-120"/>
              </a:rPr>
              <a:t>6 ajustes mínimos; casos sintéticos; integração; recepção aprova ações.</a:t>
            </a:r>
            <a:endParaRPr lang="en-US" sz="1300" dirty="0"/>
          </a:p>
        </p:txBody>
      </p:sp>
      <p:sp>
        <p:nvSpPr>
          <p:cNvPr id="19" name="Shape 16"/>
          <p:cNvSpPr/>
          <p:nvPr/>
        </p:nvSpPr>
        <p:spPr>
          <a:xfrm>
            <a:off x="6272784" y="2322576"/>
            <a:ext cx="2514600" cy="256032"/>
          </a:xfrm>
          <a:prstGeom prst="roundRect">
            <a:avLst>
              <a:gd name="adj" fmla="val 42857"/>
            </a:avLst>
          </a:prstGeom>
          <a:solidFill>
            <a:srgbClr val="EBF0F6"/>
          </a:solidFill>
          <a:ln w="8890">
            <a:solidFill>
              <a:srgbClr val="EBF0F6"/>
            </a:solidFill>
            <a:prstDash val="solid"/>
          </a:ln>
        </p:spPr>
      </p:sp>
      <p:sp>
        <p:nvSpPr>
          <p:cNvPr id="20" name="Text 17"/>
          <p:cNvSpPr/>
          <p:nvPr/>
        </p:nvSpPr>
        <p:spPr>
          <a:xfrm>
            <a:off x="6364224" y="2354580"/>
            <a:ext cx="2331720" cy="155448"/>
          </a:xfrm>
          <a:prstGeom prst="rect">
            <a:avLst/>
          </a:prstGeom>
          <a:noFill/>
          <a:ln/>
        </p:spPr>
        <p:txBody>
          <a:bodyPr wrap="square" lIns="0" tIns="0" rIns="0" bIns="0" rtlCol="0" anchor="t">
            <a:normAutofit/>
          </a:bodyPr>
          <a:lstStyle/>
          <a:p>
            <a:pPr indent="0" marL="0">
              <a:buNone/>
            </a:pPr>
            <a:r>
              <a:rPr lang="en-US" sz="850" b="1" dirty="0">
                <a:solidFill>
                  <a:srgbClr val="456C91"/>
                </a:solidFill>
                <a:latin typeface="Aptos Display" pitchFamily="34" charset="0"/>
                <a:ea typeface="Aptos Display" pitchFamily="34" charset="-122"/>
                <a:cs typeface="Aptos Display" pitchFamily="34" charset="-120"/>
              </a:rPr>
              <a:t>D36–60</a:t>
            </a:r>
            <a:endParaRPr lang="en-US" sz="850" dirty="0"/>
          </a:p>
        </p:txBody>
      </p:sp>
      <p:sp>
        <p:nvSpPr>
          <p:cNvPr id="21" name="Shape 18"/>
          <p:cNvSpPr/>
          <p:nvPr/>
        </p:nvSpPr>
        <p:spPr>
          <a:xfrm>
            <a:off x="6272784" y="2761488"/>
            <a:ext cx="2514600" cy="2258568"/>
          </a:xfrm>
          <a:prstGeom prst="roundRect">
            <a:avLst>
              <a:gd name="adj" fmla="val 4858"/>
            </a:avLst>
          </a:prstGeom>
          <a:solidFill>
            <a:srgbClr val="FFFFFF"/>
          </a:solidFill>
          <a:ln w="8890">
            <a:solidFill>
              <a:srgbClr val="DCE5DF"/>
            </a:solidFill>
            <a:prstDash val="solid"/>
          </a:ln>
        </p:spPr>
      </p:sp>
      <p:sp>
        <p:nvSpPr>
          <p:cNvPr id="22" name="Text 19"/>
          <p:cNvSpPr/>
          <p:nvPr/>
        </p:nvSpPr>
        <p:spPr>
          <a:xfrm>
            <a:off x="6437376" y="2962656"/>
            <a:ext cx="2176272" cy="704088"/>
          </a:xfrm>
          <a:prstGeom prst="rect">
            <a:avLst/>
          </a:prstGeom>
          <a:noFill/>
          <a:ln/>
        </p:spPr>
        <p:txBody>
          <a:bodyPr wrap="square" lIns="0" tIns="0" rIns="0" bIns="0" rtlCol="0" anchor="t">
            <a:normAutofit/>
          </a:bodyPr>
          <a:lstStyle/>
          <a:p>
            <a:pPr indent="0" marL="0">
              <a:buNone/>
            </a:pPr>
            <a:r>
              <a:rPr lang="en-US" sz="2000" b="1" dirty="0">
                <a:solidFill>
                  <a:srgbClr val="0F766E"/>
                </a:solidFill>
                <a:latin typeface="Aptos Display" pitchFamily="34" charset="0"/>
                <a:ea typeface="Aptos Display" pitchFamily="34" charset="-122"/>
                <a:cs typeface="Aptos Display" pitchFamily="34" charset="-120"/>
              </a:rPr>
              <a:t>Pilotos + cobrança</a:t>
            </a:r>
            <a:endParaRPr lang="en-US" sz="2000" dirty="0"/>
          </a:p>
        </p:txBody>
      </p:sp>
      <p:sp>
        <p:nvSpPr>
          <p:cNvPr id="23" name="Text 20"/>
          <p:cNvSpPr/>
          <p:nvPr/>
        </p:nvSpPr>
        <p:spPr>
          <a:xfrm>
            <a:off x="6437376" y="3858768"/>
            <a:ext cx="2185416" cy="914400"/>
          </a:xfrm>
          <a:prstGeom prst="rect">
            <a:avLst/>
          </a:prstGeom>
          <a:noFill/>
          <a:ln/>
        </p:spPr>
        <p:txBody>
          <a:bodyPr wrap="square" lIns="0" tIns="0" rIns="0" bIns="0" rtlCol="0" anchor="t">
            <a:normAutofit/>
          </a:bodyPr>
          <a:lstStyle/>
          <a:p>
            <a:pPr indent="0" marL="0">
              <a:buNone/>
            </a:pPr>
            <a:r>
              <a:rPr lang="en-US" sz="1300" dirty="0">
                <a:solidFill>
                  <a:srgbClr val="17312F"/>
                </a:solidFill>
                <a:latin typeface="Aptos" pitchFamily="34" charset="0"/>
                <a:ea typeface="Aptos" pitchFamily="34" charset="-122"/>
                <a:cs typeface="Aptos" pitchFamily="34" charset="-120"/>
              </a:rPr>
              <a:t>5 clínicas; ativação gradual; propostas reais; revisão semanal de eventos.</a:t>
            </a:r>
            <a:endParaRPr lang="en-US" sz="1300" dirty="0"/>
          </a:p>
        </p:txBody>
      </p:sp>
      <p:sp>
        <p:nvSpPr>
          <p:cNvPr id="24" name="Shape 21"/>
          <p:cNvSpPr/>
          <p:nvPr/>
        </p:nvSpPr>
        <p:spPr>
          <a:xfrm>
            <a:off x="9125712" y="2322576"/>
            <a:ext cx="2514600" cy="256032"/>
          </a:xfrm>
          <a:prstGeom prst="roundRect">
            <a:avLst>
              <a:gd name="adj" fmla="val 42857"/>
            </a:avLst>
          </a:prstGeom>
          <a:solidFill>
            <a:srgbClr val="FAE9E2"/>
          </a:solidFill>
          <a:ln w="8890">
            <a:solidFill>
              <a:srgbClr val="FAE9E2"/>
            </a:solidFill>
            <a:prstDash val="solid"/>
          </a:ln>
        </p:spPr>
      </p:sp>
      <p:sp>
        <p:nvSpPr>
          <p:cNvPr id="25" name="Text 22"/>
          <p:cNvSpPr/>
          <p:nvPr/>
        </p:nvSpPr>
        <p:spPr>
          <a:xfrm>
            <a:off x="9217152" y="2354580"/>
            <a:ext cx="2331720" cy="155448"/>
          </a:xfrm>
          <a:prstGeom prst="rect">
            <a:avLst/>
          </a:prstGeom>
          <a:noFill/>
          <a:ln/>
        </p:spPr>
        <p:txBody>
          <a:bodyPr wrap="square" lIns="0" tIns="0" rIns="0" bIns="0" rtlCol="0" anchor="t">
            <a:normAutofit/>
          </a:bodyPr>
          <a:lstStyle/>
          <a:p>
            <a:pPr indent="0" marL="0">
              <a:buNone/>
            </a:pPr>
            <a:r>
              <a:rPr lang="en-US" sz="850" b="1" dirty="0">
                <a:solidFill>
                  <a:srgbClr val="E67861"/>
                </a:solidFill>
                <a:latin typeface="Aptos Display" pitchFamily="34" charset="0"/>
                <a:ea typeface="Aptos Display" pitchFamily="34" charset="-122"/>
                <a:cs typeface="Aptos Display" pitchFamily="34" charset="-120"/>
              </a:rPr>
              <a:t>D61–90</a:t>
            </a:r>
            <a:endParaRPr lang="en-US" sz="850" dirty="0"/>
          </a:p>
        </p:txBody>
      </p:sp>
      <p:sp>
        <p:nvSpPr>
          <p:cNvPr id="26" name="Shape 23"/>
          <p:cNvSpPr/>
          <p:nvPr/>
        </p:nvSpPr>
        <p:spPr>
          <a:xfrm>
            <a:off x="9125712" y="2761488"/>
            <a:ext cx="2514600" cy="2258568"/>
          </a:xfrm>
          <a:prstGeom prst="roundRect">
            <a:avLst>
              <a:gd name="adj" fmla="val 4858"/>
            </a:avLst>
          </a:prstGeom>
          <a:solidFill>
            <a:srgbClr val="FFFFFF"/>
          </a:solidFill>
          <a:ln w="8890">
            <a:solidFill>
              <a:srgbClr val="DCE5DF"/>
            </a:solidFill>
            <a:prstDash val="solid"/>
          </a:ln>
        </p:spPr>
      </p:sp>
      <p:sp>
        <p:nvSpPr>
          <p:cNvPr id="27" name="Text 24"/>
          <p:cNvSpPr/>
          <p:nvPr/>
        </p:nvSpPr>
        <p:spPr>
          <a:xfrm>
            <a:off x="9290304" y="2962656"/>
            <a:ext cx="2176272" cy="704088"/>
          </a:xfrm>
          <a:prstGeom prst="rect">
            <a:avLst/>
          </a:prstGeom>
          <a:noFill/>
          <a:ln/>
        </p:spPr>
        <p:txBody>
          <a:bodyPr wrap="square" lIns="0" tIns="0" rIns="0" bIns="0" rtlCol="0" anchor="t">
            <a:normAutofit/>
          </a:bodyPr>
          <a:lstStyle/>
          <a:p>
            <a:pPr indent="0" marL="0">
              <a:buNone/>
            </a:pPr>
            <a:r>
              <a:rPr lang="en-US" sz="2000" b="1" dirty="0">
                <a:solidFill>
                  <a:srgbClr val="0F766E"/>
                </a:solidFill>
                <a:latin typeface="Aptos Display" pitchFamily="34" charset="0"/>
                <a:ea typeface="Aptos Display" pitchFamily="34" charset="-122"/>
                <a:cs typeface="Aptos Display" pitchFamily="34" charset="-120"/>
              </a:rPr>
              <a:t>Renovar + decidir</a:t>
            </a:r>
            <a:endParaRPr lang="en-US" sz="2000" dirty="0"/>
          </a:p>
        </p:txBody>
      </p:sp>
      <p:sp>
        <p:nvSpPr>
          <p:cNvPr id="28" name="Text 25"/>
          <p:cNvSpPr/>
          <p:nvPr/>
        </p:nvSpPr>
        <p:spPr>
          <a:xfrm>
            <a:off x="9290304" y="3858768"/>
            <a:ext cx="2185416" cy="914400"/>
          </a:xfrm>
          <a:prstGeom prst="rect">
            <a:avLst/>
          </a:prstGeom>
          <a:noFill/>
          <a:ln/>
        </p:spPr>
        <p:txBody>
          <a:bodyPr wrap="square" lIns="0" tIns="0" rIns="0" bIns="0" rtlCol="0" anchor="t">
            <a:normAutofit/>
          </a:bodyPr>
          <a:lstStyle/>
          <a:p>
            <a:pPr indent="0" marL="0">
              <a:buNone/>
            </a:pPr>
            <a:r>
              <a:rPr lang="en-US" sz="1300" dirty="0">
                <a:solidFill>
                  <a:srgbClr val="17312F"/>
                </a:solidFill>
                <a:latin typeface="Aptos" pitchFamily="34" charset="0"/>
                <a:ea typeface="Aptos" pitchFamily="34" charset="-122"/>
                <a:cs typeface="Aptos" pitchFamily="34" charset="-120"/>
              </a:rPr>
              <a:t>≥3 pagantes; avaliar onboarding, margem, qualidade e renovação 30–60d.</a:t>
            </a:r>
            <a:endParaRPr lang="en-US" sz="1300" dirty="0"/>
          </a:p>
        </p:txBody>
      </p:sp>
      <p:sp>
        <p:nvSpPr>
          <p:cNvPr id="29" name="Shape 26"/>
          <p:cNvSpPr/>
          <p:nvPr/>
        </p:nvSpPr>
        <p:spPr>
          <a:xfrm>
            <a:off x="521208" y="5797296"/>
            <a:ext cx="11128248" cy="393192"/>
          </a:xfrm>
          <a:prstGeom prst="rect">
            <a:avLst>
              <a:gd name="adj" fmla="val 27907"/>
            </a:avLst>
          </a:prstGeom>
          <a:solidFill>
            <a:srgbClr val="E7F2EC"/>
          </a:solidFill>
          <a:ln w="8890">
            <a:solidFill>
              <a:srgbClr val="E7F2EC"/>
            </a:solidFill>
            <a:prstDash val="solid"/>
          </a:ln>
        </p:spPr>
      </p:sp>
      <p:sp>
        <p:nvSpPr>
          <p:cNvPr id="30" name="Text 27"/>
          <p:cNvSpPr/>
          <p:nvPr/>
        </p:nvSpPr>
        <p:spPr>
          <a:xfrm>
            <a:off x="704088" y="5888736"/>
            <a:ext cx="10762488" cy="201168"/>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Retenção de 90 dias por cliente ainda não estará madura no D90 se a cobrança começar no D36: avaliar a partir do D126.</a:t>
            </a:r>
            <a:endParaRPr lang="en-US" sz="12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28 / EXPERIMENTOS E PODER DE EVIDÊNCIA</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Cinco pilotos geram aprendizado.</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Uma amostra maior sustenta as promessas.</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Metas propostas. Definir coortes, elegibilidade e método antes de ligar a automação.</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Análise Oria · hipóteses e metas explicitadas · 14/10/2026</a:t>
            </a:r>
            <a:endParaRPr lang="en-US" sz="720" dirty="0"/>
          </a:p>
        </p:txBody>
      </p:sp>
      <p:sp>
        <p:nvSpPr>
          <p:cNvPr id="9" name="Shape 6"/>
          <p:cNvSpPr/>
          <p:nvPr/>
        </p:nvSpPr>
        <p:spPr>
          <a:xfrm>
            <a:off x="557784" y="2194560"/>
            <a:ext cx="11109960" cy="384048"/>
          </a:xfrm>
          <a:prstGeom prst="rect">
            <a:avLst>
              <a:gd name="adj" fmla="val 28571"/>
            </a:avLst>
          </a:prstGeom>
          <a:solidFill>
            <a:srgbClr val="0B3430"/>
          </a:solidFill>
          <a:ln w="8890">
            <a:solidFill>
              <a:srgbClr val="0B3430"/>
            </a:solidFill>
            <a:prstDash val="solid"/>
          </a:ln>
        </p:spPr>
      </p:sp>
      <p:sp>
        <p:nvSpPr>
          <p:cNvPr id="10" name="Text 7"/>
          <p:cNvSpPr/>
          <p:nvPr/>
        </p:nvSpPr>
        <p:spPr>
          <a:xfrm>
            <a:off x="649224" y="2295144"/>
            <a:ext cx="2295144"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Pergunta</a:t>
            </a:r>
            <a:endParaRPr lang="en-US" sz="1050" dirty="0"/>
          </a:p>
        </p:txBody>
      </p:sp>
      <p:sp>
        <p:nvSpPr>
          <p:cNvPr id="11" name="Text 8"/>
          <p:cNvSpPr/>
          <p:nvPr/>
        </p:nvSpPr>
        <p:spPr>
          <a:xfrm>
            <a:off x="3127248" y="2295144"/>
            <a:ext cx="4919472"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Métrica / desenho</a:t>
            </a:r>
            <a:endParaRPr lang="en-US" sz="1050" dirty="0"/>
          </a:p>
        </p:txBody>
      </p:sp>
      <p:sp>
        <p:nvSpPr>
          <p:cNvPr id="12" name="Text 9"/>
          <p:cNvSpPr/>
          <p:nvPr/>
        </p:nvSpPr>
        <p:spPr>
          <a:xfrm>
            <a:off x="8229600" y="2295144"/>
            <a:ext cx="3346704"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Meta de avanço</a:t>
            </a:r>
            <a:endParaRPr lang="en-US" sz="1050" dirty="0"/>
          </a:p>
        </p:txBody>
      </p:sp>
      <p:sp>
        <p:nvSpPr>
          <p:cNvPr id="13" name="Shape 10"/>
          <p:cNvSpPr/>
          <p:nvPr/>
        </p:nvSpPr>
        <p:spPr>
          <a:xfrm>
            <a:off x="557784" y="2578608"/>
            <a:ext cx="11109960" cy="530352"/>
          </a:xfrm>
          <a:prstGeom prst="rect">
            <a:avLst>
              <a:gd name="adj" fmla="val 20690"/>
            </a:avLst>
          </a:prstGeom>
          <a:solidFill>
            <a:srgbClr val="FFFFFF"/>
          </a:solidFill>
          <a:ln w="8890">
            <a:solidFill>
              <a:srgbClr val="DCE5DF"/>
            </a:solidFill>
            <a:prstDash val="solid"/>
          </a:ln>
        </p:spPr>
      </p:sp>
      <p:sp>
        <p:nvSpPr>
          <p:cNvPr id="14" name="Text 11"/>
          <p:cNvSpPr/>
          <p:nvPr/>
        </p:nvSpPr>
        <p:spPr>
          <a:xfrm>
            <a:off x="649224" y="2670048"/>
            <a:ext cx="2295144" cy="384048"/>
          </a:xfrm>
          <a:prstGeom prst="rect">
            <a:avLst/>
          </a:prstGeom>
          <a:noFill/>
          <a:ln/>
        </p:spPr>
        <p:txBody>
          <a:bodyPr wrap="square" lIns="0" tIns="0" rIns="0" bIns="0" rtlCol="0" anchor="t">
            <a:normAutofit/>
          </a:bodyPr>
          <a:lstStyle/>
          <a:p>
            <a:pPr indent="0" marL="0">
              <a:buNone/>
            </a:pPr>
            <a:r>
              <a:rPr lang="en-US" sz="1170" b="1" dirty="0">
                <a:solidFill>
                  <a:srgbClr val="0F766E"/>
                </a:solidFill>
                <a:latin typeface="Aptos Display" pitchFamily="34" charset="0"/>
                <a:ea typeface="Aptos Display" pitchFamily="34" charset="-122"/>
                <a:cs typeface="Aptos Display" pitchFamily="34" charset="-120"/>
              </a:rPr>
              <a:t>Converte melhor?</a:t>
            </a:r>
            <a:endParaRPr lang="en-US" sz="1170" dirty="0"/>
          </a:p>
        </p:txBody>
      </p:sp>
      <p:sp>
        <p:nvSpPr>
          <p:cNvPr id="15" name="Text 12"/>
          <p:cNvSpPr/>
          <p:nvPr/>
        </p:nvSpPr>
        <p:spPr>
          <a:xfrm>
            <a:off x="3127248" y="2670048"/>
            <a:ext cx="4919472" cy="384048"/>
          </a:xfrm>
          <a:prstGeom prst="rect">
            <a:avLst/>
          </a:prstGeom>
          <a:noFill/>
          <a:ln/>
        </p:spPr>
        <p:txBody>
          <a:bodyPr wrap="square" lIns="0" tIns="0" rIns="0" bIns="0" rtlCol="0" anchor="t">
            <a:normAutofit/>
          </a:bodyPr>
          <a:lstStyle/>
          <a:p>
            <a:pPr indent="0" marL="0">
              <a:buNone/>
            </a:pPr>
            <a:r>
              <a:rPr lang="en-US" sz="1170" dirty="0">
                <a:solidFill>
                  <a:srgbClr val="17312F"/>
                </a:solidFill>
                <a:latin typeface="Aptos" pitchFamily="34" charset="0"/>
                <a:ea typeface="Aptos" pitchFamily="34" charset="-122"/>
                <a:cs typeface="Aptos" pitchFamily="34" charset="-120"/>
              </a:rPr>
              <a:t>Conversão 30% → 35%, grupos comparáveis</a:t>
            </a:r>
            <a:endParaRPr lang="en-US" sz="1170" dirty="0"/>
          </a:p>
        </p:txBody>
      </p:sp>
      <p:sp>
        <p:nvSpPr>
          <p:cNvPr id="16" name="Text 13"/>
          <p:cNvSpPr/>
          <p:nvPr/>
        </p:nvSpPr>
        <p:spPr>
          <a:xfrm>
            <a:off x="8229600" y="2670048"/>
            <a:ext cx="3346704" cy="384048"/>
          </a:xfrm>
          <a:prstGeom prst="rect">
            <a:avLst/>
          </a:prstGeom>
          <a:noFill/>
          <a:ln/>
        </p:spPr>
        <p:txBody>
          <a:bodyPr wrap="square" lIns="0" tIns="0" rIns="0" bIns="0" rtlCol="0" anchor="t">
            <a:normAutofit/>
          </a:bodyPr>
          <a:lstStyle/>
          <a:p>
            <a:pPr indent="0" marL="0">
              <a:buNone/>
            </a:pPr>
            <a:r>
              <a:rPr lang="en-US" sz="1170" dirty="0">
                <a:solidFill>
                  <a:srgbClr val="17312F"/>
                </a:solidFill>
                <a:latin typeface="Aptos" pitchFamily="34" charset="0"/>
                <a:ea typeface="Aptos" pitchFamily="34" charset="-122"/>
                <a:cs typeface="Aptos" pitchFamily="34" charset="-120"/>
              </a:rPr>
              <a:t>~2.800 contatos no total como referência*</a:t>
            </a:r>
            <a:endParaRPr lang="en-US" sz="1170" dirty="0"/>
          </a:p>
        </p:txBody>
      </p:sp>
      <p:sp>
        <p:nvSpPr>
          <p:cNvPr id="17" name="Shape 14"/>
          <p:cNvSpPr/>
          <p:nvPr/>
        </p:nvSpPr>
        <p:spPr>
          <a:xfrm>
            <a:off x="557784" y="3108960"/>
            <a:ext cx="11109960" cy="530352"/>
          </a:xfrm>
          <a:prstGeom prst="rect">
            <a:avLst>
              <a:gd name="adj" fmla="val 20690"/>
            </a:avLst>
          </a:prstGeom>
          <a:solidFill>
            <a:srgbClr val="FCFAF6"/>
          </a:solidFill>
          <a:ln w="8890">
            <a:solidFill>
              <a:srgbClr val="DCE5DF"/>
            </a:solidFill>
            <a:prstDash val="solid"/>
          </a:ln>
        </p:spPr>
      </p:sp>
      <p:sp>
        <p:nvSpPr>
          <p:cNvPr id="18" name="Text 15"/>
          <p:cNvSpPr/>
          <p:nvPr/>
        </p:nvSpPr>
        <p:spPr>
          <a:xfrm>
            <a:off x="649224" y="3200400"/>
            <a:ext cx="2295144" cy="384048"/>
          </a:xfrm>
          <a:prstGeom prst="rect">
            <a:avLst/>
          </a:prstGeom>
          <a:noFill/>
          <a:ln/>
        </p:spPr>
        <p:txBody>
          <a:bodyPr wrap="square" lIns="0" tIns="0" rIns="0" bIns="0" rtlCol="0" anchor="t">
            <a:normAutofit/>
          </a:bodyPr>
          <a:lstStyle/>
          <a:p>
            <a:pPr indent="0" marL="0">
              <a:buNone/>
            </a:pPr>
            <a:r>
              <a:rPr lang="en-US" sz="1170" b="1" dirty="0">
                <a:solidFill>
                  <a:srgbClr val="0F766E"/>
                </a:solidFill>
                <a:latin typeface="Aptos Display" pitchFamily="34" charset="0"/>
                <a:ea typeface="Aptos Display" pitchFamily="34" charset="-122"/>
                <a:cs typeface="Aptos Display" pitchFamily="34" charset="-120"/>
              </a:rPr>
              <a:t>Agenda com segurança?</a:t>
            </a:r>
            <a:endParaRPr lang="en-US" sz="1170" dirty="0"/>
          </a:p>
        </p:txBody>
      </p:sp>
      <p:sp>
        <p:nvSpPr>
          <p:cNvPr id="19" name="Text 16"/>
          <p:cNvSpPr/>
          <p:nvPr/>
        </p:nvSpPr>
        <p:spPr>
          <a:xfrm>
            <a:off x="3127248" y="3200400"/>
            <a:ext cx="4919472" cy="384048"/>
          </a:xfrm>
          <a:prstGeom prst="rect">
            <a:avLst/>
          </a:prstGeom>
          <a:noFill/>
          <a:ln/>
        </p:spPr>
        <p:txBody>
          <a:bodyPr wrap="square" lIns="0" tIns="0" rIns="0" bIns="0" rtlCol="0" anchor="t">
            <a:normAutofit/>
          </a:bodyPr>
          <a:lstStyle/>
          <a:p>
            <a:pPr indent="0" marL="0">
              <a:buNone/>
            </a:pPr>
            <a:r>
              <a:rPr lang="en-US" sz="1170" dirty="0">
                <a:solidFill>
                  <a:srgbClr val="17312F"/>
                </a:solidFill>
                <a:latin typeface="Aptos" pitchFamily="34" charset="0"/>
                <a:ea typeface="Aptos" pitchFamily="34" charset="-122"/>
                <a:cs typeface="Aptos" pitchFamily="34" charset="-120"/>
              </a:rPr>
              <a:t>Falhas por mutação; retries e concorrência</a:t>
            </a:r>
            <a:endParaRPr lang="en-US" sz="1170" dirty="0"/>
          </a:p>
        </p:txBody>
      </p:sp>
      <p:sp>
        <p:nvSpPr>
          <p:cNvPr id="20" name="Text 17"/>
          <p:cNvSpPr/>
          <p:nvPr/>
        </p:nvSpPr>
        <p:spPr>
          <a:xfrm>
            <a:off x="8229600" y="3200400"/>
            <a:ext cx="3346704" cy="384048"/>
          </a:xfrm>
          <a:prstGeom prst="rect">
            <a:avLst/>
          </a:prstGeom>
          <a:noFill/>
          <a:ln/>
        </p:spPr>
        <p:txBody>
          <a:bodyPr wrap="square" lIns="0" tIns="0" rIns="0" bIns="0" rtlCol="0" anchor="t">
            <a:normAutofit/>
          </a:bodyPr>
          <a:lstStyle/>
          <a:p>
            <a:pPr indent="0" marL="0">
              <a:buNone/>
            </a:pPr>
            <a:r>
              <a:rPr lang="en-US" sz="1170" dirty="0">
                <a:solidFill>
                  <a:srgbClr val="17312F"/>
                </a:solidFill>
                <a:latin typeface="Aptos" pitchFamily="34" charset="0"/>
                <a:ea typeface="Aptos" pitchFamily="34" charset="-122"/>
                <a:cs typeface="Aptos" pitchFamily="34" charset="-120"/>
              </a:rPr>
              <a:t>0 erros em ≥600 ações: limite superior ~0,5%**</a:t>
            </a:r>
            <a:endParaRPr lang="en-US" sz="1170" dirty="0"/>
          </a:p>
        </p:txBody>
      </p:sp>
      <p:sp>
        <p:nvSpPr>
          <p:cNvPr id="21" name="Shape 18"/>
          <p:cNvSpPr/>
          <p:nvPr/>
        </p:nvSpPr>
        <p:spPr>
          <a:xfrm>
            <a:off x="557784" y="3639312"/>
            <a:ext cx="11109960" cy="530352"/>
          </a:xfrm>
          <a:prstGeom prst="rect">
            <a:avLst>
              <a:gd name="adj" fmla="val 20690"/>
            </a:avLst>
          </a:prstGeom>
          <a:solidFill>
            <a:srgbClr val="FFFFFF"/>
          </a:solidFill>
          <a:ln w="8890">
            <a:solidFill>
              <a:srgbClr val="DCE5DF"/>
            </a:solidFill>
            <a:prstDash val="solid"/>
          </a:ln>
        </p:spPr>
      </p:sp>
      <p:sp>
        <p:nvSpPr>
          <p:cNvPr id="22" name="Text 19"/>
          <p:cNvSpPr/>
          <p:nvPr/>
        </p:nvSpPr>
        <p:spPr>
          <a:xfrm>
            <a:off x="649224" y="3730752"/>
            <a:ext cx="2295144" cy="384048"/>
          </a:xfrm>
          <a:prstGeom prst="rect">
            <a:avLst/>
          </a:prstGeom>
          <a:noFill/>
          <a:ln/>
        </p:spPr>
        <p:txBody>
          <a:bodyPr wrap="square" lIns="0" tIns="0" rIns="0" bIns="0" rtlCol="0" anchor="t">
            <a:normAutofit/>
          </a:bodyPr>
          <a:lstStyle/>
          <a:p>
            <a:pPr indent="0" marL="0">
              <a:buNone/>
            </a:pPr>
            <a:r>
              <a:rPr lang="en-US" sz="1170" b="1" dirty="0">
                <a:solidFill>
                  <a:srgbClr val="0F766E"/>
                </a:solidFill>
                <a:latin typeface="Aptos Display" pitchFamily="34" charset="0"/>
                <a:ea typeface="Aptos Display" pitchFamily="34" charset="-122"/>
                <a:cs typeface="Aptos Display" pitchFamily="34" charset="-120"/>
              </a:rPr>
              <a:t>Alivia sem criar rework?</a:t>
            </a:r>
            <a:endParaRPr lang="en-US" sz="1170" dirty="0"/>
          </a:p>
        </p:txBody>
      </p:sp>
      <p:sp>
        <p:nvSpPr>
          <p:cNvPr id="23" name="Text 20"/>
          <p:cNvSpPr/>
          <p:nvPr/>
        </p:nvSpPr>
        <p:spPr>
          <a:xfrm>
            <a:off x="3127248" y="3730752"/>
            <a:ext cx="4919472" cy="384048"/>
          </a:xfrm>
          <a:prstGeom prst="rect">
            <a:avLst/>
          </a:prstGeom>
          <a:noFill/>
          <a:ln/>
        </p:spPr>
        <p:txBody>
          <a:bodyPr wrap="square" lIns="0" tIns="0" rIns="0" bIns="0" rtlCol="0" anchor="t">
            <a:normAutofit/>
          </a:bodyPr>
          <a:lstStyle/>
          <a:p>
            <a:pPr indent="0" marL="0">
              <a:buNone/>
            </a:pPr>
            <a:r>
              <a:rPr lang="en-US" sz="1170" dirty="0">
                <a:solidFill>
                  <a:srgbClr val="17312F"/>
                </a:solidFill>
                <a:latin typeface="Aptos" pitchFamily="34" charset="0"/>
                <a:ea typeface="Aptos" pitchFamily="34" charset="-122"/>
                <a:cs typeface="Aptos" pitchFamily="34" charset="-120"/>
              </a:rPr>
              <a:t>Resolução automática / todos elegíveis</a:t>
            </a:r>
            <a:endParaRPr lang="en-US" sz="1170" dirty="0"/>
          </a:p>
        </p:txBody>
      </p:sp>
      <p:sp>
        <p:nvSpPr>
          <p:cNvPr id="24" name="Text 21"/>
          <p:cNvSpPr/>
          <p:nvPr/>
        </p:nvSpPr>
        <p:spPr>
          <a:xfrm>
            <a:off x="8229600" y="3730752"/>
            <a:ext cx="3346704" cy="384048"/>
          </a:xfrm>
          <a:prstGeom prst="rect">
            <a:avLst/>
          </a:prstGeom>
          <a:noFill/>
          <a:ln/>
        </p:spPr>
        <p:txBody>
          <a:bodyPr wrap="square" lIns="0" tIns="0" rIns="0" bIns="0" rtlCol="0" anchor="t">
            <a:normAutofit/>
          </a:bodyPr>
          <a:lstStyle/>
          <a:p>
            <a:pPr indent="0" marL="0">
              <a:buNone/>
            </a:pPr>
            <a:r>
              <a:rPr lang="en-US" sz="1170" dirty="0">
                <a:solidFill>
                  <a:srgbClr val="17312F"/>
                </a:solidFill>
                <a:latin typeface="Aptos" pitchFamily="34" charset="0"/>
                <a:ea typeface="Aptos" pitchFamily="34" charset="-122"/>
                <a:cs typeface="Aptos" pitchFamily="34" charset="-120"/>
              </a:rPr>
              <a:t>≥50% resolvidos; retrabalho ≤10%</a:t>
            </a:r>
            <a:endParaRPr lang="en-US" sz="1170" dirty="0"/>
          </a:p>
        </p:txBody>
      </p:sp>
      <p:sp>
        <p:nvSpPr>
          <p:cNvPr id="25" name="Shape 22"/>
          <p:cNvSpPr/>
          <p:nvPr/>
        </p:nvSpPr>
        <p:spPr>
          <a:xfrm>
            <a:off x="557784" y="4169664"/>
            <a:ext cx="11109960" cy="530352"/>
          </a:xfrm>
          <a:prstGeom prst="rect">
            <a:avLst>
              <a:gd name="adj" fmla="val 20690"/>
            </a:avLst>
          </a:prstGeom>
          <a:solidFill>
            <a:srgbClr val="FCFAF6"/>
          </a:solidFill>
          <a:ln w="8890">
            <a:solidFill>
              <a:srgbClr val="DCE5DF"/>
            </a:solidFill>
            <a:prstDash val="solid"/>
          </a:ln>
        </p:spPr>
      </p:sp>
      <p:sp>
        <p:nvSpPr>
          <p:cNvPr id="26" name="Text 23"/>
          <p:cNvSpPr/>
          <p:nvPr/>
        </p:nvSpPr>
        <p:spPr>
          <a:xfrm>
            <a:off x="649224" y="4261104"/>
            <a:ext cx="2295144" cy="384048"/>
          </a:xfrm>
          <a:prstGeom prst="rect">
            <a:avLst/>
          </a:prstGeom>
          <a:noFill/>
          <a:ln/>
        </p:spPr>
        <p:txBody>
          <a:bodyPr wrap="square" lIns="0" tIns="0" rIns="0" bIns="0" rtlCol="0" anchor="t">
            <a:normAutofit/>
          </a:bodyPr>
          <a:lstStyle/>
          <a:p>
            <a:pPr indent="0" marL="0">
              <a:buNone/>
            </a:pPr>
            <a:r>
              <a:rPr lang="en-US" sz="1170" b="1" dirty="0">
                <a:solidFill>
                  <a:srgbClr val="0F766E"/>
                </a:solidFill>
                <a:latin typeface="Aptos Display" pitchFamily="34" charset="0"/>
                <a:ea typeface="Aptos Display" pitchFamily="34" charset="-122"/>
                <a:cs typeface="Aptos Display" pitchFamily="34" charset="-120"/>
              </a:rPr>
              <a:t>Equipe aceita o handoff?</a:t>
            </a:r>
            <a:endParaRPr lang="en-US" sz="1170" dirty="0"/>
          </a:p>
        </p:txBody>
      </p:sp>
      <p:sp>
        <p:nvSpPr>
          <p:cNvPr id="27" name="Text 24"/>
          <p:cNvSpPr/>
          <p:nvPr/>
        </p:nvSpPr>
        <p:spPr>
          <a:xfrm>
            <a:off x="3127248" y="4261104"/>
            <a:ext cx="4919472" cy="384048"/>
          </a:xfrm>
          <a:prstGeom prst="rect">
            <a:avLst/>
          </a:prstGeom>
          <a:noFill/>
          <a:ln/>
        </p:spPr>
        <p:txBody>
          <a:bodyPr wrap="square" lIns="0" tIns="0" rIns="0" bIns="0" rtlCol="0" anchor="t">
            <a:normAutofit/>
          </a:bodyPr>
          <a:lstStyle/>
          <a:p>
            <a:pPr indent="0" marL="0">
              <a:buNone/>
            </a:pPr>
            <a:r>
              <a:rPr lang="en-US" sz="1170" dirty="0">
                <a:solidFill>
                  <a:srgbClr val="17312F"/>
                </a:solidFill>
                <a:latin typeface="Aptos" pitchFamily="34" charset="0"/>
                <a:ea typeface="Aptos" pitchFamily="34" charset="-122"/>
                <a:cs typeface="Aptos" pitchFamily="34" charset="-120"/>
              </a:rPr>
              <a:t>Aceite + resumo + tempo de resposta</a:t>
            </a:r>
            <a:endParaRPr lang="en-US" sz="1170" dirty="0"/>
          </a:p>
        </p:txBody>
      </p:sp>
      <p:sp>
        <p:nvSpPr>
          <p:cNvPr id="28" name="Text 25"/>
          <p:cNvSpPr/>
          <p:nvPr/>
        </p:nvSpPr>
        <p:spPr>
          <a:xfrm>
            <a:off x="8229600" y="4261104"/>
            <a:ext cx="3346704" cy="384048"/>
          </a:xfrm>
          <a:prstGeom prst="rect">
            <a:avLst/>
          </a:prstGeom>
          <a:noFill/>
          <a:ln/>
        </p:spPr>
        <p:txBody>
          <a:bodyPr wrap="square" lIns="0" tIns="0" rIns="0" bIns="0" rtlCol="0" anchor="t">
            <a:normAutofit/>
          </a:bodyPr>
          <a:lstStyle/>
          <a:p>
            <a:pPr indent="0" marL="0">
              <a:buNone/>
            </a:pPr>
            <a:r>
              <a:rPr lang="en-US" sz="1170" dirty="0">
                <a:solidFill>
                  <a:srgbClr val="17312F"/>
                </a:solidFill>
                <a:latin typeface="Aptos" pitchFamily="34" charset="0"/>
                <a:ea typeface="Aptos" pitchFamily="34" charset="-122"/>
                <a:cs typeface="Aptos" pitchFamily="34" charset="-120"/>
              </a:rPr>
              <a:t>≥90% aceitos; SLA definido por clínica</a:t>
            </a:r>
            <a:endParaRPr lang="en-US" sz="1170" dirty="0"/>
          </a:p>
        </p:txBody>
      </p:sp>
      <p:sp>
        <p:nvSpPr>
          <p:cNvPr id="29" name="Shape 26"/>
          <p:cNvSpPr/>
          <p:nvPr/>
        </p:nvSpPr>
        <p:spPr>
          <a:xfrm>
            <a:off x="557784" y="4700016"/>
            <a:ext cx="11109960" cy="530352"/>
          </a:xfrm>
          <a:prstGeom prst="rect">
            <a:avLst>
              <a:gd name="adj" fmla="val 20690"/>
            </a:avLst>
          </a:prstGeom>
          <a:solidFill>
            <a:srgbClr val="FFFFFF"/>
          </a:solidFill>
          <a:ln w="8890">
            <a:solidFill>
              <a:srgbClr val="DCE5DF"/>
            </a:solidFill>
            <a:prstDash val="solid"/>
          </a:ln>
        </p:spPr>
      </p:sp>
      <p:sp>
        <p:nvSpPr>
          <p:cNvPr id="30" name="Text 27"/>
          <p:cNvSpPr/>
          <p:nvPr/>
        </p:nvSpPr>
        <p:spPr>
          <a:xfrm>
            <a:off x="649224" y="4791456"/>
            <a:ext cx="2295144" cy="384048"/>
          </a:xfrm>
          <a:prstGeom prst="rect">
            <a:avLst/>
          </a:prstGeom>
          <a:noFill/>
          <a:ln/>
        </p:spPr>
        <p:txBody>
          <a:bodyPr wrap="square" lIns="0" tIns="0" rIns="0" bIns="0" rtlCol="0" anchor="t">
            <a:normAutofit/>
          </a:bodyPr>
          <a:lstStyle/>
          <a:p>
            <a:pPr indent="0" marL="0">
              <a:buNone/>
            </a:pPr>
            <a:r>
              <a:rPr lang="en-US" sz="1170" b="1" dirty="0">
                <a:solidFill>
                  <a:srgbClr val="0F766E"/>
                </a:solidFill>
                <a:latin typeface="Aptos Display" pitchFamily="34" charset="0"/>
                <a:ea typeface="Aptos Display" pitchFamily="34" charset="-122"/>
                <a:cs typeface="Aptos Display" pitchFamily="34" charset="-120"/>
              </a:rPr>
              <a:t>Comprador paga e renova?</a:t>
            </a:r>
            <a:endParaRPr lang="en-US" sz="1170" dirty="0"/>
          </a:p>
        </p:txBody>
      </p:sp>
      <p:sp>
        <p:nvSpPr>
          <p:cNvPr id="31" name="Text 28"/>
          <p:cNvSpPr/>
          <p:nvPr/>
        </p:nvSpPr>
        <p:spPr>
          <a:xfrm>
            <a:off x="3127248" y="4791456"/>
            <a:ext cx="4919472" cy="384048"/>
          </a:xfrm>
          <a:prstGeom prst="rect">
            <a:avLst/>
          </a:prstGeom>
          <a:noFill/>
          <a:ln/>
        </p:spPr>
        <p:txBody>
          <a:bodyPr wrap="square" lIns="0" tIns="0" rIns="0" bIns="0" rtlCol="0" anchor="t">
            <a:normAutofit/>
          </a:bodyPr>
          <a:lstStyle/>
          <a:p>
            <a:pPr indent="0" marL="0">
              <a:buNone/>
            </a:pPr>
            <a:r>
              <a:rPr lang="en-US" sz="1170" dirty="0">
                <a:solidFill>
                  <a:srgbClr val="17312F"/>
                </a:solidFill>
                <a:latin typeface="Aptos" pitchFamily="34" charset="0"/>
                <a:ea typeface="Aptos" pitchFamily="34" charset="-122"/>
                <a:cs typeface="Aptos" pitchFamily="34" charset="-120"/>
              </a:rPr>
              <a:t>Aceite de proposta + fatura + renovação</a:t>
            </a:r>
            <a:endParaRPr lang="en-US" sz="1170" dirty="0"/>
          </a:p>
        </p:txBody>
      </p:sp>
      <p:sp>
        <p:nvSpPr>
          <p:cNvPr id="32" name="Text 29"/>
          <p:cNvSpPr/>
          <p:nvPr/>
        </p:nvSpPr>
        <p:spPr>
          <a:xfrm>
            <a:off x="8229600" y="4791456"/>
            <a:ext cx="3346704" cy="384048"/>
          </a:xfrm>
          <a:prstGeom prst="rect">
            <a:avLst/>
          </a:prstGeom>
          <a:noFill/>
          <a:ln/>
        </p:spPr>
        <p:txBody>
          <a:bodyPr wrap="square" lIns="0" tIns="0" rIns="0" bIns="0" rtlCol="0" anchor="t">
            <a:normAutofit/>
          </a:bodyPr>
          <a:lstStyle/>
          <a:p>
            <a:pPr indent="0" marL="0">
              <a:buNone/>
            </a:pPr>
            <a:r>
              <a:rPr lang="en-US" sz="1170" dirty="0">
                <a:solidFill>
                  <a:srgbClr val="17312F"/>
                </a:solidFill>
                <a:latin typeface="Aptos" pitchFamily="34" charset="0"/>
                <a:ea typeface="Aptos" pitchFamily="34" charset="-122"/>
                <a:cs typeface="Aptos" pitchFamily="34" charset="-120"/>
              </a:rPr>
              <a:t>≥3/5 pagam; renovação 30–60d observável</a:t>
            </a:r>
            <a:endParaRPr lang="en-US" sz="1170" dirty="0"/>
          </a:p>
        </p:txBody>
      </p:sp>
      <p:sp>
        <p:nvSpPr>
          <p:cNvPr id="33" name="Text 30"/>
          <p:cNvSpPr/>
          <p:nvPr/>
        </p:nvSpPr>
        <p:spPr>
          <a:xfrm>
            <a:off x="640080" y="5660136"/>
            <a:ext cx="10945368" cy="475488"/>
          </a:xfrm>
          <a:prstGeom prst="rect">
            <a:avLst/>
          </a:prstGeom>
          <a:noFill/>
          <a:ln/>
        </p:spPr>
        <p:txBody>
          <a:bodyPr wrap="square" lIns="0" tIns="0" rIns="0" bIns="0" rtlCol="0" anchor="t">
            <a:normAutofit/>
          </a:bodyPr>
          <a:lstStyle/>
          <a:p>
            <a:pPr indent="0" marL="0">
              <a:buNone/>
            </a:pPr>
            <a:r>
              <a:rPr lang="en-US" sz="950" dirty="0">
                <a:solidFill>
                  <a:srgbClr val="657775"/>
                </a:solidFill>
                <a:latin typeface="Aptos" pitchFamily="34" charset="0"/>
                <a:ea typeface="Aptos" pitchFamily="34" charset="-122"/>
                <a:cs typeface="Aptos" pitchFamily="34" charset="-120"/>
              </a:rPr>
              <a:t>* Aproximação: teste bilateral 5%, poder 80%, grupos independentes equilibrados. Cluster, sazonalidade e deduplicação podem exigir mais.</a:t>
            </a:r>
            <a:endParaRPr lang="en-US" sz="950" dirty="0"/>
          </a:p>
          <a:p>
            <a:pPr indent="0" marL="0">
              <a:buNone/>
            </a:pPr>
            <a:r>
              <a:rPr lang="en-US" sz="950" dirty="0">
                <a:solidFill>
                  <a:srgbClr val="657775"/>
                </a:solidFill>
                <a:latin typeface="Aptos" pitchFamily="34" charset="0"/>
                <a:ea typeface="Aptos" pitchFamily="34" charset="-122"/>
                <a:cs typeface="Aptos" pitchFamily="34" charset="-120"/>
              </a:rPr>
              <a:t>** Regra de três com zero eventos; não prova ausência de risco. Incidente grave suspende a autonomia.</a:t>
            </a:r>
            <a:endParaRPr lang="en-US" sz="95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29 / GATES NO FINAL DO CICLO</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A decisão de continuar deve ser definida</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antes de ver os resultados.</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Não confundir muitos chats, uma demo bonita ou pilotos gratuitos com produto–mercado.</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Análise Oria · hipóteses e metas explicitadas · 14/10/2026</a:t>
            </a:r>
            <a:endParaRPr lang="en-US" sz="720" dirty="0"/>
          </a:p>
        </p:txBody>
      </p:sp>
      <p:sp>
        <p:nvSpPr>
          <p:cNvPr id="9" name="Shape 6"/>
          <p:cNvSpPr/>
          <p:nvPr/>
        </p:nvSpPr>
        <p:spPr>
          <a:xfrm>
            <a:off x="548640" y="2377440"/>
            <a:ext cx="3538728" cy="2322576"/>
          </a:xfrm>
          <a:prstGeom prst="roundRect">
            <a:avLst>
              <a:gd name="adj" fmla="val 4724"/>
            </a:avLst>
          </a:prstGeom>
          <a:solidFill>
            <a:srgbClr val="FFFFFF"/>
          </a:solidFill>
          <a:ln w="8890">
            <a:solidFill>
              <a:srgbClr val="DCE5DF"/>
            </a:solidFill>
            <a:prstDash val="solid"/>
          </a:ln>
        </p:spPr>
      </p:sp>
      <p:sp>
        <p:nvSpPr>
          <p:cNvPr id="10" name="Shape 7"/>
          <p:cNvSpPr/>
          <p:nvPr/>
        </p:nvSpPr>
        <p:spPr>
          <a:xfrm>
            <a:off x="713232" y="2578608"/>
            <a:ext cx="50292" cy="320040"/>
          </a:xfrm>
          <a:prstGeom prst="rect">
            <a:avLst>
              <a:gd name="adj" fmla="val 218182"/>
            </a:avLst>
          </a:prstGeom>
          <a:solidFill>
            <a:srgbClr val="0F766E"/>
          </a:solidFill>
          <a:ln w="8890">
            <a:solidFill>
              <a:srgbClr val="0F766E"/>
            </a:solidFill>
            <a:prstDash val="solid"/>
          </a:ln>
        </p:spPr>
      </p:sp>
      <p:sp>
        <p:nvSpPr>
          <p:cNvPr id="11" name="Text 8"/>
          <p:cNvSpPr/>
          <p:nvPr/>
        </p:nvSpPr>
        <p:spPr>
          <a:xfrm>
            <a:off x="877824" y="2587752"/>
            <a:ext cx="3026664" cy="438912"/>
          </a:xfrm>
          <a:prstGeom prst="rect">
            <a:avLst/>
          </a:prstGeom>
          <a:noFill/>
          <a:ln/>
        </p:spPr>
        <p:txBody>
          <a:bodyPr wrap="square" lIns="0" tIns="0" rIns="0" bIns="0" rtlCol="0" anchor="t">
            <a:normAutofit/>
          </a:bodyPr>
          <a:lstStyle/>
          <a:p>
            <a:pPr indent="0" marL="0">
              <a:buNone/>
            </a:pPr>
            <a:r>
              <a:rPr lang="en-US" sz="1800" b="1" dirty="0">
                <a:solidFill>
                  <a:srgbClr val="0F766E"/>
                </a:solidFill>
                <a:latin typeface="Aptos Display" pitchFamily="34" charset="0"/>
                <a:ea typeface="Aptos Display" pitchFamily="34" charset="-122"/>
                <a:cs typeface="Aptos Display" pitchFamily="34" charset="-120"/>
              </a:rPr>
              <a:t>CONTINUAR</a:t>
            </a:r>
            <a:endParaRPr lang="en-US" sz="1800" dirty="0"/>
          </a:p>
        </p:txBody>
      </p:sp>
      <p:sp>
        <p:nvSpPr>
          <p:cNvPr id="12" name="Text 9"/>
          <p:cNvSpPr/>
          <p:nvPr/>
        </p:nvSpPr>
        <p:spPr>
          <a:xfrm>
            <a:off x="758952" y="3072384"/>
            <a:ext cx="3118104" cy="1499616"/>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≥3/5 pagam; renovação inicial; valor &gt; custo; onboarding ≤1 dia útil; operação sem incidente grave.</a:t>
            </a:r>
            <a:endParaRPr lang="en-US" sz="1350" dirty="0"/>
          </a:p>
        </p:txBody>
      </p:sp>
      <p:sp>
        <p:nvSpPr>
          <p:cNvPr id="13" name="Shape 10"/>
          <p:cNvSpPr/>
          <p:nvPr/>
        </p:nvSpPr>
        <p:spPr>
          <a:xfrm>
            <a:off x="4334256" y="2377440"/>
            <a:ext cx="3538728" cy="2322576"/>
          </a:xfrm>
          <a:prstGeom prst="roundRect">
            <a:avLst>
              <a:gd name="adj" fmla="val 4724"/>
            </a:avLst>
          </a:prstGeom>
          <a:solidFill>
            <a:srgbClr val="FFFFFF"/>
          </a:solidFill>
          <a:ln w="8890">
            <a:solidFill>
              <a:srgbClr val="DCE5DF"/>
            </a:solidFill>
            <a:prstDash val="solid"/>
          </a:ln>
        </p:spPr>
      </p:sp>
      <p:sp>
        <p:nvSpPr>
          <p:cNvPr id="14" name="Shape 11"/>
          <p:cNvSpPr/>
          <p:nvPr/>
        </p:nvSpPr>
        <p:spPr>
          <a:xfrm>
            <a:off x="4498848" y="2578608"/>
            <a:ext cx="50292" cy="320040"/>
          </a:xfrm>
          <a:prstGeom prst="rect">
            <a:avLst>
              <a:gd name="adj" fmla="val 218182"/>
            </a:avLst>
          </a:prstGeom>
          <a:solidFill>
            <a:srgbClr val="997039"/>
          </a:solidFill>
          <a:ln w="8890">
            <a:solidFill>
              <a:srgbClr val="997039"/>
            </a:solidFill>
            <a:prstDash val="solid"/>
          </a:ln>
        </p:spPr>
      </p:sp>
      <p:sp>
        <p:nvSpPr>
          <p:cNvPr id="15" name="Text 12"/>
          <p:cNvSpPr/>
          <p:nvPr/>
        </p:nvSpPr>
        <p:spPr>
          <a:xfrm>
            <a:off x="4663440" y="2587752"/>
            <a:ext cx="3026664" cy="438912"/>
          </a:xfrm>
          <a:prstGeom prst="rect">
            <a:avLst/>
          </a:prstGeom>
          <a:noFill/>
          <a:ln/>
        </p:spPr>
        <p:txBody>
          <a:bodyPr wrap="square" lIns="0" tIns="0" rIns="0" bIns="0" rtlCol="0" anchor="t">
            <a:normAutofit/>
          </a:bodyPr>
          <a:lstStyle/>
          <a:p>
            <a:pPr indent="0" marL="0">
              <a:buNone/>
            </a:pPr>
            <a:r>
              <a:rPr lang="en-US" sz="1800" b="1" dirty="0">
                <a:solidFill>
                  <a:srgbClr val="997039"/>
                </a:solidFill>
                <a:latin typeface="Aptos Display" pitchFamily="34" charset="0"/>
                <a:ea typeface="Aptos Display" pitchFamily="34" charset="-122"/>
                <a:cs typeface="Aptos Display" pitchFamily="34" charset="-120"/>
              </a:rPr>
              <a:t>AJUSTAR O RECORTE</a:t>
            </a:r>
            <a:endParaRPr lang="en-US" sz="1800" dirty="0"/>
          </a:p>
        </p:txBody>
      </p:sp>
      <p:sp>
        <p:nvSpPr>
          <p:cNvPr id="16" name="Text 13"/>
          <p:cNvSpPr/>
          <p:nvPr/>
        </p:nvSpPr>
        <p:spPr>
          <a:xfrm>
            <a:off x="4544568" y="3072384"/>
            <a:ext cx="3118104" cy="1499616"/>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Há dor e pagamento, mas um workflow, preço ou conector concentra falhas. Reduzir escopo e repetir a coorte.</a:t>
            </a:r>
            <a:endParaRPr lang="en-US" sz="1350" dirty="0"/>
          </a:p>
        </p:txBody>
      </p:sp>
      <p:sp>
        <p:nvSpPr>
          <p:cNvPr id="17" name="Shape 14"/>
          <p:cNvSpPr/>
          <p:nvPr/>
        </p:nvSpPr>
        <p:spPr>
          <a:xfrm>
            <a:off x="8129016" y="2377440"/>
            <a:ext cx="3511296" cy="2322576"/>
          </a:xfrm>
          <a:prstGeom prst="roundRect">
            <a:avLst>
              <a:gd name="adj" fmla="val 4724"/>
            </a:avLst>
          </a:prstGeom>
          <a:solidFill>
            <a:srgbClr val="FFFFFF"/>
          </a:solidFill>
          <a:ln w="8890">
            <a:solidFill>
              <a:srgbClr val="DCE5DF"/>
            </a:solidFill>
            <a:prstDash val="solid"/>
          </a:ln>
        </p:spPr>
      </p:sp>
      <p:sp>
        <p:nvSpPr>
          <p:cNvPr id="18" name="Shape 15"/>
          <p:cNvSpPr/>
          <p:nvPr/>
        </p:nvSpPr>
        <p:spPr>
          <a:xfrm>
            <a:off x="8293608" y="2578608"/>
            <a:ext cx="50292" cy="320040"/>
          </a:xfrm>
          <a:prstGeom prst="rect">
            <a:avLst>
              <a:gd name="adj" fmla="val 218182"/>
            </a:avLst>
          </a:prstGeom>
          <a:solidFill>
            <a:srgbClr val="E67861"/>
          </a:solidFill>
          <a:ln w="8890">
            <a:solidFill>
              <a:srgbClr val="E67861"/>
            </a:solidFill>
            <a:prstDash val="solid"/>
          </a:ln>
        </p:spPr>
      </p:sp>
      <p:sp>
        <p:nvSpPr>
          <p:cNvPr id="19" name="Text 16"/>
          <p:cNvSpPr/>
          <p:nvPr/>
        </p:nvSpPr>
        <p:spPr>
          <a:xfrm>
            <a:off x="8458200" y="2587752"/>
            <a:ext cx="2999232" cy="438912"/>
          </a:xfrm>
          <a:prstGeom prst="rect">
            <a:avLst/>
          </a:prstGeom>
          <a:noFill/>
          <a:ln/>
        </p:spPr>
        <p:txBody>
          <a:bodyPr wrap="square" lIns="0" tIns="0" rIns="0" bIns="0" rtlCol="0" anchor="t">
            <a:normAutofit/>
          </a:bodyPr>
          <a:lstStyle/>
          <a:p>
            <a:pPr indent="0" marL="0">
              <a:buNone/>
            </a:pPr>
            <a:r>
              <a:rPr lang="en-US" sz="1800" b="1" dirty="0">
                <a:solidFill>
                  <a:srgbClr val="E67861"/>
                </a:solidFill>
                <a:latin typeface="Aptos Display" pitchFamily="34" charset="0"/>
                <a:ea typeface="Aptos Display" pitchFamily="34" charset="-122"/>
                <a:cs typeface="Aptos Display" pitchFamily="34" charset="-120"/>
              </a:rPr>
              <a:t>PAUSAR / PARAR</a:t>
            </a:r>
            <a:endParaRPr lang="en-US" sz="1800" dirty="0"/>
          </a:p>
        </p:txBody>
      </p:sp>
      <p:sp>
        <p:nvSpPr>
          <p:cNvPr id="20" name="Text 17"/>
          <p:cNvSpPr/>
          <p:nvPr/>
        </p:nvSpPr>
        <p:spPr>
          <a:xfrm>
            <a:off x="8339328" y="3072384"/>
            <a:ext cx="3090672" cy="1499616"/>
          </a:xfrm>
          <a:prstGeom prst="rect">
            <a:avLst/>
          </a:prstGeom>
          <a:noFill/>
          <a:ln/>
        </p:spPr>
        <p:txBody>
          <a:bodyPr wrap="square" lIns="0" tIns="0" rIns="0" bIns="0" rtlCol="0" anchor="t">
            <a:normAutofit/>
          </a:bodyPr>
          <a:lstStyle/>
          <a:p>
            <a:pPr indent="0" marL="0">
              <a:buNone/>
            </a:pPr>
            <a:r>
              <a:rPr lang="en-US" sz="1350" dirty="0">
                <a:solidFill>
                  <a:srgbClr val="17312F"/>
                </a:solidFill>
                <a:latin typeface="Aptos" pitchFamily="34" charset="0"/>
                <a:ea typeface="Aptos" pitchFamily="34" charset="-122"/>
                <a:cs typeface="Aptos" pitchFamily="34" charset="-120"/>
              </a:rPr>
              <a:t>Sem acesso à agenda; equipe refaz ações; custo excede valor; indisponibilidade recorrente; risco clínico ou dados não controlados.</a:t>
            </a:r>
            <a:endParaRPr lang="en-US" sz="1350" dirty="0"/>
          </a:p>
        </p:txBody>
      </p:sp>
      <p:sp>
        <p:nvSpPr>
          <p:cNvPr id="21" name="Shape 18"/>
          <p:cNvSpPr/>
          <p:nvPr/>
        </p:nvSpPr>
        <p:spPr>
          <a:xfrm>
            <a:off x="576072" y="5120640"/>
            <a:ext cx="2926080" cy="256032"/>
          </a:xfrm>
          <a:prstGeom prst="roundRect">
            <a:avLst>
              <a:gd name="adj" fmla="val 42857"/>
            </a:avLst>
          </a:prstGeom>
          <a:solidFill>
            <a:srgbClr val="FAE9E2"/>
          </a:solidFill>
          <a:ln w="8890">
            <a:solidFill>
              <a:srgbClr val="FAE9E2"/>
            </a:solidFill>
            <a:prstDash val="solid"/>
          </a:ln>
        </p:spPr>
      </p:sp>
      <p:sp>
        <p:nvSpPr>
          <p:cNvPr id="22" name="Text 19"/>
          <p:cNvSpPr/>
          <p:nvPr/>
        </p:nvSpPr>
        <p:spPr>
          <a:xfrm>
            <a:off x="667512" y="5152644"/>
            <a:ext cx="2743200" cy="155448"/>
          </a:xfrm>
          <a:prstGeom prst="rect">
            <a:avLst/>
          </a:prstGeom>
          <a:noFill/>
          <a:ln/>
        </p:spPr>
        <p:txBody>
          <a:bodyPr wrap="square" lIns="0" tIns="0" rIns="0" bIns="0" rtlCol="0" anchor="t">
            <a:normAutofit/>
          </a:bodyPr>
          <a:lstStyle/>
          <a:p>
            <a:pPr indent="0" marL="0">
              <a:buNone/>
            </a:pPr>
            <a:r>
              <a:rPr lang="en-US" sz="850" b="1" dirty="0">
                <a:solidFill>
                  <a:srgbClr val="E67861"/>
                </a:solidFill>
                <a:latin typeface="Aptos Display" pitchFamily="34" charset="0"/>
                <a:ea typeface="Aptos Display" pitchFamily="34" charset="-122"/>
                <a:cs typeface="Aptos Display" pitchFamily="34" charset="-120"/>
              </a:rPr>
              <a:t>METAS — NÃO ESTADO ATUAL</a:t>
            </a:r>
            <a:endParaRPr lang="en-US" sz="850" dirty="0"/>
          </a:p>
        </p:txBody>
      </p:sp>
      <p:sp>
        <p:nvSpPr>
          <p:cNvPr id="23" name="Text 20"/>
          <p:cNvSpPr/>
          <p:nvPr/>
        </p:nvSpPr>
        <p:spPr>
          <a:xfrm>
            <a:off x="603504" y="5559552"/>
            <a:ext cx="10954512" cy="530352"/>
          </a:xfrm>
          <a:prstGeom prst="rect">
            <a:avLst/>
          </a:prstGeom>
          <a:noFill/>
          <a:ln/>
        </p:spPr>
        <p:txBody>
          <a:bodyPr wrap="square" lIns="0" tIns="0" rIns="0" bIns="0" rtlCol="0" anchor="t">
            <a:normAutofit/>
          </a:bodyPr>
          <a:lstStyle/>
          <a:p>
            <a:pPr indent="0" marL="0">
              <a:buNone/>
            </a:pPr>
            <a:r>
              <a:rPr lang="en-US" sz="2000" b="1" dirty="0">
                <a:solidFill>
                  <a:srgbClr val="17312F"/>
                </a:solidFill>
                <a:latin typeface="Aptos Display" pitchFamily="34" charset="0"/>
                <a:ea typeface="Aptos Display" pitchFamily="34" charset="-122"/>
                <a:cs typeface="Aptos Display" pitchFamily="34" charset="-120"/>
              </a:rPr>
              <a:t>Se os gates passam: expandir dentro do mesmo nicho antes de adicionar outra categoria de produto.</a:t>
            </a:r>
            <a:endParaRPr lang="en-US" sz="20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30 / PRÓXIMOS 7 DIAS</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O trabalho desta semana</a:t>
            </a:r>
            <a:endParaRPr lang="en-US" sz="2900" dirty="0"/>
          </a:p>
          <a:p>
            <a:pPr indent="0" marL="0">
              <a:buNone/>
            </a:pPr>
            <a:r>
              <a:rPr lang="en-US" sz="2900" b="1" dirty="0">
                <a:solidFill>
                  <a:srgbClr val="17312F"/>
                </a:solidFill>
                <a:latin typeface="Aptos Display" pitchFamily="34" charset="0"/>
                <a:ea typeface="Aptos Display" pitchFamily="34" charset="-122"/>
                <a:cs typeface="Aptos Display" pitchFamily="34" charset="-120"/>
              </a:rPr>
              <a:t>é obter acesso, baseline e compromisso.</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A menor próxima ação deve reduzir uma incerteza comercial ou operacional.</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Análise Oria · hipóteses e metas explicitadas · 14/10/2026</a:t>
            </a:r>
            <a:endParaRPr lang="en-US" sz="720" dirty="0"/>
          </a:p>
        </p:txBody>
      </p:sp>
      <p:sp>
        <p:nvSpPr>
          <p:cNvPr id="9" name="Shape 6"/>
          <p:cNvSpPr/>
          <p:nvPr/>
        </p:nvSpPr>
        <p:spPr>
          <a:xfrm>
            <a:off x="557784" y="2185416"/>
            <a:ext cx="11109960" cy="384048"/>
          </a:xfrm>
          <a:prstGeom prst="rect">
            <a:avLst>
              <a:gd name="adj" fmla="val 28571"/>
            </a:avLst>
          </a:prstGeom>
          <a:solidFill>
            <a:srgbClr val="0B3430"/>
          </a:solidFill>
          <a:ln w="8890">
            <a:solidFill>
              <a:srgbClr val="0B3430"/>
            </a:solidFill>
            <a:prstDash val="solid"/>
          </a:ln>
        </p:spPr>
      </p:sp>
      <p:sp>
        <p:nvSpPr>
          <p:cNvPr id="10" name="Text 7"/>
          <p:cNvSpPr/>
          <p:nvPr/>
        </p:nvSpPr>
        <p:spPr>
          <a:xfrm>
            <a:off x="649224" y="2286000"/>
            <a:ext cx="941832"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Quando</a:t>
            </a:r>
            <a:endParaRPr lang="en-US" sz="1050" dirty="0"/>
          </a:p>
        </p:txBody>
      </p:sp>
      <p:sp>
        <p:nvSpPr>
          <p:cNvPr id="11" name="Text 8"/>
          <p:cNvSpPr/>
          <p:nvPr/>
        </p:nvSpPr>
        <p:spPr>
          <a:xfrm>
            <a:off x="1773936" y="2286000"/>
            <a:ext cx="2514600"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Responsável</a:t>
            </a:r>
            <a:endParaRPr lang="en-US" sz="1050" dirty="0"/>
          </a:p>
        </p:txBody>
      </p:sp>
      <p:sp>
        <p:nvSpPr>
          <p:cNvPr id="12" name="Text 9"/>
          <p:cNvSpPr/>
          <p:nvPr/>
        </p:nvSpPr>
        <p:spPr>
          <a:xfrm>
            <a:off x="4471416" y="2286000"/>
            <a:ext cx="7104888"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Entregável persistente</a:t>
            </a:r>
            <a:endParaRPr lang="en-US" sz="1050" dirty="0"/>
          </a:p>
        </p:txBody>
      </p:sp>
      <p:sp>
        <p:nvSpPr>
          <p:cNvPr id="13" name="Shape 10"/>
          <p:cNvSpPr/>
          <p:nvPr/>
        </p:nvSpPr>
        <p:spPr>
          <a:xfrm>
            <a:off x="557784" y="2569464"/>
            <a:ext cx="11109960" cy="530352"/>
          </a:xfrm>
          <a:prstGeom prst="rect">
            <a:avLst>
              <a:gd name="adj" fmla="val 20690"/>
            </a:avLst>
          </a:prstGeom>
          <a:solidFill>
            <a:srgbClr val="FFFFFF"/>
          </a:solidFill>
          <a:ln w="8890">
            <a:solidFill>
              <a:srgbClr val="DCE5DF"/>
            </a:solidFill>
            <a:prstDash val="solid"/>
          </a:ln>
        </p:spPr>
      </p:sp>
      <p:sp>
        <p:nvSpPr>
          <p:cNvPr id="14" name="Text 11"/>
          <p:cNvSpPr/>
          <p:nvPr/>
        </p:nvSpPr>
        <p:spPr>
          <a:xfrm>
            <a:off x="649224" y="2660904"/>
            <a:ext cx="941832" cy="384048"/>
          </a:xfrm>
          <a:prstGeom prst="rect">
            <a:avLst/>
          </a:prstGeom>
          <a:noFill/>
          <a:ln/>
        </p:spPr>
        <p:txBody>
          <a:bodyPr wrap="square" lIns="0" tIns="0" rIns="0" bIns="0" rtlCol="0" anchor="t">
            <a:normAutofit/>
          </a:bodyPr>
          <a:lstStyle/>
          <a:p>
            <a:pPr indent="0" marL="0">
              <a:buNone/>
            </a:pPr>
            <a:r>
              <a:rPr lang="en-US" sz="1230" b="1" dirty="0">
                <a:solidFill>
                  <a:srgbClr val="0F766E"/>
                </a:solidFill>
                <a:latin typeface="Aptos Display" pitchFamily="34" charset="0"/>
                <a:ea typeface="Aptos Display" pitchFamily="34" charset="-122"/>
                <a:cs typeface="Aptos Display" pitchFamily="34" charset="-120"/>
              </a:rPr>
              <a:t>D1</a:t>
            </a:r>
            <a:endParaRPr lang="en-US" sz="1230" dirty="0"/>
          </a:p>
        </p:txBody>
      </p:sp>
      <p:sp>
        <p:nvSpPr>
          <p:cNvPr id="15" name="Text 12"/>
          <p:cNvSpPr/>
          <p:nvPr/>
        </p:nvSpPr>
        <p:spPr>
          <a:xfrm>
            <a:off x="1773936" y="2660904"/>
            <a:ext cx="2514600" cy="384048"/>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Fundador / produto</a:t>
            </a:r>
            <a:endParaRPr lang="en-US" sz="1230" dirty="0"/>
          </a:p>
        </p:txBody>
      </p:sp>
      <p:sp>
        <p:nvSpPr>
          <p:cNvPr id="16" name="Text 13"/>
          <p:cNvSpPr/>
          <p:nvPr/>
        </p:nvSpPr>
        <p:spPr>
          <a:xfrm>
            <a:off x="4471416" y="2660904"/>
            <a:ext cx="7104888" cy="384048"/>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Definir 1 ICP, 1 workflow e 50 clínicas-alvo</a:t>
            </a:r>
            <a:endParaRPr lang="en-US" sz="1230" dirty="0"/>
          </a:p>
        </p:txBody>
      </p:sp>
      <p:sp>
        <p:nvSpPr>
          <p:cNvPr id="17" name="Shape 14"/>
          <p:cNvSpPr/>
          <p:nvPr/>
        </p:nvSpPr>
        <p:spPr>
          <a:xfrm>
            <a:off x="557784" y="3099816"/>
            <a:ext cx="11109960" cy="530352"/>
          </a:xfrm>
          <a:prstGeom prst="rect">
            <a:avLst>
              <a:gd name="adj" fmla="val 20690"/>
            </a:avLst>
          </a:prstGeom>
          <a:solidFill>
            <a:srgbClr val="FCFAF6"/>
          </a:solidFill>
          <a:ln w="8890">
            <a:solidFill>
              <a:srgbClr val="DCE5DF"/>
            </a:solidFill>
            <a:prstDash val="solid"/>
          </a:ln>
        </p:spPr>
      </p:sp>
      <p:sp>
        <p:nvSpPr>
          <p:cNvPr id="18" name="Text 15"/>
          <p:cNvSpPr/>
          <p:nvPr/>
        </p:nvSpPr>
        <p:spPr>
          <a:xfrm>
            <a:off x="649224" y="3191256"/>
            <a:ext cx="941832" cy="384048"/>
          </a:xfrm>
          <a:prstGeom prst="rect">
            <a:avLst/>
          </a:prstGeom>
          <a:noFill/>
          <a:ln/>
        </p:spPr>
        <p:txBody>
          <a:bodyPr wrap="square" lIns="0" tIns="0" rIns="0" bIns="0" rtlCol="0" anchor="t">
            <a:normAutofit/>
          </a:bodyPr>
          <a:lstStyle/>
          <a:p>
            <a:pPr indent="0" marL="0">
              <a:buNone/>
            </a:pPr>
            <a:r>
              <a:rPr lang="en-US" sz="1230" b="1" dirty="0">
                <a:solidFill>
                  <a:srgbClr val="0F766E"/>
                </a:solidFill>
                <a:latin typeface="Aptos Display" pitchFamily="34" charset="0"/>
                <a:ea typeface="Aptos Display" pitchFamily="34" charset="-122"/>
                <a:cs typeface="Aptos Display" pitchFamily="34" charset="-120"/>
              </a:rPr>
              <a:t>D1–2</a:t>
            </a:r>
            <a:endParaRPr lang="en-US" sz="1230" dirty="0"/>
          </a:p>
        </p:txBody>
      </p:sp>
      <p:sp>
        <p:nvSpPr>
          <p:cNvPr id="19" name="Text 16"/>
          <p:cNvSpPr/>
          <p:nvPr/>
        </p:nvSpPr>
        <p:spPr>
          <a:xfrm>
            <a:off x="1773936" y="3191256"/>
            <a:ext cx="2514600" cy="384048"/>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Engenharia</a:t>
            </a:r>
            <a:endParaRPr lang="en-US" sz="1230" dirty="0"/>
          </a:p>
        </p:txBody>
      </p:sp>
      <p:sp>
        <p:nvSpPr>
          <p:cNvPr id="20" name="Text 17"/>
          <p:cNvSpPr/>
          <p:nvPr/>
        </p:nvSpPr>
        <p:spPr>
          <a:xfrm>
            <a:off x="4471416" y="3191256"/>
            <a:ext cx="7104888" cy="384048"/>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Diagnosticar carregamento das rotas; walkthrough estável</a:t>
            </a:r>
            <a:endParaRPr lang="en-US" sz="1230" dirty="0"/>
          </a:p>
        </p:txBody>
      </p:sp>
      <p:sp>
        <p:nvSpPr>
          <p:cNvPr id="21" name="Shape 18"/>
          <p:cNvSpPr/>
          <p:nvPr/>
        </p:nvSpPr>
        <p:spPr>
          <a:xfrm>
            <a:off x="557784" y="3630168"/>
            <a:ext cx="11109960" cy="530352"/>
          </a:xfrm>
          <a:prstGeom prst="rect">
            <a:avLst>
              <a:gd name="adj" fmla="val 20690"/>
            </a:avLst>
          </a:prstGeom>
          <a:solidFill>
            <a:srgbClr val="FFFFFF"/>
          </a:solidFill>
          <a:ln w="8890">
            <a:solidFill>
              <a:srgbClr val="DCE5DF"/>
            </a:solidFill>
            <a:prstDash val="solid"/>
          </a:ln>
        </p:spPr>
      </p:sp>
      <p:sp>
        <p:nvSpPr>
          <p:cNvPr id="22" name="Text 19"/>
          <p:cNvSpPr/>
          <p:nvPr/>
        </p:nvSpPr>
        <p:spPr>
          <a:xfrm>
            <a:off x="649224" y="3721608"/>
            <a:ext cx="941832" cy="384048"/>
          </a:xfrm>
          <a:prstGeom prst="rect">
            <a:avLst/>
          </a:prstGeom>
          <a:noFill/>
          <a:ln/>
        </p:spPr>
        <p:txBody>
          <a:bodyPr wrap="square" lIns="0" tIns="0" rIns="0" bIns="0" rtlCol="0" anchor="t">
            <a:normAutofit/>
          </a:bodyPr>
          <a:lstStyle/>
          <a:p>
            <a:pPr indent="0" marL="0">
              <a:buNone/>
            </a:pPr>
            <a:r>
              <a:rPr lang="en-US" sz="1230" b="1" dirty="0">
                <a:solidFill>
                  <a:srgbClr val="0F766E"/>
                </a:solidFill>
                <a:latin typeface="Aptos Display" pitchFamily="34" charset="0"/>
                <a:ea typeface="Aptos Display" pitchFamily="34" charset="-122"/>
                <a:cs typeface="Aptos Display" pitchFamily="34" charset="-120"/>
              </a:rPr>
              <a:t>D2–3</a:t>
            </a:r>
            <a:endParaRPr lang="en-US" sz="1230" dirty="0"/>
          </a:p>
        </p:txBody>
      </p:sp>
      <p:sp>
        <p:nvSpPr>
          <p:cNvPr id="23" name="Text 20"/>
          <p:cNvSpPr/>
          <p:nvPr/>
        </p:nvSpPr>
        <p:spPr>
          <a:xfrm>
            <a:off x="1773936" y="3721608"/>
            <a:ext cx="2514600" cy="384048"/>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Fundador / operações</a:t>
            </a:r>
            <a:endParaRPr lang="en-US" sz="1230" dirty="0"/>
          </a:p>
        </p:txBody>
      </p:sp>
      <p:sp>
        <p:nvSpPr>
          <p:cNvPr id="24" name="Text 21"/>
          <p:cNvSpPr/>
          <p:nvPr/>
        </p:nvSpPr>
        <p:spPr>
          <a:xfrm>
            <a:off x="4471416" y="3721608"/>
            <a:ext cx="7104888" cy="384048"/>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Agendar 15 entrevistas; obter 3 acessos à agenda</a:t>
            </a:r>
            <a:endParaRPr lang="en-US" sz="1230" dirty="0"/>
          </a:p>
        </p:txBody>
      </p:sp>
      <p:sp>
        <p:nvSpPr>
          <p:cNvPr id="25" name="Shape 22"/>
          <p:cNvSpPr/>
          <p:nvPr/>
        </p:nvSpPr>
        <p:spPr>
          <a:xfrm>
            <a:off x="557784" y="4160520"/>
            <a:ext cx="11109960" cy="530352"/>
          </a:xfrm>
          <a:prstGeom prst="rect">
            <a:avLst>
              <a:gd name="adj" fmla="val 20690"/>
            </a:avLst>
          </a:prstGeom>
          <a:solidFill>
            <a:srgbClr val="FCFAF6"/>
          </a:solidFill>
          <a:ln w="8890">
            <a:solidFill>
              <a:srgbClr val="DCE5DF"/>
            </a:solidFill>
            <a:prstDash val="solid"/>
          </a:ln>
        </p:spPr>
      </p:sp>
      <p:sp>
        <p:nvSpPr>
          <p:cNvPr id="26" name="Text 23"/>
          <p:cNvSpPr/>
          <p:nvPr/>
        </p:nvSpPr>
        <p:spPr>
          <a:xfrm>
            <a:off x="649224" y="4251960"/>
            <a:ext cx="941832" cy="384048"/>
          </a:xfrm>
          <a:prstGeom prst="rect">
            <a:avLst/>
          </a:prstGeom>
          <a:noFill/>
          <a:ln/>
        </p:spPr>
        <p:txBody>
          <a:bodyPr wrap="square" lIns="0" tIns="0" rIns="0" bIns="0" rtlCol="0" anchor="t">
            <a:normAutofit/>
          </a:bodyPr>
          <a:lstStyle/>
          <a:p>
            <a:pPr indent="0" marL="0">
              <a:buNone/>
            </a:pPr>
            <a:r>
              <a:rPr lang="en-US" sz="1230" b="1" dirty="0">
                <a:solidFill>
                  <a:srgbClr val="0F766E"/>
                </a:solidFill>
                <a:latin typeface="Aptos Display" pitchFamily="34" charset="0"/>
                <a:ea typeface="Aptos Display" pitchFamily="34" charset="-122"/>
                <a:cs typeface="Aptos Display" pitchFamily="34" charset="-120"/>
              </a:rPr>
              <a:t>D2–4</a:t>
            </a:r>
            <a:endParaRPr lang="en-US" sz="1230" dirty="0"/>
          </a:p>
        </p:txBody>
      </p:sp>
      <p:sp>
        <p:nvSpPr>
          <p:cNvPr id="27" name="Text 24"/>
          <p:cNvSpPr/>
          <p:nvPr/>
        </p:nvSpPr>
        <p:spPr>
          <a:xfrm>
            <a:off x="1773936" y="4251960"/>
            <a:ext cx="2514600" cy="384048"/>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Engenharia</a:t>
            </a:r>
            <a:endParaRPr lang="en-US" sz="1230" dirty="0"/>
          </a:p>
        </p:txBody>
      </p:sp>
      <p:sp>
        <p:nvSpPr>
          <p:cNvPr id="28" name="Text 25"/>
          <p:cNvSpPr/>
          <p:nvPr/>
        </p:nvSpPr>
        <p:spPr>
          <a:xfrm>
            <a:off x="4471416" y="4251960"/>
            <a:ext cx="7104888" cy="384048"/>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Contrato de eventos, baseline e testes de isolamento</a:t>
            </a:r>
            <a:endParaRPr lang="en-US" sz="1230" dirty="0"/>
          </a:p>
        </p:txBody>
      </p:sp>
      <p:sp>
        <p:nvSpPr>
          <p:cNvPr id="29" name="Shape 26"/>
          <p:cNvSpPr/>
          <p:nvPr/>
        </p:nvSpPr>
        <p:spPr>
          <a:xfrm>
            <a:off x="557784" y="4690872"/>
            <a:ext cx="11109960" cy="530352"/>
          </a:xfrm>
          <a:prstGeom prst="rect">
            <a:avLst>
              <a:gd name="adj" fmla="val 20690"/>
            </a:avLst>
          </a:prstGeom>
          <a:solidFill>
            <a:srgbClr val="FFFFFF"/>
          </a:solidFill>
          <a:ln w="8890">
            <a:solidFill>
              <a:srgbClr val="DCE5DF"/>
            </a:solidFill>
            <a:prstDash val="solid"/>
          </a:ln>
        </p:spPr>
      </p:sp>
      <p:sp>
        <p:nvSpPr>
          <p:cNvPr id="30" name="Text 27"/>
          <p:cNvSpPr/>
          <p:nvPr/>
        </p:nvSpPr>
        <p:spPr>
          <a:xfrm>
            <a:off x="649224" y="4782312"/>
            <a:ext cx="941832" cy="384048"/>
          </a:xfrm>
          <a:prstGeom prst="rect">
            <a:avLst/>
          </a:prstGeom>
          <a:noFill/>
          <a:ln/>
        </p:spPr>
        <p:txBody>
          <a:bodyPr wrap="square" lIns="0" tIns="0" rIns="0" bIns="0" rtlCol="0" anchor="t">
            <a:normAutofit/>
          </a:bodyPr>
          <a:lstStyle/>
          <a:p>
            <a:pPr indent="0" marL="0">
              <a:buNone/>
            </a:pPr>
            <a:r>
              <a:rPr lang="en-US" sz="1230" b="1" dirty="0">
                <a:solidFill>
                  <a:srgbClr val="0F766E"/>
                </a:solidFill>
                <a:latin typeface="Aptos Display" pitchFamily="34" charset="0"/>
                <a:ea typeface="Aptos Display" pitchFamily="34" charset="-122"/>
                <a:cs typeface="Aptos Display" pitchFamily="34" charset="-120"/>
              </a:rPr>
              <a:t>D3–5</a:t>
            </a:r>
            <a:endParaRPr lang="en-US" sz="1230" dirty="0"/>
          </a:p>
        </p:txBody>
      </p:sp>
      <p:sp>
        <p:nvSpPr>
          <p:cNvPr id="31" name="Text 28"/>
          <p:cNvSpPr/>
          <p:nvPr/>
        </p:nvSpPr>
        <p:spPr>
          <a:xfrm>
            <a:off x="1773936" y="4782312"/>
            <a:ext cx="2514600" cy="384048"/>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Jurídico / responsável clínico</a:t>
            </a:r>
            <a:endParaRPr lang="en-US" sz="1230" dirty="0"/>
          </a:p>
        </p:txBody>
      </p:sp>
      <p:sp>
        <p:nvSpPr>
          <p:cNvPr id="32" name="Text 29"/>
          <p:cNvSpPr/>
          <p:nvPr/>
        </p:nvSpPr>
        <p:spPr>
          <a:xfrm>
            <a:off x="4471416" y="4782312"/>
            <a:ext cx="7104888" cy="384048"/>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Escopo, dados, contratos e textos aprovados</a:t>
            </a:r>
            <a:endParaRPr lang="en-US" sz="1230" dirty="0"/>
          </a:p>
        </p:txBody>
      </p:sp>
      <p:sp>
        <p:nvSpPr>
          <p:cNvPr id="33" name="Shape 30"/>
          <p:cNvSpPr/>
          <p:nvPr/>
        </p:nvSpPr>
        <p:spPr>
          <a:xfrm>
            <a:off x="557784" y="5221224"/>
            <a:ext cx="11109960" cy="530352"/>
          </a:xfrm>
          <a:prstGeom prst="rect">
            <a:avLst>
              <a:gd name="adj" fmla="val 20690"/>
            </a:avLst>
          </a:prstGeom>
          <a:solidFill>
            <a:srgbClr val="FCFAF6"/>
          </a:solidFill>
          <a:ln w="8890">
            <a:solidFill>
              <a:srgbClr val="DCE5DF"/>
            </a:solidFill>
            <a:prstDash val="solid"/>
          </a:ln>
        </p:spPr>
      </p:sp>
      <p:sp>
        <p:nvSpPr>
          <p:cNvPr id="34" name="Text 31"/>
          <p:cNvSpPr/>
          <p:nvPr/>
        </p:nvSpPr>
        <p:spPr>
          <a:xfrm>
            <a:off x="649224" y="5312664"/>
            <a:ext cx="941832" cy="384048"/>
          </a:xfrm>
          <a:prstGeom prst="rect">
            <a:avLst/>
          </a:prstGeom>
          <a:noFill/>
          <a:ln/>
        </p:spPr>
        <p:txBody>
          <a:bodyPr wrap="square" lIns="0" tIns="0" rIns="0" bIns="0" rtlCol="0" anchor="t">
            <a:normAutofit/>
          </a:bodyPr>
          <a:lstStyle/>
          <a:p>
            <a:pPr indent="0" marL="0">
              <a:buNone/>
            </a:pPr>
            <a:r>
              <a:rPr lang="en-US" sz="1230" b="1" dirty="0">
                <a:solidFill>
                  <a:srgbClr val="0F766E"/>
                </a:solidFill>
                <a:latin typeface="Aptos Display" pitchFamily="34" charset="0"/>
                <a:ea typeface="Aptos Display" pitchFamily="34" charset="-122"/>
                <a:cs typeface="Aptos Display" pitchFamily="34" charset="-120"/>
              </a:rPr>
              <a:t>D5–7</a:t>
            </a:r>
            <a:endParaRPr lang="en-US" sz="1230" dirty="0"/>
          </a:p>
        </p:txBody>
      </p:sp>
      <p:sp>
        <p:nvSpPr>
          <p:cNvPr id="35" name="Text 32"/>
          <p:cNvSpPr/>
          <p:nvPr/>
        </p:nvSpPr>
        <p:spPr>
          <a:xfrm>
            <a:off x="1773936" y="5312664"/>
            <a:ext cx="2514600" cy="384048"/>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Fundador / cliente</a:t>
            </a:r>
            <a:endParaRPr lang="en-US" sz="1230" dirty="0"/>
          </a:p>
        </p:txBody>
      </p:sp>
      <p:sp>
        <p:nvSpPr>
          <p:cNvPr id="36" name="Text 33"/>
          <p:cNvSpPr/>
          <p:nvPr/>
        </p:nvSpPr>
        <p:spPr>
          <a:xfrm>
            <a:off x="4471416" y="5312664"/>
            <a:ext cx="7104888" cy="384048"/>
          </a:xfrm>
          <a:prstGeom prst="rect">
            <a:avLst/>
          </a:prstGeom>
          <a:noFill/>
          <a:ln/>
        </p:spPr>
        <p:txBody>
          <a:bodyPr wrap="square" lIns="0" tIns="0" rIns="0" bIns="0" rtlCol="0" anchor="t">
            <a:normAutofit/>
          </a:bodyPr>
          <a:lstStyle/>
          <a:p>
            <a:pPr indent="0" marL="0">
              <a:buNone/>
            </a:pPr>
            <a:r>
              <a:rPr lang="en-US" sz="1230" dirty="0">
                <a:solidFill>
                  <a:srgbClr val="17312F"/>
                </a:solidFill>
                <a:latin typeface="Aptos" pitchFamily="34" charset="0"/>
                <a:ea typeface="Aptos" pitchFamily="34" charset="-122"/>
                <a:cs typeface="Aptos" pitchFamily="34" charset="-120"/>
              </a:rPr>
              <a:t>2 acordos de piloto com preço e critério de sucesso</a:t>
            </a:r>
            <a:endParaRPr lang="en-US" sz="1230" dirty="0"/>
          </a:p>
        </p:txBody>
      </p:sp>
      <p:sp>
        <p:nvSpPr>
          <p:cNvPr id="37" name="Shape 34"/>
          <p:cNvSpPr/>
          <p:nvPr/>
        </p:nvSpPr>
        <p:spPr>
          <a:xfrm>
            <a:off x="521208" y="5797296"/>
            <a:ext cx="11128248" cy="393192"/>
          </a:xfrm>
          <a:prstGeom prst="rect">
            <a:avLst>
              <a:gd name="adj" fmla="val 27907"/>
            </a:avLst>
          </a:prstGeom>
          <a:solidFill>
            <a:srgbClr val="E7F2EC"/>
          </a:solidFill>
          <a:ln w="8890">
            <a:solidFill>
              <a:srgbClr val="E7F2EC"/>
            </a:solidFill>
            <a:prstDash val="solid"/>
          </a:ln>
        </p:spPr>
      </p:sp>
      <p:sp>
        <p:nvSpPr>
          <p:cNvPr id="38" name="Text 35"/>
          <p:cNvSpPr/>
          <p:nvPr/>
        </p:nvSpPr>
        <p:spPr>
          <a:xfrm>
            <a:off x="704088" y="5888736"/>
            <a:ext cx="10762488" cy="201168"/>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Não começar com novo modelo, novo dashboard ou 10 conectores. Começar com uma clínica que aceita medir e pagar.</a:t>
            </a:r>
            <a:endParaRPr lang="en-US" sz="12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3430"/>
        </a:solidFill>
      </p:bgPr>
    </p:bg>
    <p:spTree>
      <p:nvGrpSpPr>
        <p:cNvPr id="1" name=""/>
        <p:cNvGrpSpPr/>
        <p:nvPr/>
      </p:nvGrpSpPr>
      <p:grpSpPr>
        <a:xfrm>
          <a:off x="0" y="0"/>
          <a:ext cx="0" cy="0"/>
          <a:chOff x="0" y="0"/>
          <a:chExt cx="0" cy="0"/>
        </a:xfrm>
      </p:grpSpPr>
      <p:pic>
        <p:nvPicPr>
          <p:cNvPr id="2" name="Image 0" descr="C:\Users\lvecchi\.copilot\session-state\f4c612c3-5b8b-4a56-8f7e-a421bea8a771\files\oria-deck\assets\logo-light.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FCFAF6"/>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A7C7B9"/>
                </a:solidFill>
                <a:latin typeface="Aptos Display" pitchFamily="34" charset="0"/>
                <a:ea typeface="Aptos Display" pitchFamily="34" charset="-122"/>
                <a:cs typeface="Aptos Display" pitchFamily="34" charset="-120"/>
              </a:rPr>
              <a:t>31 / SÍNTESE PARA OS FUNDADORES</a:t>
            </a:r>
            <a:endParaRPr lang="en-US" sz="900" dirty="0"/>
          </a:p>
        </p:txBody>
      </p:sp>
      <p:sp>
        <p:nvSpPr>
          <p:cNvPr id="5" name="Text 2"/>
          <p:cNvSpPr/>
          <p:nvPr/>
        </p:nvSpPr>
        <p:spPr>
          <a:xfrm>
            <a:off x="502920" y="822960"/>
            <a:ext cx="11018520" cy="1353312"/>
          </a:xfrm>
          <a:prstGeom prst="rect">
            <a:avLst/>
          </a:prstGeom>
          <a:noFill/>
          <a:ln/>
        </p:spPr>
        <p:txBody>
          <a:bodyPr wrap="square" lIns="0" tIns="0" rIns="0" bIns="0" rtlCol="0" anchor="t">
            <a:normAutofit/>
          </a:bodyPr>
          <a:lstStyle/>
          <a:p>
            <a:pPr indent="0" marL="0">
              <a:buNone/>
            </a:pPr>
            <a:r>
              <a:rPr lang="en-US" sz="4200" b="1" dirty="0">
                <a:solidFill>
                  <a:srgbClr val="FCFAF6"/>
                </a:solidFill>
                <a:latin typeface="Aptos Display" pitchFamily="34" charset="0"/>
                <a:ea typeface="Aptos Display" pitchFamily="34" charset="-122"/>
                <a:cs typeface="Aptos Display" pitchFamily="34" charset="-120"/>
              </a:rPr>
              <a:t>Menos produto novo.</a:t>
            </a:r>
            <a:endParaRPr lang="en-US" sz="4200" dirty="0"/>
          </a:p>
          <a:p>
            <a:pPr indent="0" marL="0">
              <a:buNone/>
            </a:pPr>
            <a:r>
              <a:rPr lang="en-US" sz="4200" b="1" dirty="0">
                <a:solidFill>
                  <a:srgbClr val="FCFAF6"/>
                </a:solidFill>
                <a:latin typeface="Aptos Display" pitchFamily="34" charset="0"/>
                <a:ea typeface="Aptos Display" pitchFamily="34" charset="-122"/>
                <a:cs typeface="Aptos Display" pitchFamily="34" charset="-120"/>
              </a:rPr>
              <a:t>Mais prova de valor.</a:t>
            </a:r>
            <a:endParaRPr lang="en-US" sz="4200" dirty="0"/>
          </a:p>
        </p:txBody>
      </p:sp>
      <p:sp>
        <p:nvSpPr>
          <p:cNvPr id="6" name="Shape 3"/>
          <p:cNvSpPr/>
          <p:nvPr/>
        </p:nvSpPr>
        <p:spPr>
          <a:xfrm>
            <a:off x="502920" y="6345936"/>
            <a:ext cx="11146536" cy="0"/>
          </a:xfrm>
          <a:prstGeom prst="line">
            <a:avLst/>
          </a:prstGeom>
          <a:noFill/>
          <a:ln w="7620">
            <a:solidFill>
              <a:srgbClr val="31534B"/>
            </a:solidFill>
            <a:prstDash val="solid"/>
          </a:ln>
        </p:spPr>
      </p:sp>
      <p:sp>
        <p:nvSpPr>
          <p:cNvPr id="7" name="Text 4"/>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A7C7B9"/>
                </a:solidFill>
                <a:latin typeface="Aptos" pitchFamily="34" charset="0"/>
                <a:ea typeface="Aptos" pitchFamily="34" charset="-122"/>
                <a:cs typeface="Aptos" pitchFamily="34" charset="-120"/>
              </a:rPr>
              <a:t>Análise Oria · hipóteses e metas explicitadas · 14/10/2026</a:t>
            </a:r>
            <a:endParaRPr lang="en-US" sz="720" dirty="0"/>
          </a:p>
        </p:txBody>
      </p:sp>
      <p:pic>
        <p:nvPicPr>
          <p:cNvPr id="8" name="Image 1" descr="C:\Users\lvecchi\.copilot\session-state\f4c612c3-5b8b-4a56-8f7e-a421bea8a771\files\oria-deck\assets\logo-light.png">    </p:cNvPr>
          <p:cNvPicPr>
            <a:picLocks noChangeAspect="1"/>
          </p:cNvPicPr>
          <p:nvPr/>
        </p:nvPicPr>
        <p:blipFill>
          <a:blip r:embed="rId2"/>
          <a:stretch>
            <a:fillRect/>
          </a:stretch>
        </p:blipFill>
        <p:spPr>
          <a:xfrm>
            <a:off x="9445752" y="2212848"/>
            <a:ext cx="1618488" cy="1618488"/>
          </a:xfrm>
          <a:prstGeom prst="rect">
            <a:avLst/>
          </a:prstGeom>
        </p:spPr>
      </p:pic>
      <p:sp>
        <p:nvSpPr>
          <p:cNvPr id="9" name="Text 5"/>
          <p:cNvSpPr/>
          <p:nvPr/>
        </p:nvSpPr>
        <p:spPr>
          <a:xfrm>
            <a:off x="630936" y="2578608"/>
            <a:ext cx="7882128" cy="1271016"/>
          </a:xfrm>
          <a:prstGeom prst="rect">
            <a:avLst/>
          </a:prstGeom>
          <a:noFill/>
          <a:ln/>
        </p:spPr>
        <p:txBody>
          <a:bodyPr wrap="square" lIns="0" tIns="0" rIns="0" bIns="0" rtlCol="0" anchor="t">
            <a:normAutofit/>
          </a:bodyPr>
          <a:lstStyle/>
          <a:p>
            <a:pPr indent="0" marL="0">
              <a:buNone/>
            </a:pPr>
            <a:r>
              <a:rPr lang="en-US" sz="3000" b="1" dirty="0">
                <a:solidFill>
                  <a:srgbClr val="FCFAF6"/>
                </a:solidFill>
                <a:latin typeface="Aptos Display" pitchFamily="34" charset="0"/>
                <a:ea typeface="Aptos Display" pitchFamily="34" charset="-122"/>
                <a:cs typeface="Aptos Display" pitchFamily="34" charset="-120"/>
              </a:rPr>
              <a:t>A tese merece um piloto pago.</a:t>
            </a:r>
            <a:endParaRPr lang="en-US" sz="3000" dirty="0"/>
          </a:p>
          <a:p>
            <a:pPr indent="0" marL="0">
              <a:buNone/>
            </a:pPr>
            <a:r>
              <a:rPr lang="en-US" sz="3000" b="1" dirty="0">
                <a:solidFill>
                  <a:srgbClr val="FCFAF6"/>
                </a:solidFill>
                <a:latin typeface="Aptos Display" pitchFamily="34" charset="0"/>
                <a:ea typeface="Aptos Display" pitchFamily="34" charset="-122"/>
                <a:cs typeface="Aptos Display" pitchFamily="34" charset="-120"/>
              </a:rPr>
              <a:t>Ainda não merece uma promessa de PMF.</a:t>
            </a:r>
            <a:endParaRPr lang="en-US" sz="3000" dirty="0"/>
          </a:p>
        </p:txBody>
      </p:sp>
      <p:sp>
        <p:nvSpPr>
          <p:cNvPr id="10" name="Text 6"/>
          <p:cNvSpPr/>
          <p:nvPr/>
        </p:nvSpPr>
        <p:spPr>
          <a:xfrm>
            <a:off x="676656" y="4187952"/>
            <a:ext cx="9966960" cy="1371600"/>
          </a:xfrm>
          <a:prstGeom prst="rect">
            <a:avLst/>
          </a:prstGeom>
          <a:noFill/>
          <a:ln/>
        </p:spPr>
        <p:txBody>
          <a:bodyPr wrap="square" lIns="0" tIns="0" rIns="0" bIns="0" rtlCol="0" anchor="t">
            <a:normAutofit/>
          </a:bodyPr>
          <a:lstStyle/>
          <a:p>
            <a:pPr indent="0" marL="0">
              <a:buNone/>
            </a:pPr>
            <a:r>
              <a:rPr lang="en-US" sz="2200" dirty="0">
                <a:solidFill>
                  <a:srgbClr val="C5DAD1"/>
                </a:solidFill>
                <a:latin typeface="Aptos" pitchFamily="34" charset="0"/>
                <a:ea typeface="Aptos" pitchFamily="34" charset="-122"/>
                <a:cs typeface="Aptos" pitchFamily="34" charset="-120"/>
              </a:rPr>
              <a:t>01  Completar agenda e continuidade.</a:t>
            </a:r>
            <a:endParaRPr lang="en-US" sz="2200" dirty="0"/>
          </a:p>
          <a:p>
            <a:pPr indent="0" marL="0">
              <a:buNone/>
            </a:pPr>
            <a:r>
              <a:rPr lang="en-US" sz="2200" dirty="0">
                <a:solidFill>
                  <a:srgbClr val="C5DAD1"/>
                </a:solidFill>
                <a:latin typeface="Aptos" pitchFamily="34" charset="0"/>
                <a:ea typeface="Aptos" pitchFamily="34" charset="-122"/>
                <a:cs typeface="Aptos" pitchFamily="34" charset="-120"/>
              </a:rPr>
              <a:t>02  Medir contribuição, custo e retrabalho.</a:t>
            </a:r>
            <a:endParaRPr lang="en-US" sz="2200" dirty="0"/>
          </a:p>
          <a:p>
            <a:pPr indent="0" marL="0">
              <a:buNone/>
            </a:pPr>
            <a:r>
              <a:rPr lang="en-US" sz="2200" dirty="0">
                <a:solidFill>
                  <a:srgbClr val="C5DAD1"/>
                </a:solidFill>
                <a:latin typeface="Aptos" pitchFamily="34" charset="0"/>
                <a:ea typeface="Aptos" pitchFamily="34" charset="-122"/>
                <a:cs typeface="Aptos" pitchFamily="34" charset="-120"/>
              </a:rPr>
              <a:t>03  Replicar com segurança no mesmo nicho.</a:t>
            </a:r>
            <a:endParaRPr lang="en-US" sz="22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REFERÊNCIA PARA DISCUSSÃO</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Apêndice / premissas e fórmulas</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Todos os cenários financeiros são ilustrativos; substituir entradas por valores observados no piloto.</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Análise Oria · hipóteses e metas explicitadas · 14/10/2026</a:t>
            </a:r>
            <a:endParaRPr lang="en-US" sz="720" dirty="0"/>
          </a:p>
        </p:txBody>
      </p:sp>
      <p:sp>
        <p:nvSpPr>
          <p:cNvPr id="9" name="Shape 6"/>
          <p:cNvSpPr/>
          <p:nvPr/>
        </p:nvSpPr>
        <p:spPr>
          <a:xfrm>
            <a:off x="557784" y="2185416"/>
            <a:ext cx="11109960" cy="384048"/>
          </a:xfrm>
          <a:prstGeom prst="rect">
            <a:avLst>
              <a:gd name="adj" fmla="val 28571"/>
            </a:avLst>
          </a:prstGeom>
          <a:solidFill>
            <a:srgbClr val="0B3430"/>
          </a:solidFill>
          <a:ln w="8890">
            <a:solidFill>
              <a:srgbClr val="0B3430"/>
            </a:solidFill>
            <a:prstDash val="solid"/>
          </a:ln>
        </p:spPr>
      </p:sp>
      <p:sp>
        <p:nvSpPr>
          <p:cNvPr id="10" name="Text 7"/>
          <p:cNvSpPr/>
          <p:nvPr/>
        </p:nvSpPr>
        <p:spPr>
          <a:xfrm>
            <a:off x="649224" y="2286000"/>
            <a:ext cx="2002536"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Modelo</a:t>
            </a:r>
            <a:endParaRPr lang="en-US" sz="1050" dirty="0"/>
          </a:p>
        </p:txBody>
      </p:sp>
      <p:sp>
        <p:nvSpPr>
          <p:cNvPr id="11" name="Text 8"/>
          <p:cNvSpPr/>
          <p:nvPr/>
        </p:nvSpPr>
        <p:spPr>
          <a:xfrm>
            <a:off x="2834640" y="2286000"/>
            <a:ext cx="3904488"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Entradas</a:t>
            </a:r>
            <a:endParaRPr lang="en-US" sz="1050" dirty="0"/>
          </a:p>
        </p:txBody>
      </p:sp>
      <p:sp>
        <p:nvSpPr>
          <p:cNvPr id="12" name="Text 9"/>
          <p:cNvSpPr/>
          <p:nvPr/>
        </p:nvSpPr>
        <p:spPr>
          <a:xfrm>
            <a:off x="6922008" y="2286000"/>
            <a:ext cx="4654296"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Cálculo / limite</a:t>
            </a:r>
            <a:endParaRPr lang="en-US" sz="1050" dirty="0"/>
          </a:p>
        </p:txBody>
      </p:sp>
      <p:sp>
        <p:nvSpPr>
          <p:cNvPr id="13" name="Shape 10"/>
          <p:cNvSpPr/>
          <p:nvPr/>
        </p:nvSpPr>
        <p:spPr>
          <a:xfrm>
            <a:off x="557784" y="2569464"/>
            <a:ext cx="11109960" cy="530352"/>
          </a:xfrm>
          <a:prstGeom prst="rect">
            <a:avLst>
              <a:gd name="adj" fmla="val 20690"/>
            </a:avLst>
          </a:prstGeom>
          <a:solidFill>
            <a:srgbClr val="FFFFFF"/>
          </a:solidFill>
          <a:ln w="8890">
            <a:solidFill>
              <a:srgbClr val="DCE5DF"/>
            </a:solidFill>
            <a:prstDash val="solid"/>
          </a:ln>
        </p:spPr>
      </p:sp>
      <p:sp>
        <p:nvSpPr>
          <p:cNvPr id="14" name="Text 11"/>
          <p:cNvSpPr/>
          <p:nvPr/>
        </p:nvSpPr>
        <p:spPr>
          <a:xfrm>
            <a:off x="649224" y="2660904"/>
            <a:ext cx="2002536" cy="384048"/>
          </a:xfrm>
          <a:prstGeom prst="rect">
            <a:avLst/>
          </a:prstGeom>
          <a:noFill/>
          <a:ln/>
        </p:spPr>
        <p:txBody>
          <a:bodyPr wrap="square" lIns="0" tIns="0" rIns="0" bIns="0" rtlCol="0" anchor="t">
            <a:normAutofit/>
          </a:bodyPr>
          <a:lstStyle/>
          <a:p>
            <a:pPr indent="0" marL="0">
              <a:buNone/>
            </a:pPr>
            <a:r>
              <a:rPr lang="en-US" sz="1140" b="1" dirty="0">
                <a:solidFill>
                  <a:srgbClr val="0F766E"/>
                </a:solidFill>
                <a:latin typeface="Aptos Display" pitchFamily="34" charset="0"/>
                <a:ea typeface="Aptos Display" pitchFamily="34" charset="-122"/>
                <a:cs typeface="Aptos Display" pitchFamily="34" charset="-120"/>
              </a:rPr>
              <a:t>Valor de conversão</a:t>
            </a:r>
            <a:endParaRPr lang="en-US" sz="1140" dirty="0"/>
          </a:p>
        </p:txBody>
      </p:sp>
      <p:sp>
        <p:nvSpPr>
          <p:cNvPr id="15" name="Text 12"/>
          <p:cNvSpPr/>
          <p:nvPr/>
        </p:nvSpPr>
        <p:spPr>
          <a:xfrm>
            <a:off x="2834640" y="2660904"/>
            <a:ext cx="3904488" cy="384048"/>
          </a:xfrm>
          <a:prstGeom prst="rect">
            <a:avLst/>
          </a:prstGeom>
          <a:noFill/>
          <a:ln/>
        </p:spPr>
        <p:txBody>
          <a:bodyPr wrap="square" lIns="0" tIns="0" rIns="0" bIns="0" rtlCol="0" anchor="t">
            <a:normAutofit/>
          </a:bodyPr>
          <a:lstStyle/>
          <a:p>
            <a:pPr indent="0" marL="0">
              <a:buNone/>
            </a:pPr>
            <a:r>
              <a:rPr lang="en-US" sz="1140" dirty="0">
                <a:solidFill>
                  <a:srgbClr val="17312F"/>
                </a:solidFill>
                <a:latin typeface="Aptos" pitchFamily="34" charset="0"/>
                <a:ea typeface="Aptos" pitchFamily="34" charset="-122"/>
                <a:cs typeface="Aptos" pitchFamily="34" charset="-120"/>
              </a:rPr>
              <a:t>800 contatos; +5 p.p.; 80% show; R$150 margem</a:t>
            </a:r>
            <a:endParaRPr lang="en-US" sz="1140" dirty="0"/>
          </a:p>
        </p:txBody>
      </p:sp>
      <p:sp>
        <p:nvSpPr>
          <p:cNvPr id="16" name="Text 13"/>
          <p:cNvSpPr/>
          <p:nvPr/>
        </p:nvSpPr>
        <p:spPr>
          <a:xfrm>
            <a:off x="6922008" y="2660904"/>
            <a:ext cx="4654296" cy="384048"/>
          </a:xfrm>
          <a:prstGeom prst="rect">
            <a:avLst/>
          </a:prstGeom>
          <a:noFill/>
          <a:ln/>
        </p:spPr>
        <p:txBody>
          <a:bodyPr wrap="square" lIns="0" tIns="0" rIns="0" bIns="0" rtlCol="0" anchor="t">
            <a:normAutofit/>
          </a:bodyPr>
          <a:lstStyle/>
          <a:p>
            <a:pPr indent="0" marL="0">
              <a:buNone/>
            </a:pPr>
            <a:r>
              <a:rPr lang="en-US" sz="1140" dirty="0">
                <a:solidFill>
                  <a:srgbClr val="17312F"/>
                </a:solidFill>
                <a:latin typeface="Aptos" pitchFamily="34" charset="0"/>
                <a:ea typeface="Aptos" pitchFamily="34" charset="-122"/>
                <a:cs typeface="Aptos" pitchFamily="34" charset="-120"/>
              </a:rPr>
              <a:t>800 × 0,05 × 0,80 × 150 = R$4.800</a:t>
            </a:r>
            <a:endParaRPr lang="en-US" sz="1140" dirty="0"/>
          </a:p>
        </p:txBody>
      </p:sp>
      <p:sp>
        <p:nvSpPr>
          <p:cNvPr id="17" name="Shape 14"/>
          <p:cNvSpPr/>
          <p:nvPr/>
        </p:nvSpPr>
        <p:spPr>
          <a:xfrm>
            <a:off x="557784" y="3099816"/>
            <a:ext cx="11109960" cy="530352"/>
          </a:xfrm>
          <a:prstGeom prst="rect">
            <a:avLst>
              <a:gd name="adj" fmla="val 20690"/>
            </a:avLst>
          </a:prstGeom>
          <a:solidFill>
            <a:srgbClr val="FCFAF6"/>
          </a:solidFill>
          <a:ln w="8890">
            <a:solidFill>
              <a:srgbClr val="DCE5DF"/>
            </a:solidFill>
            <a:prstDash val="solid"/>
          </a:ln>
        </p:spPr>
      </p:sp>
      <p:sp>
        <p:nvSpPr>
          <p:cNvPr id="18" name="Text 15"/>
          <p:cNvSpPr/>
          <p:nvPr/>
        </p:nvSpPr>
        <p:spPr>
          <a:xfrm>
            <a:off x="649224" y="3191256"/>
            <a:ext cx="2002536" cy="384048"/>
          </a:xfrm>
          <a:prstGeom prst="rect">
            <a:avLst/>
          </a:prstGeom>
          <a:noFill/>
          <a:ln/>
        </p:spPr>
        <p:txBody>
          <a:bodyPr wrap="square" lIns="0" tIns="0" rIns="0" bIns="0" rtlCol="0" anchor="t">
            <a:normAutofit/>
          </a:bodyPr>
          <a:lstStyle/>
          <a:p>
            <a:pPr indent="0" marL="0">
              <a:buNone/>
            </a:pPr>
            <a:r>
              <a:rPr lang="en-US" sz="1140" b="1" dirty="0">
                <a:solidFill>
                  <a:srgbClr val="0F766E"/>
                </a:solidFill>
                <a:latin typeface="Aptos Display" pitchFamily="34" charset="0"/>
                <a:ea typeface="Aptos Display" pitchFamily="34" charset="-122"/>
                <a:cs typeface="Aptos Display" pitchFamily="34" charset="-120"/>
              </a:rPr>
              <a:t>Break-even de conversão</a:t>
            </a:r>
            <a:endParaRPr lang="en-US" sz="1140" dirty="0"/>
          </a:p>
        </p:txBody>
      </p:sp>
      <p:sp>
        <p:nvSpPr>
          <p:cNvPr id="19" name="Text 16"/>
          <p:cNvSpPr/>
          <p:nvPr/>
        </p:nvSpPr>
        <p:spPr>
          <a:xfrm>
            <a:off x="2834640" y="3191256"/>
            <a:ext cx="3904488" cy="384048"/>
          </a:xfrm>
          <a:prstGeom prst="rect">
            <a:avLst/>
          </a:prstGeom>
          <a:noFill/>
          <a:ln/>
        </p:spPr>
        <p:txBody>
          <a:bodyPr wrap="square" lIns="0" tIns="0" rIns="0" bIns="0" rtlCol="0" anchor="t">
            <a:normAutofit/>
          </a:bodyPr>
          <a:lstStyle/>
          <a:p>
            <a:pPr indent="0" marL="0">
              <a:buNone/>
            </a:pPr>
            <a:r>
              <a:rPr lang="en-US" sz="1140" dirty="0">
                <a:solidFill>
                  <a:srgbClr val="17312F"/>
                </a:solidFill>
                <a:latin typeface="Aptos" pitchFamily="34" charset="0"/>
                <a:ea typeface="Aptos" pitchFamily="34" charset="-122"/>
                <a:cs typeface="Aptos" pitchFamily="34" charset="-120"/>
              </a:rPr>
              <a:t>Custo R$1.140; mesmas outras entradas</a:t>
            </a:r>
            <a:endParaRPr lang="en-US" sz="1140" dirty="0"/>
          </a:p>
        </p:txBody>
      </p:sp>
      <p:sp>
        <p:nvSpPr>
          <p:cNvPr id="20" name="Text 17"/>
          <p:cNvSpPr/>
          <p:nvPr/>
        </p:nvSpPr>
        <p:spPr>
          <a:xfrm>
            <a:off x="6922008" y="3191256"/>
            <a:ext cx="4654296" cy="384048"/>
          </a:xfrm>
          <a:prstGeom prst="rect">
            <a:avLst/>
          </a:prstGeom>
          <a:noFill/>
          <a:ln/>
        </p:spPr>
        <p:txBody>
          <a:bodyPr wrap="square" lIns="0" tIns="0" rIns="0" bIns="0" rtlCol="0" anchor="t">
            <a:normAutofit/>
          </a:bodyPr>
          <a:lstStyle/>
          <a:p>
            <a:pPr indent="0" marL="0">
              <a:buNone/>
            </a:pPr>
            <a:r>
              <a:rPr lang="en-US" sz="1140" dirty="0">
                <a:solidFill>
                  <a:srgbClr val="17312F"/>
                </a:solidFill>
                <a:latin typeface="Aptos" pitchFamily="34" charset="0"/>
                <a:ea typeface="Aptos" pitchFamily="34" charset="-122"/>
                <a:cs typeface="Aptos" pitchFamily="34" charset="-120"/>
              </a:rPr>
              <a:t>1.140 ÷ (800 × 0,80 × 150) = 1,19 p.p.</a:t>
            </a:r>
            <a:endParaRPr lang="en-US" sz="1140" dirty="0"/>
          </a:p>
        </p:txBody>
      </p:sp>
      <p:sp>
        <p:nvSpPr>
          <p:cNvPr id="21" name="Shape 18"/>
          <p:cNvSpPr/>
          <p:nvPr/>
        </p:nvSpPr>
        <p:spPr>
          <a:xfrm>
            <a:off x="557784" y="3630168"/>
            <a:ext cx="11109960" cy="530352"/>
          </a:xfrm>
          <a:prstGeom prst="rect">
            <a:avLst>
              <a:gd name="adj" fmla="val 20690"/>
            </a:avLst>
          </a:prstGeom>
          <a:solidFill>
            <a:srgbClr val="FFFFFF"/>
          </a:solidFill>
          <a:ln w="8890">
            <a:solidFill>
              <a:srgbClr val="DCE5DF"/>
            </a:solidFill>
            <a:prstDash val="solid"/>
          </a:ln>
        </p:spPr>
      </p:sp>
      <p:sp>
        <p:nvSpPr>
          <p:cNvPr id="22" name="Text 19"/>
          <p:cNvSpPr/>
          <p:nvPr/>
        </p:nvSpPr>
        <p:spPr>
          <a:xfrm>
            <a:off x="649224" y="3721608"/>
            <a:ext cx="2002536" cy="384048"/>
          </a:xfrm>
          <a:prstGeom prst="rect">
            <a:avLst/>
          </a:prstGeom>
          <a:noFill/>
          <a:ln/>
        </p:spPr>
        <p:txBody>
          <a:bodyPr wrap="square" lIns="0" tIns="0" rIns="0" bIns="0" rtlCol="0" anchor="t">
            <a:normAutofit/>
          </a:bodyPr>
          <a:lstStyle/>
          <a:p>
            <a:pPr indent="0" marL="0">
              <a:buNone/>
            </a:pPr>
            <a:r>
              <a:rPr lang="en-US" sz="1140" b="1" dirty="0">
                <a:solidFill>
                  <a:srgbClr val="0F766E"/>
                </a:solidFill>
                <a:latin typeface="Aptos Display" pitchFamily="34" charset="0"/>
                <a:ea typeface="Aptos Display" pitchFamily="34" charset="-122"/>
                <a:cs typeface="Aptos Display" pitchFamily="34" charset="-120"/>
              </a:rPr>
              <a:t>No-show (cenário separado)</a:t>
            </a:r>
            <a:endParaRPr lang="en-US" sz="1140" dirty="0"/>
          </a:p>
        </p:txBody>
      </p:sp>
      <p:sp>
        <p:nvSpPr>
          <p:cNvPr id="23" name="Text 20"/>
          <p:cNvSpPr/>
          <p:nvPr/>
        </p:nvSpPr>
        <p:spPr>
          <a:xfrm>
            <a:off x="2834640" y="3721608"/>
            <a:ext cx="3904488" cy="384048"/>
          </a:xfrm>
          <a:prstGeom prst="rect">
            <a:avLst/>
          </a:prstGeom>
          <a:noFill/>
          <a:ln/>
        </p:spPr>
        <p:txBody>
          <a:bodyPr wrap="square" lIns="0" tIns="0" rIns="0" bIns="0" rtlCol="0" anchor="t">
            <a:normAutofit/>
          </a:bodyPr>
          <a:lstStyle/>
          <a:p>
            <a:pPr indent="0" marL="0">
              <a:buNone/>
            </a:pPr>
            <a:r>
              <a:rPr lang="en-US" sz="1140" dirty="0">
                <a:solidFill>
                  <a:srgbClr val="17312F"/>
                </a:solidFill>
                <a:latin typeface="Aptos" pitchFamily="34" charset="0"/>
                <a:ea typeface="Aptos" pitchFamily="34" charset="-122"/>
                <a:cs typeface="Aptos" pitchFamily="34" charset="-120"/>
              </a:rPr>
              <a:t>600 agendados; 15% → 11%; R$150 margem</a:t>
            </a:r>
            <a:endParaRPr lang="en-US" sz="1140" dirty="0"/>
          </a:p>
        </p:txBody>
      </p:sp>
      <p:sp>
        <p:nvSpPr>
          <p:cNvPr id="24" name="Text 21"/>
          <p:cNvSpPr/>
          <p:nvPr/>
        </p:nvSpPr>
        <p:spPr>
          <a:xfrm>
            <a:off x="6922008" y="3721608"/>
            <a:ext cx="4654296" cy="384048"/>
          </a:xfrm>
          <a:prstGeom prst="rect">
            <a:avLst/>
          </a:prstGeom>
          <a:noFill/>
          <a:ln/>
        </p:spPr>
        <p:txBody>
          <a:bodyPr wrap="square" lIns="0" tIns="0" rIns="0" bIns="0" rtlCol="0" anchor="t">
            <a:normAutofit/>
          </a:bodyPr>
          <a:lstStyle/>
          <a:p>
            <a:pPr indent="0" marL="0">
              <a:buNone/>
            </a:pPr>
            <a:r>
              <a:rPr lang="en-US" sz="1140" dirty="0">
                <a:solidFill>
                  <a:srgbClr val="17312F"/>
                </a:solidFill>
                <a:latin typeface="Aptos" pitchFamily="34" charset="0"/>
                <a:ea typeface="Aptos" pitchFamily="34" charset="-122"/>
                <a:cs typeface="Aptos" pitchFamily="34" charset="-120"/>
              </a:rPr>
              <a:t>600 × 0,04 × 150 = R$3.600</a:t>
            </a:r>
            <a:endParaRPr lang="en-US" sz="1140" dirty="0"/>
          </a:p>
        </p:txBody>
      </p:sp>
      <p:sp>
        <p:nvSpPr>
          <p:cNvPr id="25" name="Shape 22"/>
          <p:cNvSpPr/>
          <p:nvPr/>
        </p:nvSpPr>
        <p:spPr>
          <a:xfrm>
            <a:off x="557784" y="4160520"/>
            <a:ext cx="11109960" cy="530352"/>
          </a:xfrm>
          <a:prstGeom prst="rect">
            <a:avLst>
              <a:gd name="adj" fmla="val 20690"/>
            </a:avLst>
          </a:prstGeom>
          <a:solidFill>
            <a:srgbClr val="FCFAF6"/>
          </a:solidFill>
          <a:ln w="8890">
            <a:solidFill>
              <a:srgbClr val="DCE5DF"/>
            </a:solidFill>
            <a:prstDash val="solid"/>
          </a:ln>
        </p:spPr>
      </p:sp>
      <p:sp>
        <p:nvSpPr>
          <p:cNvPr id="26" name="Text 23"/>
          <p:cNvSpPr/>
          <p:nvPr/>
        </p:nvSpPr>
        <p:spPr>
          <a:xfrm>
            <a:off x="649224" y="4251960"/>
            <a:ext cx="2002536" cy="384048"/>
          </a:xfrm>
          <a:prstGeom prst="rect">
            <a:avLst/>
          </a:prstGeom>
          <a:noFill/>
          <a:ln/>
        </p:spPr>
        <p:txBody>
          <a:bodyPr wrap="square" lIns="0" tIns="0" rIns="0" bIns="0" rtlCol="0" anchor="t">
            <a:normAutofit/>
          </a:bodyPr>
          <a:lstStyle/>
          <a:p>
            <a:pPr indent="0" marL="0">
              <a:buNone/>
            </a:pPr>
            <a:r>
              <a:rPr lang="en-US" sz="1140" b="1" dirty="0">
                <a:solidFill>
                  <a:srgbClr val="0F766E"/>
                </a:solidFill>
                <a:latin typeface="Aptos Display" pitchFamily="34" charset="0"/>
                <a:ea typeface="Aptos Display" pitchFamily="34" charset="-122"/>
                <a:cs typeface="Aptos Display" pitchFamily="34" charset="-120"/>
              </a:rPr>
              <a:t>Capacidade liberada</a:t>
            </a:r>
            <a:endParaRPr lang="en-US" sz="1140" dirty="0"/>
          </a:p>
        </p:txBody>
      </p:sp>
      <p:sp>
        <p:nvSpPr>
          <p:cNvPr id="27" name="Text 24"/>
          <p:cNvSpPr/>
          <p:nvPr/>
        </p:nvSpPr>
        <p:spPr>
          <a:xfrm>
            <a:off x="2834640" y="4251960"/>
            <a:ext cx="3904488" cy="384048"/>
          </a:xfrm>
          <a:prstGeom prst="rect">
            <a:avLst/>
          </a:prstGeom>
          <a:noFill/>
          <a:ln/>
        </p:spPr>
        <p:txBody>
          <a:bodyPr wrap="square" lIns="0" tIns="0" rIns="0" bIns="0" rtlCol="0" anchor="t">
            <a:normAutofit/>
          </a:bodyPr>
          <a:lstStyle/>
          <a:p>
            <a:pPr indent="0" marL="0">
              <a:buNone/>
            </a:pPr>
            <a:r>
              <a:rPr lang="en-US" sz="1140" dirty="0">
                <a:solidFill>
                  <a:srgbClr val="17312F"/>
                </a:solidFill>
                <a:latin typeface="Aptos" pitchFamily="34" charset="0"/>
                <a:ea typeface="Aptos" pitchFamily="34" charset="-122"/>
                <a:cs typeface="Aptos" pitchFamily="34" charset="-120"/>
              </a:rPr>
              <a:t>600 tarefas; 3 min; 50% resolução; R$30/h</a:t>
            </a:r>
            <a:endParaRPr lang="en-US" sz="1140" dirty="0"/>
          </a:p>
        </p:txBody>
      </p:sp>
      <p:sp>
        <p:nvSpPr>
          <p:cNvPr id="28" name="Text 25"/>
          <p:cNvSpPr/>
          <p:nvPr/>
        </p:nvSpPr>
        <p:spPr>
          <a:xfrm>
            <a:off x="6922008" y="4251960"/>
            <a:ext cx="4654296" cy="384048"/>
          </a:xfrm>
          <a:prstGeom prst="rect">
            <a:avLst/>
          </a:prstGeom>
          <a:noFill/>
          <a:ln/>
        </p:spPr>
        <p:txBody>
          <a:bodyPr wrap="square" lIns="0" tIns="0" rIns="0" bIns="0" rtlCol="0" anchor="t">
            <a:normAutofit/>
          </a:bodyPr>
          <a:lstStyle/>
          <a:p>
            <a:pPr indent="0" marL="0">
              <a:buNone/>
            </a:pPr>
            <a:r>
              <a:rPr lang="en-US" sz="1140" dirty="0">
                <a:solidFill>
                  <a:srgbClr val="17312F"/>
                </a:solidFill>
                <a:latin typeface="Aptos" pitchFamily="34" charset="0"/>
                <a:ea typeface="Aptos" pitchFamily="34" charset="-122"/>
                <a:cs typeface="Aptos" pitchFamily="34" charset="-120"/>
              </a:rPr>
              <a:t>15 h; R$450 de capacidade — não caixa</a:t>
            </a:r>
            <a:endParaRPr lang="en-US" sz="1140" dirty="0"/>
          </a:p>
        </p:txBody>
      </p:sp>
      <p:sp>
        <p:nvSpPr>
          <p:cNvPr id="29" name="Shape 26"/>
          <p:cNvSpPr/>
          <p:nvPr/>
        </p:nvSpPr>
        <p:spPr>
          <a:xfrm>
            <a:off x="557784" y="4690872"/>
            <a:ext cx="11109960" cy="530352"/>
          </a:xfrm>
          <a:prstGeom prst="rect">
            <a:avLst>
              <a:gd name="adj" fmla="val 20690"/>
            </a:avLst>
          </a:prstGeom>
          <a:solidFill>
            <a:srgbClr val="FFFFFF"/>
          </a:solidFill>
          <a:ln w="8890">
            <a:solidFill>
              <a:srgbClr val="DCE5DF"/>
            </a:solidFill>
            <a:prstDash val="solid"/>
          </a:ln>
        </p:spPr>
      </p:sp>
      <p:sp>
        <p:nvSpPr>
          <p:cNvPr id="30" name="Text 27"/>
          <p:cNvSpPr/>
          <p:nvPr/>
        </p:nvSpPr>
        <p:spPr>
          <a:xfrm>
            <a:off x="649224" y="4782312"/>
            <a:ext cx="2002536" cy="384048"/>
          </a:xfrm>
          <a:prstGeom prst="rect">
            <a:avLst/>
          </a:prstGeom>
          <a:noFill/>
          <a:ln/>
        </p:spPr>
        <p:txBody>
          <a:bodyPr wrap="square" lIns="0" tIns="0" rIns="0" bIns="0" rtlCol="0" anchor="t">
            <a:normAutofit/>
          </a:bodyPr>
          <a:lstStyle/>
          <a:p>
            <a:pPr indent="0" marL="0">
              <a:buNone/>
            </a:pPr>
            <a:r>
              <a:rPr lang="en-US" sz="1140" b="1" dirty="0">
                <a:solidFill>
                  <a:srgbClr val="0F766E"/>
                </a:solidFill>
                <a:latin typeface="Aptos Display" pitchFamily="34" charset="0"/>
                <a:ea typeface="Aptos Display" pitchFamily="34" charset="-122"/>
                <a:cs typeface="Aptos Display" pitchFamily="34" charset="-120"/>
              </a:rPr>
              <a:t>ARR SaaS</a:t>
            </a:r>
            <a:endParaRPr lang="en-US" sz="1140" dirty="0"/>
          </a:p>
        </p:txBody>
      </p:sp>
      <p:sp>
        <p:nvSpPr>
          <p:cNvPr id="31" name="Text 28"/>
          <p:cNvSpPr/>
          <p:nvPr/>
        </p:nvSpPr>
        <p:spPr>
          <a:xfrm>
            <a:off x="2834640" y="4782312"/>
            <a:ext cx="3904488" cy="384048"/>
          </a:xfrm>
          <a:prstGeom prst="rect">
            <a:avLst/>
          </a:prstGeom>
          <a:noFill/>
          <a:ln/>
        </p:spPr>
        <p:txBody>
          <a:bodyPr wrap="square" lIns="0" tIns="0" rIns="0" bIns="0" rtlCol="0" anchor="t">
            <a:normAutofit/>
          </a:bodyPr>
          <a:lstStyle/>
          <a:p>
            <a:pPr indent="0" marL="0">
              <a:buNone/>
            </a:pPr>
            <a:r>
              <a:rPr lang="en-US" sz="1140" dirty="0">
                <a:solidFill>
                  <a:srgbClr val="17312F"/>
                </a:solidFill>
                <a:latin typeface="Aptos" pitchFamily="34" charset="0"/>
                <a:ea typeface="Aptos" pitchFamily="34" charset="-122"/>
                <a:cs typeface="Aptos" pitchFamily="34" charset="-120"/>
              </a:rPr>
              <a:t>N clínicas; mensalidade R$990</a:t>
            </a:r>
            <a:endParaRPr lang="en-US" sz="1140" dirty="0"/>
          </a:p>
        </p:txBody>
      </p:sp>
      <p:sp>
        <p:nvSpPr>
          <p:cNvPr id="32" name="Text 29"/>
          <p:cNvSpPr/>
          <p:nvPr/>
        </p:nvSpPr>
        <p:spPr>
          <a:xfrm>
            <a:off x="6922008" y="4782312"/>
            <a:ext cx="4654296" cy="384048"/>
          </a:xfrm>
          <a:prstGeom prst="rect">
            <a:avLst/>
          </a:prstGeom>
          <a:noFill/>
          <a:ln/>
        </p:spPr>
        <p:txBody>
          <a:bodyPr wrap="square" lIns="0" tIns="0" rIns="0" bIns="0" rtlCol="0" anchor="t">
            <a:normAutofit/>
          </a:bodyPr>
          <a:lstStyle/>
          <a:p>
            <a:pPr indent="0" marL="0">
              <a:buNone/>
            </a:pPr>
            <a:r>
              <a:rPr lang="en-US" sz="1140" dirty="0">
                <a:solidFill>
                  <a:srgbClr val="17312F"/>
                </a:solidFill>
                <a:latin typeface="Aptos" pitchFamily="34" charset="0"/>
                <a:ea typeface="Aptos" pitchFamily="34" charset="-122"/>
                <a:cs typeface="Aptos" pitchFamily="34" charset="-120"/>
              </a:rPr>
              <a:t>N × 990 × 12; excluir repasse de canal</a:t>
            </a:r>
            <a:endParaRPr lang="en-US" sz="1140" dirty="0"/>
          </a:p>
        </p:txBody>
      </p:sp>
      <p:sp>
        <p:nvSpPr>
          <p:cNvPr id="33" name="Shape 30"/>
          <p:cNvSpPr/>
          <p:nvPr/>
        </p:nvSpPr>
        <p:spPr>
          <a:xfrm>
            <a:off x="557784" y="5221224"/>
            <a:ext cx="11109960" cy="530352"/>
          </a:xfrm>
          <a:prstGeom prst="rect">
            <a:avLst>
              <a:gd name="adj" fmla="val 20690"/>
            </a:avLst>
          </a:prstGeom>
          <a:solidFill>
            <a:srgbClr val="FCFAF6"/>
          </a:solidFill>
          <a:ln w="8890">
            <a:solidFill>
              <a:srgbClr val="DCE5DF"/>
            </a:solidFill>
            <a:prstDash val="solid"/>
          </a:ln>
        </p:spPr>
      </p:sp>
      <p:sp>
        <p:nvSpPr>
          <p:cNvPr id="34" name="Text 31"/>
          <p:cNvSpPr/>
          <p:nvPr/>
        </p:nvSpPr>
        <p:spPr>
          <a:xfrm>
            <a:off x="649224" y="5312664"/>
            <a:ext cx="2002536" cy="384048"/>
          </a:xfrm>
          <a:prstGeom prst="rect">
            <a:avLst/>
          </a:prstGeom>
          <a:noFill/>
          <a:ln/>
        </p:spPr>
        <p:txBody>
          <a:bodyPr wrap="square" lIns="0" tIns="0" rIns="0" bIns="0" rtlCol="0" anchor="t">
            <a:normAutofit/>
          </a:bodyPr>
          <a:lstStyle/>
          <a:p>
            <a:pPr indent="0" marL="0">
              <a:buNone/>
            </a:pPr>
            <a:r>
              <a:rPr lang="en-US" sz="1140" b="1" dirty="0">
                <a:solidFill>
                  <a:srgbClr val="0F766E"/>
                </a:solidFill>
                <a:latin typeface="Aptos Display" pitchFamily="34" charset="0"/>
                <a:ea typeface="Aptos Display" pitchFamily="34" charset="-122"/>
                <a:cs typeface="Aptos Display" pitchFamily="34" charset="-120"/>
              </a:rPr>
              <a:t>Margem bruta total</a:t>
            </a:r>
            <a:endParaRPr lang="en-US" sz="1140" dirty="0"/>
          </a:p>
        </p:txBody>
      </p:sp>
      <p:sp>
        <p:nvSpPr>
          <p:cNvPr id="35" name="Text 32"/>
          <p:cNvSpPr/>
          <p:nvPr/>
        </p:nvSpPr>
        <p:spPr>
          <a:xfrm>
            <a:off x="2834640" y="5312664"/>
            <a:ext cx="3904488" cy="384048"/>
          </a:xfrm>
          <a:prstGeom prst="rect">
            <a:avLst/>
          </a:prstGeom>
          <a:noFill/>
          <a:ln/>
        </p:spPr>
        <p:txBody>
          <a:bodyPr wrap="square" lIns="0" tIns="0" rIns="0" bIns="0" rtlCol="0" anchor="t">
            <a:normAutofit/>
          </a:bodyPr>
          <a:lstStyle/>
          <a:p>
            <a:pPr indent="0" marL="0">
              <a:buNone/>
            </a:pPr>
            <a:r>
              <a:rPr lang="en-US" sz="1140" dirty="0">
                <a:solidFill>
                  <a:srgbClr val="17312F"/>
                </a:solidFill>
                <a:latin typeface="Aptos" pitchFamily="34" charset="0"/>
                <a:ea typeface="Aptos" pitchFamily="34" charset="-122"/>
                <a:cs typeface="Aptos" pitchFamily="34" charset="-120"/>
              </a:rPr>
              <a:t>Fatura R$1.140; custo R$330</a:t>
            </a:r>
            <a:endParaRPr lang="en-US" sz="1140" dirty="0"/>
          </a:p>
        </p:txBody>
      </p:sp>
      <p:sp>
        <p:nvSpPr>
          <p:cNvPr id="36" name="Text 33"/>
          <p:cNvSpPr/>
          <p:nvPr/>
        </p:nvSpPr>
        <p:spPr>
          <a:xfrm>
            <a:off x="6922008" y="5312664"/>
            <a:ext cx="4654296" cy="384048"/>
          </a:xfrm>
          <a:prstGeom prst="rect">
            <a:avLst/>
          </a:prstGeom>
          <a:noFill/>
          <a:ln/>
        </p:spPr>
        <p:txBody>
          <a:bodyPr wrap="square" lIns="0" tIns="0" rIns="0" bIns="0" rtlCol="0" anchor="t">
            <a:normAutofit/>
          </a:bodyPr>
          <a:lstStyle/>
          <a:p>
            <a:pPr indent="0" marL="0">
              <a:buNone/>
            </a:pPr>
            <a:r>
              <a:rPr lang="en-US" sz="1140" dirty="0">
                <a:solidFill>
                  <a:srgbClr val="17312F"/>
                </a:solidFill>
                <a:latin typeface="Aptos" pitchFamily="34" charset="0"/>
                <a:ea typeface="Aptos" pitchFamily="34" charset="-122"/>
                <a:cs typeface="Aptos" pitchFamily="34" charset="-120"/>
              </a:rPr>
              <a:t>(1.140 − 330) ÷ 1.140 = 71,1%</a:t>
            </a:r>
            <a:endParaRPr lang="en-US" sz="1140" dirty="0"/>
          </a:p>
        </p:txBody>
      </p:sp>
      <p:sp>
        <p:nvSpPr>
          <p:cNvPr id="37" name="Shape 34"/>
          <p:cNvSpPr/>
          <p:nvPr/>
        </p:nvSpPr>
        <p:spPr>
          <a:xfrm>
            <a:off x="521208" y="5797296"/>
            <a:ext cx="11128248" cy="393192"/>
          </a:xfrm>
          <a:prstGeom prst="rect">
            <a:avLst>
              <a:gd name="adj" fmla="val 27907"/>
            </a:avLst>
          </a:prstGeom>
          <a:solidFill>
            <a:srgbClr val="E7F2EC"/>
          </a:solidFill>
          <a:ln w="8890">
            <a:solidFill>
              <a:srgbClr val="E7F2EC"/>
            </a:solidFill>
            <a:prstDash val="solid"/>
          </a:ln>
        </p:spPr>
      </p:sp>
      <p:sp>
        <p:nvSpPr>
          <p:cNvPr id="38" name="Text 35"/>
          <p:cNvSpPr/>
          <p:nvPr/>
        </p:nvSpPr>
        <p:spPr>
          <a:xfrm>
            <a:off x="704088" y="5888736"/>
            <a:ext cx="10762488" cy="201168"/>
          </a:xfrm>
          <a:prstGeom prst="rect">
            <a:avLst/>
          </a:prstGeom>
          <a:noFill/>
          <a:ln/>
        </p:spPr>
        <p:txBody>
          <a:bodyPr wrap="square" lIns="0" tIns="0" rIns="0" bIns="0" rtlCol="0" anchor="t">
            <a:normAutofit/>
          </a:bodyP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Causalidade, capacidade disponível e deduplicação importam mais do que uma simulação com muitas casas decimais.</a:t>
            </a:r>
            <a:endParaRPr lang="en-US" sz="120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CRITÉRIOS DE ACEITE TÉCNICO E OPERACIONAL</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Apêndice / “pronto” precisa ser testável</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Backlog proposto, com reuso explícito da implementação existente.</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C1 · Código — arquitetura e ferramentas   |   C2 · Código — configuração ativa e follow-up</a:t>
            </a:r>
            <a:endParaRPr lang="en-US" sz="720" dirty="0"/>
          </a:p>
        </p:txBody>
      </p:sp>
      <p:sp>
        <p:nvSpPr>
          <p:cNvPr id="9" name="Shape 6"/>
          <p:cNvSpPr/>
          <p:nvPr/>
        </p:nvSpPr>
        <p:spPr>
          <a:xfrm>
            <a:off x="557784" y="2185416"/>
            <a:ext cx="11109960" cy="384048"/>
          </a:xfrm>
          <a:prstGeom prst="rect">
            <a:avLst>
              <a:gd name="adj" fmla="val 28571"/>
            </a:avLst>
          </a:prstGeom>
          <a:solidFill>
            <a:srgbClr val="0B3430"/>
          </a:solidFill>
          <a:ln w="8890">
            <a:solidFill>
              <a:srgbClr val="0B3430"/>
            </a:solidFill>
            <a:prstDash val="solid"/>
          </a:ln>
        </p:spPr>
      </p:sp>
      <p:sp>
        <p:nvSpPr>
          <p:cNvPr id="10" name="Text 7"/>
          <p:cNvSpPr/>
          <p:nvPr/>
        </p:nvSpPr>
        <p:spPr>
          <a:xfrm>
            <a:off x="649224" y="2286000"/>
            <a:ext cx="2029968"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Mudança</a:t>
            </a:r>
            <a:endParaRPr lang="en-US" sz="1050" dirty="0"/>
          </a:p>
        </p:txBody>
      </p:sp>
      <p:sp>
        <p:nvSpPr>
          <p:cNvPr id="11" name="Text 8"/>
          <p:cNvSpPr/>
          <p:nvPr/>
        </p:nvSpPr>
        <p:spPr>
          <a:xfrm>
            <a:off x="2862072" y="2286000"/>
            <a:ext cx="3200400"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Reuso</a:t>
            </a:r>
            <a:endParaRPr lang="en-US" sz="1050" dirty="0"/>
          </a:p>
        </p:txBody>
      </p:sp>
      <p:sp>
        <p:nvSpPr>
          <p:cNvPr id="12" name="Text 9"/>
          <p:cNvSpPr/>
          <p:nvPr/>
        </p:nvSpPr>
        <p:spPr>
          <a:xfrm>
            <a:off x="6245352" y="2286000"/>
            <a:ext cx="5330952"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Aceite mínimo</a:t>
            </a:r>
            <a:endParaRPr lang="en-US" sz="1050" dirty="0"/>
          </a:p>
        </p:txBody>
      </p:sp>
      <p:sp>
        <p:nvSpPr>
          <p:cNvPr id="13" name="Shape 10"/>
          <p:cNvSpPr/>
          <p:nvPr/>
        </p:nvSpPr>
        <p:spPr>
          <a:xfrm>
            <a:off x="557784" y="2569464"/>
            <a:ext cx="11109960" cy="557784"/>
          </a:xfrm>
          <a:prstGeom prst="rect">
            <a:avLst>
              <a:gd name="adj" fmla="val 19672"/>
            </a:avLst>
          </a:prstGeom>
          <a:solidFill>
            <a:srgbClr val="FFFFFF"/>
          </a:solidFill>
          <a:ln w="8890">
            <a:solidFill>
              <a:srgbClr val="DCE5DF"/>
            </a:solidFill>
            <a:prstDash val="solid"/>
          </a:ln>
        </p:spPr>
      </p:sp>
      <p:sp>
        <p:nvSpPr>
          <p:cNvPr id="14" name="Text 11"/>
          <p:cNvSpPr/>
          <p:nvPr/>
        </p:nvSpPr>
        <p:spPr>
          <a:xfrm>
            <a:off x="649224" y="2660904"/>
            <a:ext cx="2029968" cy="411480"/>
          </a:xfrm>
          <a:prstGeom prst="rect">
            <a:avLst/>
          </a:prstGeom>
          <a:noFill/>
          <a:ln/>
        </p:spPr>
        <p:txBody>
          <a:bodyPr wrap="square" lIns="0" tIns="0" rIns="0" bIns="0" rtlCol="0" anchor="t">
            <a:normAutofit/>
          </a:bodyPr>
          <a:lstStyle/>
          <a:p>
            <a:pPr indent="0" marL="0">
              <a:buNone/>
            </a:pPr>
            <a:r>
              <a:rPr lang="en-US" sz="1090" b="1" dirty="0">
                <a:solidFill>
                  <a:srgbClr val="0F766E"/>
                </a:solidFill>
                <a:latin typeface="Aptos Display" pitchFamily="34" charset="0"/>
                <a:ea typeface="Aptos Display" pitchFamily="34" charset="-122"/>
                <a:cs typeface="Aptos Display" pitchFamily="34" charset="-120"/>
              </a:rPr>
              <a:t>Perfil de clínica</a:t>
            </a:r>
            <a:endParaRPr lang="en-US" sz="1090" dirty="0"/>
          </a:p>
        </p:txBody>
      </p:sp>
      <p:sp>
        <p:nvSpPr>
          <p:cNvPr id="15" name="Text 12"/>
          <p:cNvSpPr/>
          <p:nvPr/>
        </p:nvSpPr>
        <p:spPr>
          <a:xfrm>
            <a:off x="2862072" y="2660904"/>
            <a:ext cx="3200400" cy="411480"/>
          </a:xfrm>
          <a:prstGeom prst="rect">
            <a:avLst/>
          </a:prstGeom>
          <a:noFill/>
          <a:ln/>
        </p:spPr>
        <p:txBody>
          <a:bodyPr wrap="square" lIns="0" tIns="0" rIns="0" bIns="0" rtlCol="0" anchor="t">
            <a:normAutofit/>
          </a:bodyPr>
          <a:lstStyle/>
          <a:p>
            <a:pPr indent="0" marL="0">
              <a:buNone/>
            </a:pPr>
            <a:r>
              <a:rPr lang="en-US" sz="1090" dirty="0">
                <a:solidFill>
                  <a:srgbClr val="17312F"/>
                </a:solidFill>
                <a:latin typeface="Aptos" pitchFamily="34" charset="0"/>
                <a:ea typeface="Aptos" pitchFamily="34" charset="-122"/>
                <a:cs typeface="Aptos" pitchFamily="34" charset="-120"/>
              </a:rPr>
              <a:t>Configuração / regras do agente</a:t>
            </a:r>
            <a:endParaRPr lang="en-US" sz="1090" dirty="0"/>
          </a:p>
        </p:txBody>
      </p:sp>
      <p:sp>
        <p:nvSpPr>
          <p:cNvPr id="16" name="Text 13"/>
          <p:cNvSpPr/>
          <p:nvPr/>
        </p:nvSpPr>
        <p:spPr>
          <a:xfrm>
            <a:off x="6245352" y="2660904"/>
            <a:ext cx="5330952" cy="411480"/>
          </a:xfrm>
          <a:prstGeom prst="rect">
            <a:avLst/>
          </a:prstGeom>
          <a:noFill/>
          <a:ln/>
        </p:spPr>
        <p:txBody>
          <a:bodyPr wrap="square" lIns="0" tIns="0" rIns="0" bIns="0" rtlCol="0" anchor="t">
            <a:normAutofit/>
          </a:bodyPr>
          <a:lstStyle/>
          <a:p>
            <a:pPr indent="0" marL="0">
              <a:buNone/>
            </a:pPr>
            <a:r>
              <a:rPr lang="en-US" sz="1090" dirty="0">
                <a:solidFill>
                  <a:srgbClr val="17312F"/>
                </a:solidFill>
                <a:latin typeface="Aptos" pitchFamily="34" charset="0"/>
                <a:ea typeface="Aptos" pitchFamily="34" charset="-122"/>
                <a:cs typeface="Aptos" pitchFamily="34" charset="-120"/>
              </a:rPr>
              <a:t>Exportar/importar sem segredo; fonte aprovada; campos por finalidade</a:t>
            </a:r>
            <a:endParaRPr lang="en-US" sz="1090" dirty="0"/>
          </a:p>
        </p:txBody>
      </p:sp>
      <p:sp>
        <p:nvSpPr>
          <p:cNvPr id="17" name="Shape 14"/>
          <p:cNvSpPr/>
          <p:nvPr/>
        </p:nvSpPr>
        <p:spPr>
          <a:xfrm>
            <a:off x="557784" y="3127248"/>
            <a:ext cx="11109960" cy="557784"/>
          </a:xfrm>
          <a:prstGeom prst="rect">
            <a:avLst>
              <a:gd name="adj" fmla="val 19672"/>
            </a:avLst>
          </a:prstGeom>
          <a:solidFill>
            <a:srgbClr val="FCFAF6"/>
          </a:solidFill>
          <a:ln w="8890">
            <a:solidFill>
              <a:srgbClr val="DCE5DF"/>
            </a:solidFill>
            <a:prstDash val="solid"/>
          </a:ln>
        </p:spPr>
      </p:sp>
      <p:sp>
        <p:nvSpPr>
          <p:cNvPr id="18" name="Text 15"/>
          <p:cNvSpPr/>
          <p:nvPr/>
        </p:nvSpPr>
        <p:spPr>
          <a:xfrm>
            <a:off x="649224" y="3218688"/>
            <a:ext cx="2029968" cy="411480"/>
          </a:xfrm>
          <a:prstGeom prst="rect">
            <a:avLst/>
          </a:prstGeom>
          <a:noFill/>
          <a:ln/>
        </p:spPr>
        <p:txBody>
          <a:bodyPr wrap="square" lIns="0" tIns="0" rIns="0" bIns="0" rtlCol="0" anchor="t">
            <a:normAutofit/>
          </a:bodyPr>
          <a:lstStyle/>
          <a:p>
            <a:pPr indent="0" marL="0">
              <a:buNone/>
            </a:pPr>
            <a:r>
              <a:rPr lang="en-US" sz="1090" b="1" dirty="0">
                <a:solidFill>
                  <a:srgbClr val="0F766E"/>
                </a:solidFill>
                <a:latin typeface="Aptos Display" pitchFamily="34" charset="0"/>
                <a:ea typeface="Aptos Display" pitchFamily="34" charset="-122"/>
                <a:cs typeface="Aptos Display" pitchFamily="34" charset="-120"/>
              </a:rPr>
              <a:t>Agenda completa</a:t>
            </a:r>
            <a:endParaRPr lang="en-US" sz="1090" dirty="0"/>
          </a:p>
        </p:txBody>
      </p:sp>
      <p:sp>
        <p:nvSpPr>
          <p:cNvPr id="19" name="Text 16"/>
          <p:cNvSpPr/>
          <p:nvPr/>
        </p:nvSpPr>
        <p:spPr>
          <a:xfrm>
            <a:off x="2862072" y="3218688"/>
            <a:ext cx="3200400" cy="411480"/>
          </a:xfrm>
          <a:prstGeom prst="rect">
            <a:avLst/>
          </a:prstGeom>
          <a:noFill/>
          <a:ln/>
        </p:spPr>
        <p:txBody>
          <a:bodyPr wrap="square" lIns="0" tIns="0" rIns="0" bIns="0" rtlCol="0" anchor="t">
            <a:normAutofit/>
          </a:bodyPr>
          <a:lstStyle/>
          <a:p>
            <a:pPr indent="0" marL="0">
              <a:buNone/>
            </a:pPr>
            <a:r>
              <a:rPr lang="en-US" sz="1090" dirty="0">
                <a:solidFill>
                  <a:srgbClr val="17312F"/>
                </a:solidFill>
                <a:latin typeface="Aptos" pitchFamily="34" charset="0"/>
                <a:ea typeface="Aptos" pitchFamily="34" charset="-122"/>
                <a:cs typeface="Aptos" pitchFamily="34" charset="-120"/>
              </a:rPr>
              <a:t>find_slots / hold / book / reschedule</a:t>
            </a:r>
            <a:endParaRPr lang="en-US" sz="1090" dirty="0"/>
          </a:p>
        </p:txBody>
      </p:sp>
      <p:sp>
        <p:nvSpPr>
          <p:cNvPr id="20" name="Text 17"/>
          <p:cNvSpPr/>
          <p:nvPr/>
        </p:nvSpPr>
        <p:spPr>
          <a:xfrm>
            <a:off x="6245352" y="3218688"/>
            <a:ext cx="5330952" cy="411480"/>
          </a:xfrm>
          <a:prstGeom prst="rect">
            <a:avLst/>
          </a:prstGeom>
          <a:noFill/>
          <a:ln/>
        </p:spPr>
        <p:txBody>
          <a:bodyPr wrap="square" lIns="0" tIns="0" rIns="0" bIns="0" rtlCol="0" anchor="t">
            <a:normAutofit/>
          </a:bodyPr>
          <a:lstStyle/>
          <a:p>
            <a:pPr indent="0" marL="0">
              <a:buNone/>
            </a:pPr>
            <a:r>
              <a:rPr lang="en-US" sz="1090" dirty="0">
                <a:solidFill>
                  <a:srgbClr val="17312F"/>
                </a:solidFill>
                <a:latin typeface="Aptos" pitchFamily="34" charset="0"/>
                <a:ea typeface="Aptos" pitchFamily="34" charset="-122"/>
                <a:cs typeface="Aptos" pitchFamily="34" charset="-120"/>
              </a:rPr>
              <a:t>Cancelar sem duplicação; conflito/retry/timezone cobertos</a:t>
            </a:r>
            <a:endParaRPr lang="en-US" sz="1090" dirty="0"/>
          </a:p>
        </p:txBody>
      </p:sp>
      <p:sp>
        <p:nvSpPr>
          <p:cNvPr id="21" name="Shape 18"/>
          <p:cNvSpPr/>
          <p:nvPr/>
        </p:nvSpPr>
        <p:spPr>
          <a:xfrm>
            <a:off x="557784" y="3685032"/>
            <a:ext cx="11109960" cy="557784"/>
          </a:xfrm>
          <a:prstGeom prst="rect">
            <a:avLst>
              <a:gd name="adj" fmla="val 19672"/>
            </a:avLst>
          </a:prstGeom>
          <a:solidFill>
            <a:srgbClr val="FFFFFF"/>
          </a:solidFill>
          <a:ln w="8890">
            <a:solidFill>
              <a:srgbClr val="DCE5DF"/>
            </a:solidFill>
            <a:prstDash val="solid"/>
          </a:ln>
        </p:spPr>
      </p:sp>
      <p:sp>
        <p:nvSpPr>
          <p:cNvPr id="22" name="Text 19"/>
          <p:cNvSpPr/>
          <p:nvPr/>
        </p:nvSpPr>
        <p:spPr>
          <a:xfrm>
            <a:off x="649224" y="3776472"/>
            <a:ext cx="2029968" cy="411480"/>
          </a:xfrm>
          <a:prstGeom prst="rect">
            <a:avLst/>
          </a:prstGeom>
          <a:noFill/>
          <a:ln/>
        </p:spPr>
        <p:txBody>
          <a:bodyPr wrap="square" lIns="0" tIns="0" rIns="0" bIns="0" rtlCol="0" anchor="t">
            <a:normAutofit/>
          </a:bodyPr>
          <a:lstStyle/>
          <a:p>
            <a:pPr indent="0" marL="0">
              <a:buNone/>
            </a:pPr>
            <a:r>
              <a:rPr lang="en-US" sz="1090" b="1" dirty="0">
                <a:solidFill>
                  <a:srgbClr val="0F766E"/>
                </a:solidFill>
                <a:latin typeface="Aptos Display" pitchFamily="34" charset="0"/>
                <a:ea typeface="Aptos Display" pitchFamily="34" charset="-122"/>
                <a:cs typeface="Aptos Display" pitchFamily="34" charset="-120"/>
              </a:rPr>
              <a:t>Continuidade</a:t>
            </a:r>
            <a:endParaRPr lang="en-US" sz="1090" dirty="0"/>
          </a:p>
        </p:txBody>
      </p:sp>
      <p:sp>
        <p:nvSpPr>
          <p:cNvPr id="23" name="Text 20"/>
          <p:cNvSpPr/>
          <p:nvPr/>
        </p:nvSpPr>
        <p:spPr>
          <a:xfrm>
            <a:off x="2862072" y="3776472"/>
            <a:ext cx="3200400" cy="411480"/>
          </a:xfrm>
          <a:prstGeom prst="rect">
            <a:avLst/>
          </a:prstGeom>
          <a:noFill/>
          <a:ln/>
        </p:spPr>
        <p:txBody>
          <a:bodyPr wrap="square" lIns="0" tIns="0" rIns="0" bIns="0" rtlCol="0" anchor="t">
            <a:normAutofit/>
          </a:bodyPr>
          <a:lstStyle/>
          <a:p>
            <a:pPr indent="0" marL="0">
              <a:buNone/>
            </a:pPr>
            <a:r>
              <a:rPr lang="en-US" sz="1090" dirty="0">
                <a:solidFill>
                  <a:srgbClr val="17312F"/>
                </a:solidFill>
                <a:latin typeface="Aptos" pitchFamily="34" charset="0"/>
                <a:ea typeface="Aptos" pitchFamily="34" charset="-122"/>
                <a:cs typeface="Aptos" pitchFamily="34" charset="-120"/>
              </a:rPr>
              <a:t>Follow-up / templates / fila</a:t>
            </a:r>
            <a:endParaRPr lang="en-US" sz="1090" dirty="0"/>
          </a:p>
        </p:txBody>
      </p:sp>
      <p:sp>
        <p:nvSpPr>
          <p:cNvPr id="24" name="Text 21"/>
          <p:cNvSpPr/>
          <p:nvPr/>
        </p:nvSpPr>
        <p:spPr>
          <a:xfrm>
            <a:off x="6245352" y="3776472"/>
            <a:ext cx="5330952" cy="411480"/>
          </a:xfrm>
          <a:prstGeom prst="rect">
            <a:avLst/>
          </a:prstGeom>
          <a:noFill/>
          <a:ln/>
        </p:spPr>
        <p:txBody>
          <a:bodyPr wrap="square" lIns="0" tIns="0" rIns="0" bIns="0" rtlCol="0" anchor="t">
            <a:normAutofit/>
          </a:bodyPr>
          <a:lstStyle/>
          <a:p>
            <a:pPr indent="0" marL="0">
              <a:buNone/>
            </a:pPr>
            <a:r>
              <a:rPr lang="en-US" sz="1090" dirty="0">
                <a:solidFill>
                  <a:srgbClr val="17312F"/>
                </a:solidFill>
                <a:latin typeface="Aptos" pitchFamily="34" charset="0"/>
                <a:ea typeface="Aptos" pitchFamily="34" charset="-122"/>
                <a:cs typeface="Aptos" pitchFamily="34" charset="-120"/>
              </a:rPr>
              <a:t>Status real; janela 24h; opt-out; mensagens após encerramento</a:t>
            </a:r>
            <a:endParaRPr lang="en-US" sz="1090" dirty="0"/>
          </a:p>
        </p:txBody>
      </p:sp>
      <p:sp>
        <p:nvSpPr>
          <p:cNvPr id="25" name="Shape 22"/>
          <p:cNvSpPr/>
          <p:nvPr/>
        </p:nvSpPr>
        <p:spPr>
          <a:xfrm>
            <a:off x="557784" y="4242816"/>
            <a:ext cx="11109960" cy="557784"/>
          </a:xfrm>
          <a:prstGeom prst="rect">
            <a:avLst>
              <a:gd name="adj" fmla="val 19672"/>
            </a:avLst>
          </a:prstGeom>
          <a:solidFill>
            <a:srgbClr val="FCFAF6"/>
          </a:solidFill>
          <a:ln w="8890">
            <a:solidFill>
              <a:srgbClr val="DCE5DF"/>
            </a:solidFill>
            <a:prstDash val="solid"/>
          </a:ln>
        </p:spPr>
      </p:sp>
      <p:sp>
        <p:nvSpPr>
          <p:cNvPr id="26" name="Text 23"/>
          <p:cNvSpPr/>
          <p:nvPr/>
        </p:nvSpPr>
        <p:spPr>
          <a:xfrm>
            <a:off x="649224" y="4334256"/>
            <a:ext cx="2029968" cy="411480"/>
          </a:xfrm>
          <a:prstGeom prst="rect">
            <a:avLst/>
          </a:prstGeom>
          <a:noFill/>
          <a:ln/>
        </p:spPr>
        <p:txBody>
          <a:bodyPr wrap="square" lIns="0" tIns="0" rIns="0" bIns="0" rtlCol="0" anchor="t">
            <a:normAutofit/>
          </a:bodyPr>
          <a:lstStyle/>
          <a:p>
            <a:pPr indent="0" marL="0">
              <a:buNone/>
            </a:pPr>
            <a:r>
              <a:rPr lang="en-US" sz="1090" b="1" dirty="0">
                <a:solidFill>
                  <a:srgbClr val="0F766E"/>
                </a:solidFill>
                <a:latin typeface="Aptos Display" pitchFamily="34" charset="0"/>
                <a:ea typeface="Aptos Display" pitchFamily="34" charset="-122"/>
                <a:cs typeface="Aptos Display" pitchFamily="34" charset="-120"/>
              </a:rPr>
              <a:t>Ledger de resultado</a:t>
            </a:r>
            <a:endParaRPr lang="en-US" sz="1090" dirty="0"/>
          </a:p>
        </p:txBody>
      </p:sp>
      <p:sp>
        <p:nvSpPr>
          <p:cNvPr id="27" name="Text 24"/>
          <p:cNvSpPr/>
          <p:nvPr/>
        </p:nvSpPr>
        <p:spPr>
          <a:xfrm>
            <a:off x="2862072" y="4334256"/>
            <a:ext cx="3200400" cy="411480"/>
          </a:xfrm>
          <a:prstGeom prst="rect">
            <a:avLst/>
          </a:prstGeom>
          <a:noFill/>
          <a:ln/>
        </p:spPr>
        <p:txBody>
          <a:bodyPr wrap="square" lIns="0" tIns="0" rIns="0" bIns="0" rtlCol="0" anchor="t">
            <a:normAutofit/>
          </a:bodyPr>
          <a:lstStyle/>
          <a:p>
            <a:pPr indent="0" marL="0">
              <a:buNone/>
            </a:pPr>
            <a:r>
              <a:rPr lang="en-US" sz="1090" dirty="0">
                <a:solidFill>
                  <a:srgbClr val="17312F"/>
                </a:solidFill>
                <a:latin typeface="Aptos" pitchFamily="34" charset="0"/>
                <a:ea typeface="Aptos" pitchFamily="34" charset="-122"/>
                <a:cs typeface="Aptos" pitchFamily="34" charset="-120"/>
              </a:rPr>
              <a:t>Runs, steps e dashboard existentes</a:t>
            </a:r>
            <a:endParaRPr lang="en-US" sz="1090" dirty="0"/>
          </a:p>
        </p:txBody>
      </p:sp>
      <p:sp>
        <p:nvSpPr>
          <p:cNvPr id="28" name="Text 25"/>
          <p:cNvSpPr/>
          <p:nvPr/>
        </p:nvSpPr>
        <p:spPr>
          <a:xfrm>
            <a:off x="6245352" y="4334256"/>
            <a:ext cx="5330952" cy="411480"/>
          </a:xfrm>
          <a:prstGeom prst="rect">
            <a:avLst/>
          </a:prstGeom>
          <a:noFill/>
          <a:ln/>
        </p:spPr>
        <p:txBody>
          <a:bodyPr wrap="square" lIns="0" tIns="0" rIns="0" bIns="0" rtlCol="0" anchor="t">
            <a:normAutofit/>
          </a:bodyPr>
          <a:lstStyle/>
          <a:p>
            <a:pPr indent="0" marL="0">
              <a:buNone/>
            </a:pPr>
            <a:r>
              <a:rPr lang="en-US" sz="1090" dirty="0">
                <a:solidFill>
                  <a:srgbClr val="17312F"/>
                </a:solidFill>
                <a:latin typeface="Aptos" pitchFamily="34" charset="0"/>
                <a:ea typeface="Aptos" pitchFamily="34" charset="-122"/>
                <a:cs typeface="Aptos" pitchFamily="34" charset="-120"/>
              </a:rPr>
              <a:t>Denominadores estáveis; appointmentId; custos; abandono incluído</a:t>
            </a:r>
            <a:endParaRPr lang="en-US" sz="1090" dirty="0"/>
          </a:p>
        </p:txBody>
      </p:sp>
      <p:sp>
        <p:nvSpPr>
          <p:cNvPr id="29" name="Shape 26"/>
          <p:cNvSpPr/>
          <p:nvPr/>
        </p:nvSpPr>
        <p:spPr>
          <a:xfrm>
            <a:off x="557784" y="4800600"/>
            <a:ext cx="11109960" cy="557784"/>
          </a:xfrm>
          <a:prstGeom prst="rect">
            <a:avLst>
              <a:gd name="adj" fmla="val 19672"/>
            </a:avLst>
          </a:prstGeom>
          <a:solidFill>
            <a:srgbClr val="FFFFFF"/>
          </a:solidFill>
          <a:ln w="8890">
            <a:solidFill>
              <a:srgbClr val="DCE5DF"/>
            </a:solidFill>
            <a:prstDash val="solid"/>
          </a:ln>
        </p:spPr>
      </p:sp>
      <p:sp>
        <p:nvSpPr>
          <p:cNvPr id="30" name="Text 27"/>
          <p:cNvSpPr/>
          <p:nvPr/>
        </p:nvSpPr>
        <p:spPr>
          <a:xfrm>
            <a:off x="649224" y="4892040"/>
            <a:ext cx="2029968" cy="411480"/>
          </a:xfrm>
          <a:prstGeom prst="rect">
            <a:avLst/>
          </a:prstGeom>
          <a:noFill/>
          <a:ln/>
        </p:spPr>
        <p:txBody>
          <a:bodyPr wrap="square" lIns="0" tIns="0" rIns="0" bIns="0" rtlCol="0" anchor="t">
            <a:normAutofit/>
          </a:bodyPr>
          <a:lstStyle/>
          <a:p>
            <a:pPr indent="0" marL="0">
              <a:buNone/>
            </a:pPr>
            <a:r>
              <a:rPr lang="en-US" sz="1090" b="1" dirty="0">
                <a:solidFill>
                  <a:srgbClr val="0F766E"/>
                </a:solidFill>
                <a:latin typeface="Aptos Display" pitchFamily="34" charset="0"/>
                <a:ea typeface="Aptos Display" pitchFamily="34" charset="-122"/>
                <a:cs typeface="Aptos Display" pitchFamily="34" charset="-120"/>
              </a:rPr>
              <a:t>Handoff</a:t>
            </a:r>
            <a:endParaRPr lang="en-US" sz="1090" dirty="0"/>
          </a:p>
        </p:txBody>
      </p:sp>
      <p:sp>
        <p:nvSpPr>
          <p:cNvPr id="31" name="Text 28"/>
          <p:cNvSpPr/>
          <p:nvPr/>
        </p:nvSpPr>
        <p:spPr>
          <a:xfrm>
            <a:off x="2862072" y="4892040"/>
            <a:ext cx="3200400" cy="411480"/>
          </a:xfrm>
          <a:prstGeom prst="rect">
            <a:avLst/>
          </a:prstGeom>
          <a:noFill/>
          <a:ln/>
        </p:spPr>
        <p:txBody>
          <a:bodyPr wrap="square" lIns="0" tIns="0" rIns="0" bIns="0" rtlCol="0" anchor="t">
            <a:normAutofit/>
          </a:bodyPr>
          <a:lstStyle/>
          <a:p>
            <a:pPr indent="0" marL="0">
              <a:buNone/>
            </a:pPr>
            <a:r>
              <a:rPr lang="en-US" sz="1090" dirty="0">
                <a:solidFill>
                  <a:srgbClr val="17312F"/>
                </a:solidFill>
                <a:latin typeface="Aptos" pitchFamily="34" charset="0"/>
                <a:ea typeface="Aptos" pitchFamily="34" charset="-122"/>
                <a:cs typeface="Aptos" pitchFamily="34" charset="-120"/>
              </a:rPr>
              <a:t>Política e estado human_handoff</a:t>
            </a:r>
            <a:endParaRPr lang="en-US" sz="1090" dirty="0"/>
          </a:p>
        </p:txBody>
      </p:sp>
      <p:sp>
        <p:nvSpPr>
          <p:cNvPr id="32" name="Text 29"/>
          <p:cNvSpPr/>
          <p:nvPr/>
        </p:nvSpPr>
        <p:spPr>
          <a:xfrm>
            <a:off x="6245352" y="4892040"/>
            <a:ext cx="5330952" cy="411480"/>
          </a:xfrm>
          <a:prstGeom prst="rect">
            <a:avLst/>
          </a:prstGeom>
          <a:noFill/>
          <a:ln/>
        </p:spPr>
        <p:txBody>
          <a:bodyPr wrap="square" lIns="0" tIns="0" rIns="0" bIns="0" rtlCol="0" anchor="t">
            <a:normAutofit/>
          </a:bodyPr>
          <a:lstStyle/>
          <a:p>
            <a:pPr indent="0" marL="0">
              <a:buNone/>
            </a:pPr>
            <a:r>
              <a:rPr lang="en-US" sz="1090" dirty="0">
                <a:solidFill>
                  <a:srgbClr val="17312F"/>
                </a:solidFill>
                <a:latin typeface="Aptos" pitchFamily="34" charset="0"/>
                <a:ea typeface="Aptos" pitchFamily="34" charset="-122"/>
                <a:cs typeface="Aptos" pitchFamily="34" charset="-120"/>
              </a:rPr>
              <a:t>Responsável e aceite; contexto; SLA; reentrada sem contradição</a:t>
            </a:r>
            <a:endParaRPr lang="en-US" sz="1090" dirty="0"/>
          </a:p>
        </p:txBody>
      </p:sp>
      <p:sp>
        <p:nvSpPr>
          <p:cNvPr id="33" name="Shape 30"/>
          <p:cNvSpPr/>
          <p:nvPr/>
        </p:nvSpPr>
        <p:spPr>
          <a:xfrm>
            <a:off x="557784" y="5358384"/>
            <a:ext cx="11109960" cy="557784"/>
          </a:xfrm>
          <a:prstGeom prst="rect">
            <a:avLst>
              <a:gd name="adj" fmla="val 19672"/>
            </a:avLst>
          </a:prstGeom>
          <a:solidFill>
            <a:srgbClr val="FCFAF6"/>
          </a:solidFill>
          <a:ln w="8890">
            <a:solidFill>
              <a:srgbClr val="DCE5DF"/>
            </a:solidFill>
            <a:prstDash val="solid"/>
          </a:ln>
        </p:spPr>
      </p:sp>
      <p:sp>
        <p:nvSpPr>
          <p:cNvPr id="34" name="Text 31"/>
          <p:cNvSpPr/>
          <p:nvPr/>
        </p:nvSpPr>
        <p:spPr>
          <a:xfrm>
            <a:off x="649224" y="5449824"/>
            <a:ext cx="2029968" cy="411480"/>
          </a:xfrm>
          <a:prstGeom prst="rect">
            <a:avLst/>
          </a:prstGeom>
          <a:noFill/>
          <a:ln/>
        </p:spPr>
        <p:txBody>
          <a:bodyPr wrap="square" lIns="0" tIns="0" rIns="0" bIns="0" rtlCol="0" anchor="t">
            <a:normAutofit/>
          </a:bodyPr>
          <a:lstStyle/>
          <a:p>
            <a:pPr indent="0" marL="0">
              <a:buNone/>
            </a:pPr>
            <a:r>
              <a:rPr lang="en-US" sz="1090" b="1" dirty="0">
                <a:solidFill>
                  <a:srgbClr val="0F766E"/>
                </a:solidFill>
                <a:latin typeface="Aptos Display" pitchFamily="34" charset="0"/>
                <a:ea typeface="Aptos Display" pitchFamily="34" charset="-122"/>
                <a:cs typeface="Aptos Display" pitchFamily="34" charset="-120"/>
              </a:rPr>
              <a:t>Confiança / implantação</a:t>
            </a:r>
            <a:endParaRPr lang="en-US" sz="1090" dirty="0"/>
          </a:p>
        </p:txBody>
      </p:sp>
      <p:sp>
        <p:nvSpPr>
          <p:cNvPr id="35" name="Text 32"/>
          <p:cNvSpPr/>
          <p:nvPr/>
        </p:nvSpPr>
        <p:spPr>
          <a:xfrm>
            <a:off x="2862072" y="5449824"/>
            <a:ext cx="3200400" cy="411480"/>
          </a:xfrm>
          <a:prstGeom prst="rect">
            <a:avLst/>
          </a:prstGeom>
          <a:noFill/>
          <a:ln/>
        </p:spPr>
        <p:txBody>
          <a:bodyPr wrap="square" lIns="0" tIns="0" rIns="0" bIns="0" rtlCol="0" anchor="t">
            <a:normAutofit/>
          </a:bodyPr>
          <a:lstStyle/>
          <a:p>
            <a:pPr indent="0" marL="0">
              <a:buNone/>
            </a:pPr>
            <a:r>
              <a:rPr lang="en-US" sz="1090" dirty="0">
                <a:solidFill>
                  <a:srgbClr val="17312F"/>
                </a:solidFill>
                <a:latin typeface="Aptos" pitchFamily="34" charset="0"/>
                <a:ea typeface="Aptos" pitchFamily="34" charset="-122"/>
                <a:cs typeface="Aptos" pitchFamily="34" charset="-120"/>
              </a:rPr>
              <a:t>Infra e controles existentes</a:t>
            </a:r>
            <a:endParaRPr lang="en-US" sz="1090" dirty="0"/>
          </a:p>
        </p:txBody>
      </p:sp>
      <p:sp>
        <p:nvSpPr>
          <p:cNvPr id="36" name="Text 33"/>
          <p:cNvSpPr/>
          <p:nvPr/>
        </p:nvSpPr>
        <p:spPr>
          <a:xfrm>
            <a:off x="6245352" y="5449824"/>
            <a:ext cx="5330952" cy="411480"/>
          </a:xfrm>
          <a:prstGeom prst="rect">
            <a:avLst/>
          </a:prstGeom>
          <a:noFill/>
          <a:ln/>
        </p:spPr>
        <p:txBody>
          <a:bodyPr wrap="square" lIns="0" tIns="0" rIns="0" bIns="0" rtlCol="0" anchor="t">
            <a:normAutofit/>
          </a:bodyPr>
          <a:lstStyle/>
          <a:p>
            <a:pPr indent="0" marL="0">
              <a:buNone/>
            </a:pPr>
            <a:r>
              <a:rPr lang="en-US" sz="1090" dirty="0">
                <a:solidFill>
                  <a:srgbClr val="17312F"/>
                </a:solidFill>
                <a:latin typeface="Aptos" pitchFamily="34" charset="0"/>
                <a:ea typeface="Aptos" pitchFamily="34" charset="-122"/>
                <a:cs typeface="Aptos" pitchFamily="34" charset="-120"/>
              </a:rPr>
              <a:t>Isolamento provado; acessos; direitos; backup/restauração; contratos</a:t>
            </a:r>
            <a:endParaRPr lang="en-US" sz="109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O QUE ACOMPANHAR — E O QUE NÃO COPIAR</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Apêndice / mapa de players do v1</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Mapa de categorias, não comparação validada feature a feature de 25+ fornecedores.</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D1 · Documento de partida — v1.md   |   S4 · Feegow — Preços e Planos   |   S6 · Hyro — comunicado de financiamento   |   S8 · Abridge — site e posicionamento atuais</a:t>
            </a:r>
            <a:endParaRPr lang="en-US" sz="720" dirty="0"/>
          </a:p>
        </p:txBody>
      </p:sp>
      <p:sp>
        <p:nvSpPr>
          <p:cNvPr id="9" name="Shape 6"/>
          <p:cNvSpPr/>
          <p:nvPr/>
        </p:nvSpPr>
        <p:spPr>
          <a:xfrm>
            <a:off x="557784" y="2185416"/>
            <a:ext cx="11109960" cy="384048"/>
          </a:xfrm>
          <a:prstGeom prst="rect">
            <a:avLst>
              <a:gd name="adj" fmla="val 28571"/>
            </a:avLst>
          </a:prstGeom>
          <a:solidFill>
            <a:srgbClr val="0B3430"/>
          </a:solidFill>
          <a:ln w="8890">
            <a:solidFill>
              <a:srgbClr val="0B3430"/>
            </a:solidFill>
            <a:prstDash val="solid"/>
          </a:ln>
        </p:spPr>
      </p:sp>
      <p:sp>
        <p:nvSpPr>
          <p:cNvPr id="10" name="Text 7"/>
          <p:cNvSpPr/>
          <p:nvPr/>
        </p:nvSpPr>
        <p:spPr>
          <a:xfrm>
            <a:off x="649224" y="2286000"/>
            <a:ext cx="2103120"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Categoria</a:t>
            </a:r>
            <a:endParaRPr lang="en-US" sz="1050" dirty="0"/>
          </a:p>
        </p:txBody>
      </p:sp>
      <p:sp>
        <p:nvSpPr>
          <p:cNvPr id="11" name="Text 8"/>
          <p:cNvSpPr/>
          <p:nvPr/>
        </p:nvSpPr>
        <p:spPr>
          <a:xfrm>
            <a:off x="2935224" y="2286000"/>
            <a:ext cx="5093208"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Referências</a:t>
            </a:r>
            <a:endParaRPr lang="en-US" sz="1050" dirty="0"/>
          </a:p>
        </p:txBody>
      </p:sp>
      <p:sp>
        <p:nvSpPr>
          <p:cNvPr id="12" name="Text 9"/>
          <p:cNvSpPr/>
          <p:nvPr/>
        </p:nvSpPr>
        <p:spPr>
          <a:xfrm>
            <a:off x="8211312" y="2286000"/>
            <a:ext cx="3364992" cy="201168"/>
          </a:xfrm>
          <a:prstGeom prst="rect">
            <a:avLst/>
          </a:prstGeom>
          <a:noFill/>
          <a:ln/>
        </p:spPr>
        <p:txBody>
          <a:bodyPr wrap="square" lIns="0" tIns="0" rIns="0" bIns="0" rtlCol="0" anchor="t">
            <a:normAutofit/>
          </a:bodyPr>
          <a:lstStyle/>
          <a:p>
            <a:pPr indent="0" marL="0">
              <a:buNone/>
            </a:pPr>
            <a:r>
              <a:rPr lang="en-US" sz="1050" b="1" dirty="0">
                <a:solidFill>
                  <a:srgbClr val="FCFAF6"/>
                </a:solidFill>
                <a:latin typeface="Aptos Display" pitchFamily="34" charset="0"/>
                <a:ea typeface="Aptos Display" pitchFamily="34" charset="-122"/>
                <a:cs typeface="Aptos Display" pitchFamily="34" charset="-120"/>
              </a:rPr>
              <a:t>Uso na decisão da Oria</a:t>
            </a:r>
            <a:endParaRPr lang="en-US" sz="1050" dirty="0"/>
          </a:p>
        </p:txBody>
      </p:sp>
      <p:sp>
        <p:nvSpPr>
          <p:cNvPr id="13" name="Shape 10"/>
          <p:cNvSpPr/>
          <p:nvPr/>
        </p:nvSpPr>
        <p:spPr>
          <a:xfrm>
            <a:off x="557784" y="2569464"/>
            <a:ext cx="11109960" cy="557784"/>
          </a:xfrm>
          <a:prstGeom prst="rect">
            <a:avLst>
              <a:gd name="adj" fmla="val 19672"/>
            </a:avLst>
          </a:prstGeom>
          <a:solidFill>
            <a:srgbClr val="FFFFFF"/>
          </a:solidFill>
          <a:ln w="8890">
            <a:solidFill>
              <a:srgbClr val="DCE5DF"/>
            </a:solidFill>
            <a:prstDash val="solid"/>
          </a:ln>
        </p:spPr>
      </p:sp>
      <p:sp>
        <p:nvSpPr>
          <p:cNvPr id="14" name="Text 11"/>
          <p:cNvSpPr/>
          <p:nvPr/>
        </p:nvSpPr>
        <p:spPr>
          <a:xfrm>
            <a:off x="649224" y="2660904"/>
            <a:ext cx="2103120" cy="411480"/>
          </a:xfrm>
          <a:prstGeom prst="rect">
            <a:avLst/>
          </a:prstGeom>
          <a:noFill/>
          <a:ln/>
        </p:spPr>
        <p:txBody>
          <a:bodyPr wrap="square" lIns="0" tIns="0" rIns="0" bIns="0" rtlCol="0" anchor="t">
            <a:normAutofit/>
          </a:bodyPr>
          <a:lstStyle/>
          <a:p>
            <a:pPr indent="0" marL="0">
              <a:buNone/>
            </a:pPr>
            <a:r>
              <a:rPr lang="en-US" sz="1080" b="1" dirty="0">
                <a:solidFill>
                  <a:srgbClr val="0F766E"/>
                </a:solidFill>
                <a:latin typeface="Aptos Display" pitchFamily="34" charset="0"/>
                <a:ea typeface="Aptos Display" pitchFamily="34" charset="-122"/>
                <a:cs typeface="Aptos Display" pitchFamily="34" charset="-120"/>
              </a:rPr>
              <a:t>Acesso / conversa</a:t>
            </a:r>
            <a:endParaRPr lang="en-US" sz="1080" dirty="0"/>
          </a:p>
        </p:txBody>
      </p:sp>
      <p:sp>
        <p:nvSpPr>
          <p:cNvPr id="15" name="Text 12"/>
          <p:cNvSpPr/>
          <p:nvPr/>
        </p:nvSpPr>
        <p:spPr>
          <a:xfrm>
            <a:off x="2935224" y="2660904"/>
            <a:ext cx="5093208" cy="411480"/>
          </a:xfrm>
          <a:prstGeom prst="rect">
            <a:avLst/>
          </a:prstGeom>
          <a:noFill/>
          <a:ln/>
        </p:spPr>
        <p:txBody>
          <a:bodyPr wrap="square" lIns="0" tIns="0" rIns="0" bIns="0" rtlCol="0" anchor="t">
            <a:normAutofit/>
          </a:bodyPr>
          <a:lstStyle/>
          <a:p>
            <a:pPr indent="0" marL="0">
              <a:buNone/>
            </a:pPr>
            <a:r>
              <a:rPr lang="en-US" sz="1080" dirty="0">
                <a:solidFill>
                  <a:srgbClr val="17312F"/>
                </a:solidFill>
                <a:latin typeface="Aptos" pitchFamily="34" charset="0"/>
                <a:ea typeface="Aptos" pitchFamily="34" charset="-122"/>
                <a:cs typeface="Aptos" pitchFamily="34" charset="-120"/>
              </a:rPr>
              <a:t>Hyro, Orbita, Avaamo, Kore.ai</a:t>
            </a:r>
            <a:endParaRPr lang="en-US" sz="1080" dirty="0"/>
          </a:p>
        </p:txBody>
      </p:sp>
      <p:sp>
        <p:nvSpPr>
          <p:cNvPr id="16" name="Text 13"/>
          <p:cNvSpPr/>
          <p:nvPr/>
        </p:nvSpPr>
        <p:spPr>
          <a:xfrm>
            <a:off x="8211312" y="2660904"/>
            <a:ext cx="3364992" cy="411480"/>
          </a:xfrm>
          <a:prstGeom prst="rect">
            <a:avLst/>
          </a:prstGeom>
          <a:noFill/>
          <a:ln/>
        </p:spPr>
        <p:txBody>
          <a:bodyPr wrap="square" lIns="0" tIns="0" rIns="0" bIns="0" rtlCol="0" anchor="t">
            <a:normAutofit/>
          </a:bodyPr>
          <a:lstStyle/>
          <a:p>
            <a:pPr indent="0" marL="0">
              <a:buNone/>
            </a:pPr>
            <a:r>
              <a:rPr lang="en-US" sz="1080" dirty="0">
                <a:solidFill>
                  <a:srgbClr val="17312F"/>
                </a:solidFill>
                <a:latin typeface="Aptos" pitchFamily="34" charset="0"/>
                <a:ea typeface="Aptos" pitchFamily="34" charset="-122"/>
                <a:cs typeface="Aptos" pitchFamily="34" charset="-120"/>
              </a:rPr>
              <a:t>Resolução, integração e contextual handoff</a:t>
            </a:r>
            <a:endParaRPr lang="en-US" sz="1080" dirty="0"/>
          </a:p>
        </p:txBody>
      </p:sp>
      <p:sp>
        <p:nvSpPr>
          <p:cNvPr id="17" name="Shape 14"/>
          <p:cNvSpPr/>
          <p:nvPr/>
        </p:nvSpPr>
        <p:spPr>
          <a:xfrm>
            <a:off x="557784" y="3127248"/>
            <a:ext cx="11109960" cy="557784"/>
          </a:xfrm>
          <a:prstGeom prst="rect">
            <a:avLst>
              <a:gd name="adj" fmla="val 19672"/>
            </a:avLst>
          </a:prstGeom>
          <a:solidFill>
            <a:srgbClr val="FCFAF6"/>
          </a:solidFill>
          <a:ln w="8890">
            <a:solidFill>
              <a:srgbClr val="DCE5DF"/>
            </a:solidFill>
            <a:prstDash val="solid"/>
          </a:ln>
        </p:spPr>
      </p:sp>
      <p:sp>
        <p:nvSpPr>
          <p:cNvPr id="18" name="Text 15"/>
          <p:cNvSpPr/>
          <p:nvPr/>
        </p:nvSpPr>
        <p:spPr>
          <a:xfrm>
            <a:off x="649224" y="3218688"/>
            <a:ext cx="2103120" cy="411480"/>
          </a:xfrm>
          <a:prstGeom prst="rect">
            <a:avLst/>
          </a:prstGeom>
          <a:noFill/>
          <a:ln/>
        </p:spPr>
        <p:txBody>
          <a:bodyPr wrap="square" lIns="0" tIns="0" rIns="0" bIns="0" rtlCol="0" anchor="t">
            <a:normAutofit/>
          </a:bodyPr>
          <a:lstStyle/>
          <a:p>
            <a:pPr indent="0" marL="0">
              <a:buNone/>
            </a:pPr>
            <a:r>
              <a:rPr lang="en-US" sz="1080" b="1" dirty="0">
                <a:solidFill>
                  <a:srgbClr val="0F766E"/>
                </a:solidFill>
                <a:latin typeface="Aptos Display" pitchFamily="34" charset="0"/>
                <a:ea typeface="Aptos Display" pitchFamily="34" charset="-122"/>
                <a:cs typeface="Aptos Display" pitchFamily="34" charset="-120"/>
              </a:rPr>
              <a:t>Documentação clínica</a:t>
            </a:r>
            <a:endParaRPr lang="en-US" sz="1080" dirty="0"/>
          </a:p>
        </p:txBody>
      </p:sp>
      <p:sp>
        <p:nvSpPr>
          <p:cNvPr id="19" name="Text 16"/>
          <p:cNvSpPr/>
          <p:nvPr/>
        </p:nvSpPr>
        <p:spPr>
          <a:xfrm>
            <a:off x="2935224" y="3218688"/>
            <a:ext cx="5093208" cy="411480"/>
          </a:xfrm>
          <a:prstGeom prst="rect">
            <a:avLst/>
          </a:prstGeom>
          <a:noFill/>
          <a:ln/>
        </p:spPr>
        <p:txBody>
          <a:bodyPr wrap="square" lIns="0" tIns="0" rIns="0" bIns="0" rtlCol="0" anchor="t">
            <a:normAutofit/>
          </a:bodyPr>
          <a:lstStyle/>
          <a:p>
            <a:pPr indent="0" marL="0">
              <a:buNone/>
            </a:pPr>
            <a:r>
              <a:rPr lang="en-US" sz="1080" dirty="0">
                <a:solidFill>
                  <a:srgbClr val="17312F"/>
                </a:solidFill>
                <a:latin typeface="Aptos" pitchFamily="34" charset="0"/>
                <a:ea typeface="Aptos" pitchFamily="34" charset="-122"/>
                <a:cs typeface="Aptos" pitchFamily="34" charset="-120"/>
              </a:rPr>
              <a:t>Dragon Copilot, Abridge, Suki, Nabla, Ambience</a:t>
            </a:r>
            <a:endParaRPr lang="en-US" sz="1080" dirty="0"/>
          </a:p>
        </p:txBody>
      </p:sp>
      <p:sp>
        <p:nvSpPr>
          <p:cNvPr id="20" name="Text 17"/>
          <p:cNvSpPr/>
          <p:nvPr/>
        </p:nvSpPr>
        <p:spPr>
          <a:xfrm>
            <a:off x="8211312" y="3218688"/>
            <a:ext cx="3364992" cy="411480"/>
          </a:xfrm>
          <a:prstGeom prst="rect">
            <a:avLst/>
          </a:prstGeom>
          <a:noFill/>
          <a:ln/>
        </p:spPr>
        <p:txBody>
          <a:bodyPr wrap="square" lIns="0" tIns="0" rIns="0" bIns="0" rtlCol="0" anchor="t">
            <a:normAutofit/>
          </a:bodyPr>
          <a:lstStyle/>
          <a:p>
            <a:pPr indent="0" marL="0">
              <a:buNone/>
            </a:pPr>
            <a:r>
              <a:rPr lang="en-US" sz="1080" dirty="0">
                <a:solidFill>
                  <a:srgbClr val="17312F"/>
                </a:solidFill>
                <a:latin typeface="Aptos" pitchFamily="34" charset="0"/>
                <a:ea typeface="Aptos" pitchFamily="34" charset="-122"/>
                <a:cs typeface="Aptos" pitchFamily="34" charset="-120"/>
              </a:rPr>
              <a:t>Evitar a disputa enterprise; observar adjacências</a:t>
            </a:r>
            <a:endParaRPr lang="en-US" sz="1080" dirty="0"/>
          </a:p>
        </p:txBody>
      </p:sp>
      <p:sp>
        <p:nvSpPr>
          <p:cNvPr id="21" name="Shape 18"/>
          <p:cNvSpPr/>
          <p:nvPr/>
        </p:nvSpPr>
        <p:spPr>
          <a:xfrm>
            <a:off x="557784" y="3685032"/>
            <a:ext cx="11109960" cy="557784"/>
          </a:xfrm>
          <a:prstGeom prst="rect">
            <a:avLst>
              <a:gd name="adj" fmla="val 19672"/>
            </a:avLst>
          </a:prstGeom>
          <a:solidFill>
            <a:srgbClr val="FFFFFF"/>
          </a:solidFill>
          <a:ln w="8890">
            <a:solidFill>
              <a:srgbClr val="DCE5DF"/>
            </a:solidFill>
            <a:prstDash val="solid"/>
          </a:ln>
        </p:spPr>
      </p:sp>
      <p:sp>
        <p:nvSpPr>
          <p:cNvPr id="22" name="Text 19"/>
          <p:cNvSpPr/>
          <p:nvPr/>
        </p:nvSpPr>
        <p:spPr>
          <a:xfrm>
            <a:off x="649224" y="3776472"/>
            <a:ext cx="2103120" cy="411480"/>
          </a:xfrm>
          <a:prstGeom prst="rect">
            <a:avLst/>
          </a:prstGeom>
          <a:noFill/>
          <a:ln/>
        </p:spPr>
        <p:txBody>
          <a:bodyPr wrap="square" lIns="0" tIns="0" rIns="0" bIns="0" rtlCol="0" anchor="t">
            <a:normAutofit/>
          </a:bodyPr>
          <a:lstStyle/>
          <a:p>
            <a:pPr indent="0" marL="0">
              <a:buNone/>
            </a:pPr>
            <a:r>
              <a:rPr lang="en-US" sz="1080" b="1" dirty="0">
                <a:solidFill>
                  <a:srgbClr val="0F766E"/>
                </a:solidFill>
                <a:latin typeface="Aptos Display" pitchFamily="34" charset="0"/>
                <a:ea typeface="Aptos Display" pitchFamily="34" charset="-122"/>
                <a:cs typeface="Aptos Display" pitchFamily="34" charset="-120"/>
              </a:rPr>
              <a:t>Outros clínicos / infra</a:t>
            </a:r>
            <a:endParaRPr lang="en-US" sz="1080" dirty="0"/>
          </a:p>
        </p:txBody>
      </p:sp>
      <p:sp>
        <p:nvSpPr>
          <p:cNvPr id="23" name="Text 20"/>
          <p:cNvSpPr/>
          <p:nvPr/>
        </p:nvSpPr>
        <p:spPr>
          <a:xfrm>
            <a:off x="2935224" y="3776472"/>
            <a:ext cx="5093208" cy="411480"/>
          </a:xfrm>
          <a:prstGeom prst="rect">
            <a:avLst/>
          </a:prstGeom>
          <a:noFill/>
          <a:ln/>
        </p:spPr>
        <p:txBody>
          <a:bodyPr wrap="square" lIns="0" tIns="0" rIns="0" bIns="0" rtlCol="0" anchor="t">
            <a:normAutofit/>
          </a:bodyPr>
          <a:lstStyle/>
          <a:p>
            <a:pPr indent="0" marL="0">
              <a:buNone/>
            </a:pPr>
            <a:r>
              <a:rPr lang="en-US" sz="1080" dirty="0">
                <a:solidFill>
                  <a:srgbClr val="17312F"/>
                </a:solidFill>
                <a:latin typeface="Aptos" pitchFamily="34" charset="0"/>
                <a:ea typeface="Aptos" pitchFamily="34" charset="-122"/>
                <a:cs typeface="Aptos" pitchFamily="34" charset="-120"/>
              </a:rPr>
              <a:t>DeepScribe, Augmedix, ThinkAndor, Epic AI Charting, HealthScribe</a:t>
            </a:r>
            <a:endParaRPr lang="en-US" sz="1080" dirty="0"/>
          </a:p>
        </p:txBody>
      </p:sp>
      <p:sp>
        <p:nvSpPr>
          <p:cNvPr id="24" name="Text 21"/>
          <p:cNvSpPr/>
          <p:nvPr/>
        </p:nvSpPr>
        <p:spPr>
          <a:xfrm>
            <a:off x="8211312" y="3776472"/>
            <a:ext cx="3364992" cy="411480"/>
          </a:xfrm>
          <a:prstGeom prst="rect">
            <a:avLst/>
          </a:prstGeom>
          <a:noFill/>
          <a:ln/>
        </p:spPr>
        <p:txBody>
          <a:bodyPr wrap="square" lIns="0" tIns="0" rIns="0" bIns="0" rtlCol="0" anchor="t">
            <a:normAutofit/>
          </a:bodyPr>
          <a:lstStyle/>
          <a:p>
            <a:pPr indent="0" marL="0">
              <a:buNone/>
            </a:pPr>
            <a:r>
              <a:rPr lang="en-US" sz="1080" dirty="0">
                <a:solidFill>
                  <a:srgbClr val="17312F"/>
                </a:solidFill>
                <a:latin typeface="Aptos" pitchFamily="34" charset="0"/>
                <a:ea typeface="Aptos" pitchFamily="34" charset="-122"/>
                <a:cs typeface="Aptos" pitchFamily="34" charset="-120"/>
              </a:rPr>
              <a:t>Não construir prontuário ou ambient scribe no piloto</a:t>
            </a:r>
            <a:endParaRPr lang="en-US" sz="1080" dirty="0"/>
          </a:p>
        </p:txBody>
      </p:sp>
      <p:sp>
        <p:nvSpPr>
          <p:cNvPr id="25" name="Shape 22"/>
          <p:cNvSpPr/>
          <p:nvPr/>
        </p:nvSpPr>
        <p:spPr>
          <a:xfrm>
            <a:off x="557784" y="4242816"/>
            <a:ext cx="11109960" cy="557784"/>
          </a:xfrm>
          <a:prstGeom prst="rect">
            <a:avLst>
              <a:gd name="adj" fmla="val 19672"/>
            </a:avLst>
          </a:prstGeom>
          <a:solidFill>
            <a:srgbClr val="FCFAF6"/>
          </a:solidFill>
          <a:ln w="8890">
            <a:solidFill>
              <a:srgbClr val="DCE5DF"/>
            </a:solidFill>
            <a:prstDash val="solid"/>
          </a:ln>
        </p:spPr>
      </p:sp>
      <p:sp>
        <p:nvSpPr>
          <p:cNvPr id="26" name="Text 23"/>
          <p:cNvSpPr/>
          <p:nvPr/>
        </p:nvSpPr>
        <p:spPr>
          <a:xfrm>
            <a:off x="649224" y="4334256"/>
            <a:ext cx="2103120" cy="411480"/>
          </a:xfrm>
          <a:prstGeom prst="rect">
            <a:avLst/>
          </a:prstGeom>
          <a:noFill/>
          <a:ln/>
        </p:spPr>
        <p:txBody>
          <a:bodyPr wrap="square" lIns="0" tIns="0" rIns="0" bIns="0" rtlCol="0" anchor="t">
            <a:normAutofit/>
          </a:bodyPr>
          <a:lstStyle/>
          <a:p>
            <a:pPr indent="0" marL="0">
              <a:buNone/>
            </a:pPr>
            <a:r>
              <a:rPr lang="en-US" sz="1080" b="1" dirty="0">
                <a:solidFill>
                  <a:srgbClr val="0F766E"/>
                </a:solidFill>
                <a:latin typeface="Aptos Display" pitchFamily="34" charset="0"/>
                <a:ea typeface="Aptos Display" pitchFamily="34" charset="-122"/>
                <a:cs typeface="Aptos Display" pitchFamily="34" charset="-120"/>
              </a:rPr>
              <a:t>Navegação / cuidado</a:t>
            </a:r>
            <a:endParaRPr lang="en-US" sz="1080" dirty="0"/>
          </a:p>
        </p:txBody>
      </p:sp>
      <p:sp>
        <p:nvSpPr>
          <p:cNvPr id="27" name="Text 24"/>
          <p:cNvSpPr/>
          <p:nvPr/>
        </p:nvSpPr>
        <p:spPr>
          <a:xfrm>
            <a:off x="2935224" y="4334256"/>
            <a:ext cx="5093208" cy="411480"/>
          </a:xfrm>
          <a:prstGeom prst="rect">
            <a:avLst/>
          </a:prstGeom>
          <a:noFill/>
          <a:ln/>
        </p:spPr>
        <p:txBody>
          <a:bodyPr wrap="square" lIns="0" tIns="0" rIns="0" bIns="0" rtlCol="0" anchor="t">
            <a:normAutofit/>
          </a:bodyPr>
          <a:lstStyle/>
          <a:p>
            <a:pPr indent="0" marL="0">
              <a:buNone/>
            </a:pPr>
            <a:r>
              <a:rPr lang="en-US" sz="1080" dirty="0">
                <a:solidFill>
                  <a:srgbClr val="17312F"/>
                </a:solidFill>
                <a:latin typeface="Aptos" pitchFamily="34" charset="0"/>
                <a:ea typeface="Aptos" pitchFamily="34" charset="-122"/>
                <a:cs typeface="Aptos" pitchFamily="34" charset="-120"/>
              </a:rPr>
              <a:t>Pager, K Health, Lark, Teladoc</a:t>
            </a:r>
            <a:endParaRPr lang="en-US" sz="1080" dirty="0"/>
          </a:p>
        </p:txBody>
      </p:sp>
      <p:sp>
        <p:nvSpPr>
          <p:cNvPr id="28" name="Text 25"/>
          <p:cNvSpPr/>
          <p:nvPr/>
        </p:nvSpPr>
        <p:spPr>
          <a:xfrm>
            <a:off x="8211312" y="4334256"/>
            <a:ext cx="3364992" cy="411480"/>
          </a:xfrm>
          <a:prstGeom prst="rect">
            <a:avLst/>
          </a:prstGeom>
          <a:noFill/>
          <a:ln/>
        </p:spPr>
        <p:txBody>
          <a:bodyPr wrap="square" lIns="0" tIns="0" rIns="0" bIns="0" rtlCol="0" anchor="t">
            <a:normAutofit/>
          </a:bodyPr>
          <a:lstStyle/>
          <a:p>
            <a:pPr indent="0" marL="0">
              <a:buNone/>
            </a:pPr>
            <a:r>
              <a:rPr lang="en-US" sz="1080" dirty="0">
                <a:solidFill>
                  <a:srgbClr val="17312F"/>
                </a:solidFill>
                <a:latin typeface="Aptos" pitchFamily="34" charset="0"/>
                <a:ea typeface="Aptos" pitchFamily="34" charset="-122"/>
                <a:cs typeface="Aptos" pitchFamily="34" charset="-120"/>
              </a:rPr>
              <a:t>Cuidado e triagem mudam escopo e risco</a:t>
            </a:r>
            <a:endParaRPr lang="en-US" sz="1080" dirty="0"/>
          </a:p>
        </p:txBody>
      </p:sp>
      <p:sp>
        <p:nvSpPr>
          <p:cNvPr id="29" name="Shape 26"/>
          <p:cNvSpPr/>
          <p:nvPr/>
        </p:nvSpPr>
        <p:spPr>
          <a:xfrm>
            <a:off x="557784" y="4800600"/>
            <a:ext cx="11109960" cy="557784"/>
          </a:xfrm>
          <a:prstGeom prst="rect">
            <a:avLst>
              <a:gd name="adj" fmla="val 19672"/>
            </a:avLst>
          </a:prstGeom>
          <a:solidFill>
            <a:srgbClr val="FFFFFF"/>
          </a:solidFill>
          <a:ln w="8890">
            <a:solidFill>
              <a:srgbClr val="DCE5DF"/>
            </a:solidFill>
            <a:prstDash val="solid"/>
          </a:ln>
        </p:spPr>
      </p:sp>
      <p:sp>
        <p:nvSpPr>
          <p:cNvPr id="30" name="Text 27"/>
          <p:cNvSpPr/>
          <p:nvPr/>
        </p:nvSpPr>
        <p:spPr>
          <a:xfrm>
            <a:off x="649224" y="4892040"/>
            <a:ext cx="2103120" cy="411480"/>
          </a:xfrm>
          <a:prstGeom prst="rect">
            <a:avLst/>
          </a:prstGeom>
          <a:noFill/>
          <a:ln/>
        </p:spPr>
        <p:txBody>
          <a:bodyPr wrap="square" lIns="0" tIns="0" rIns="0" bIns="0" rtlCol="0" anchor="t">
            <a:normAutofit/>
          </a:bodyPr>
          <a:lstStyle/>
          <a:p>
            <a:pPr indent="0" marL="0">
              <a:buNone/>
            </a:pPr>
            <a:r>
              <a:rPr lang="en-US" sz="1080" b="1" dirty="0">
                <a:solidFill>
                  <a:srgbClr val="0F766E"/>
                </a:solidFill>
                <a:latin typeface="Aptos Display" pitchFamily="34" charset="0"/>
                <a:ea typeface="Aptos Display" pitchFamily="34" charset="-122"/>
                <a:cs typeface="Aptos Display" pitchFamily="34" charset="-120"/>
              </a:rPr>
              <a:t>Plataformas enterprise</a:t>
            </a:r>
            <a:endParaRPr lang="en-US" sz="1080" dirty="0"/>
          </a:p>
        </p:txBody>
      </p:sp>
      <p:sp>
        <p:nvSpPr>
          <p:cNvPr id="31" name="Text 28"/>
          <p:cNvSpPr/>
          <p:nvPr/>
        </p:nvSpPr>
        <p:spPr>
          <a:xfrm>
            <a:off x="2935224" y="4892040"/>
            <a:ext cx="5093208" cy="411480"/>
          </a:xfrm>
          <a:prstGeom prst="rect">
            <a:avLst/>
          </a:prstGeom>
          <a:noFill/>
          <a:ln/>
        </p:spPr>
        <p:txBody>
          <a:bodyPr wrap="square" lIns="0" tIns="0" rIns="0" bIns="0" rtlCol="0" anchor="t">
            <a:normAutofit/>
          </a:bodyPr>
          <a:lstStyle/>
          <a:p>
            <a:pPr indent="0" marL="0">
              <a:buNone/>
            </a:pPr>
            <a:r>
              <a:rPr lang="en-US" sz="1080" dirty="0">
                <a:solidFill>
                  <a:srgbClr val="17312F"/>
                </a:solidFill>
                <a:latin typeface="Aptos" pitchFamily="34" charset="0"/>
                <a:ea typeface="Aptos" pitchFamily="34" charset="-122"/>
                <a:cs typeface="Aptos" pitchFamily="34" charset="-120"/>
              </a:rPr>
              <a:t>Copilot Studio, Salesforce, NICE, Genesys, Cognigy, Amelia</a:t>
            </a:r>
            <a:endParaRPr lang="en-US" sz="1080" dirty="0"/>
          </a:p>
        </p:txBody>
      </p:sp>
      <p:sp>
        <p:nvSpPr>
          <p:cNvPr id="32" name="Text 29"/>
          <p:cNvSpPr/>
          <p:nvPr/>
        </p:nvSpPr>
        <p:spPr>
          <a:xfrm>
            <a:off x="8211312" y="4892040"/>
            <a:ext cx="3364992" cy="411480"/>
          </a:xfrm>
          <a:prstGeom prst="rect">
            <a:avLst/>
          </a:prstGeom>
          <a:noFill/>
          <a:ln/>
        </p:spPr>
        <p:txBody>
          <a:bodyPr wrap="square" lIns="0" tIns="0" rIns="0" bIns="0" rtlCol="0" anchor="t">
            <a:normAutofit/>
          </a:bodyPr>
          <a:lstStyle/>
          <a:p>
            <a:pPr indent="0" marL="0">
              <a:buNone/>
            </a:pPr>
            <a:r>
              <a:rPr lang="en-US" sz="1080" dirty="0">
                <a:solidFill>
                  <a:srgbClr val="17312F"/>
                </a:solidFill>
                <a:latin typeface="Aptos" pitchFamily="34" charset="0"/>
                <a:ea typeface="Aptos" pitchFamily="34" charset="-122"/>
                <a:cs typeface="Aptos" pitchFamily="34" charset="-120"/>
              </a:rPr>
              <a:t>Governança e canais como baseline; não feature parity</a:t>
            </a:r>
            <a:endParaRPr lang="en-US" sz="1080" dirty="0"/>
          </a:p>
        </p:txBody>
      </p:sp>
      <p:sp>
        <p:nvSpPr>
          <p:cNvPr id="33" name="Shape 30"/>
          <p:cNvSpPr/>
          <p:nvPr/>
        </p:nvSpPr>
        <p:spPr>
          <a:xfrm>
            <a:off x="557784" y="5358384"/>
            <a:ext cx="11109960" cy="557784"/>
          </a:xfrm>
          <a:prstGeom prst="rect">
            <a:avLst>
              <a:gd name="adj" fmla="val 19672"/>
            </a:avLst>
          </a:prstGeom>
          <a:solidFill>
            <a:srgbClr val="FCFAF6"/>
          </a:solidFill>
          <a:ln w="8890">
            <a:solidFill>
              <a:srgbClr val="DCE5DF"/>
            </a:solidFill>
            <a:prstDash val="solid"/>
          </a:ln>
        </p:spPr>
      </p:sp>
      <p:sp>
        <p:nvSpPr>
          <p:cNvPr id="34" name="Text 31"/>
          <p:cNvSpPr/>
          <p:nvPr/>
        </p:nvSpPr>
        <p:spPr>
          <a:xfrm>
            <a:off x="649224" y="5449824"/>
            <a:ext cx="2103120" cy="411480"/>
          </a:xfrm>
          <a:prstGeom prst="rect">
            <a:avLst/>
          </a:prstGeom>
          <a:noFill/>
          <a:ln/>
        </p:spPr>
        <p:txBody>
          <a:bodyPr wrap="square" lIns="0" tIns="0" rIns="0" bIns="0" rtlCol="0" anchor="t">
            <a:normAutofit/>
          </a:bodyPr>
          <a:lstStyle/>
          <a:p>
            <a:pPr indent="0" marL="0">
              <a:buNone/>
            </a:pPr>
            <a:r>
              <a:rPr lang="en-US" sz="1080" b="1" dirty="0">
                <a:solidFill>
                  <a:srgbClr val="0F766E"/>
                </a:solidFill>
                <a:latin typeface="Aptos Display" pitchFamily="34" charset="0"/>
                <a:ea typeface="Aptos Display" pitchFamily="34" charset="-122"/>
                <a:cs typeface="Aptos Display" pitchFamily="34" charset="-120"/>
              </a:rPr>
              <a:t>Brasil / substitutos</a:t>
            </a:r>
            <a:endParaRPr lang="en-US" sz="1080" dirty="0"/>
          </a:p>
        </p:txBody>
      </p:sp>
      <p:sp>
        <p:nvSpPr>
          <p:cNvPr id="35" name="Text 32"/>
          <p:cNvSpPr/>
          <p:nvPr/>
        </p:nvSpPr>
        <p:spPr>
          <a:xfrm>
            <a:off x="2935224" y="5449824"/>
            <a:ext cx="5093208" cy="411480"/>
          </a:xfrm>
          <a:prstGeom prst="rect">
            <a:avLst/>
          </a:prstGeom>
          <a:noFill/>
          <a:ln/>
        </p:spPr>
        <p:txBody>
          <a:bodyPr wrap="square" lIns="0" tIns="0" rIns="0" bIns="0" rtlCol="0" anchor="t">
            <a:normAutofit/>
          </a:bodyPr>
          <a:lstStyle/>
          <a:p>
            <a:pPr indent="0" marL="0">
              <a:buNone/>
            </a:pPr>
            <a:r>
              <a:rPr lang="en-US" sz="1080" dirty="0">
                <a:solidFill>
                  <a:srgbClr val="17312F"/>
                </a:solidFill>
                <a:latin typeface="Aptos" pitchFamily="34" charset="0"/>
                <a:ea typeface="Aptos" pitchFamily="34" charset="-122"/>
                <a:cs typeface="Aptos" pitchFamily="34" charset="-120"/>
              </a:rPr>
              <a:t>Feegow/Doctoralia, iClinic, Amplimed, Ninsaúde; recepção e bots</a:t>
            </a:r>
            <a:endParaRPr lang="en-US" sz="1080" dirty="0"/>
          </a:p>
        </p:txBody>
      </p:sp>
      <p:sp>
        <p:nvSpPr>
          <p:cNvPr id="36" name="Text 33"/>
          <p:cNvSpPr/>
          <p:nvPr/>
        </p:nvSpPr>
        <p:spPr>
          <a:xfrm>
            <a:off x="8211312" y="5449824"/>
            <a:ext cx="3364992" cy="411480"/>
          </a:xfrm>
          <a:prstGeom prst="rect">
            <a:avLst/>
          </a:prstGeom>
          <a:noFill/>
          <a:ln/>
        </p:spPr>
        <p:txBody>
          <a:bodyPr wrap="square" lIns="0" tIns="0" rIns="0" bIns="0" rtlCol="0" anchor="t">
            <a:normAutofit/>
          </a:bodyPr>
          <a:lstStyle/>
          <a:p>
            <a:pPr indent="0" marL="0">
              <a:buNone/>
            </a:pPr>
            <a:r>
              <a:rPr lang="en-US" sz="1080" dirty="0">
                <a:solidFill>
                  <a:srgbClr val="17312F"/>
                </a:solidFill>
                <a:latin typeface="Aptos" pitchFamily="34" charset="0"/>
                <a:ea typeface="Aptos" pitchFamily="34" charset="-122"/>
                <a:cs typeface="Aptos" pitchFamily="34" charset="-120"/>
              </a:rPr>
              <a:t>Agenda instalada, budget e custo de mudança</a:t>
            </a:r>
            <a:endParaRPr lang="en-US" sz="108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BIBLIOGRAFIA 1 DE 2</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Fontes / mercado e comparação brasileira</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URLs clicáveis. Datas e denominadores preservados; notas de cada slide trazem a proveniência completa.</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Análise Oria · hipóteses e metas explicitadas · 14/10/2026</a:t>
            </a:r>
            <a:endParaRPr lang="en-US" sz="720" dirty="0"/>
          </a:p>
        </p:txBody>
      </p:sp>
      <p:sp>
        <p:nvSpPr>
          <p:cNvPr id="9" name="Shape 6"/>
          <p:cNvSpPr/>
          <p:nvPr/>
        </p:nvSpPr>
        <p:spPr>
          <a:xfrm>
            <a:off x="576072" y="2194560"/>
            <a:ext cx="557784" cy="256032"/>
          </a:xfrm>
          <a:prstGeom prst="roundRect">
            <a:avLst>
              <a:gd name="adj" fmla="val 42857"/>
            </a:avLst>
          </a:prstGeom>
          <a:solidFill>
            <a:srgbClr val="E7F2EC"/>
          </a:solidFill>
          <a:ln w="8890">
            <a:solidFill>
              <a:srgbClr val="E7F2EC"/>
            </a:solidFill>
            <a:prstDash val="solid"/>
          </a:ln>
        </p:spPr>
      </p:sp>
      <p:sp>
        <p:nvSpPr>
          <p:cNvPr id="10" name="Text 7"/>
          <p:cNvSpPr/>
          <p:nvPr/>
        </p:nvSpPr>
        <p:spPr>
          <a:xfrm>
            <a:off x="667512" y="2226564"/>
            <a:ext cx="374904" cy="155448"/>
          </a:xfrm>
          <a:prstGeom prst="rect">
            <a:avLst/>
          </a:prstGeom>
          <a:noFill/>
          <a:ln/>
        </p:spPr>
        <p:txBody>
          <a:bodyPr wrap="square" lIns="0" tIns="0" rIns="0" bIns="0" rtlCol="0" anchor="t">
            <a:normAutofit/>
          </a:bodyPr>
          <a:lstStyle/>
          <a:p>
            <a:pPr indent="0" marL="0">
              <a:buNone/>
            </a:pPr>
            <a:r>
              <a:rPr lang="en-US" sz="850" b="1" dirty="0">
                <a:solidFill>
                  <a:srgbClr val="0F766E"/>
                </a:solidFill>
                <a:latin typeface="Aptos Display" pitchFamily="34" charset="0"/>
                <a:ea typeface="Aptos Display" pitchFamily="34" charset="-122"/>
                <a:cs typeface="Aptos Display" pitchFamily="34" charset="-120"/>
              </a:rPr>
              <a:t>S1</a:t>
            </a:r>
            <a:endParaRPr lang="en-US" sz="850" dirty="0"/>
          </a:p>
        </p:txBody>
      </p:sp>
      <p:sp>
        <p:nvSpPr>
          <p:cNvPr id="11" name="Text 8">
            <a:hlinkClick r:id="rId2" tooltip=""/>
          </p:cNvPr>
          <p:cNvSpPr/>
          <p:nvPr/>
        </p:nvSpPr>
        <p:spPr>
          <a:xfrm>
            <a:off x="1362456" y="2212848"/>
            <a:ext cx="9765792" cy="246888"/>
          </a:xfrm>
          <a:prstGeom prst="rect">
            <a:avLst/>
          </a:prstGeom>
          <a:noFill/>
          <a:ln/>
        </p:spPr>
        <p:txBody>
          <a:bodyPr wrap="square" lIns="0" tIns="0" rIns="0" bIns="0" rtlCol="0" anchor="t">
            <a:normAutofit/>
          </a:bodyPr>
          <a:lstStyle/>
          <a:p>
            <a:pPr indent="0" marL="0">
              <a:buNone/>
            </a:pPr>
            <a:r>
              <a:rPr lang="en-US" sz="1600" b="1" u="sng" dirty="0">
                <a:solidFill>
                  <a:srgbClr val="0F766E"/>
                </a:solidFill>
                <a:latin typeface="Aptos Display" pitchFamily="34" charset="0"/>
                <a:ea typeface="Aptos Display" pitchFamily="34" charset="-122"/>
                <a:cs typeface="Aptos Display" pitchFamily="34" charset="-120"/>
                <a:hlinkClick r:id="rId2" invalidUrl="" action="" tgtFrame="" tooltip="" history="1" highlightClick="0" endSnd="0">
                  <a:extLst>
                    <a:ext uri="{A12FA001-AC4F-418D-AE19-62706E023703}">
                      <ahyp:hlinkClr xmlns:ahyp="http://schemas.microsoft.com/office/drawing/2018/hyperlinkcolor" val="tx"/>
                    </a:ext>
                  </a:extLst>
                </a:hlinkClick>
              </a:rPr>
              <a:t>TIC Saúde 2024 — NIC.br / CGI.br</a:t>
            </a:r>
            <a:endParaRPr lang="en-US" sz="1600" dirty="0"/>
          </a:p>
        </p:txBody>
      </p:sp>
      <p:sp>
        <p:nvSpPr>
          <p:cNvPr id="12" name="Text 9"/>
          <p:cNvSpPr/>
          <p:nvPr/>
        </p:nvSpPr>
        <p:spPr>
          <a:xfrm>
            <a:off x="1362456" y="2532888"/>
            <a:ext cx="9765792" cy="246888"/>
          </a:xfrm>
          <a:prstGeom prst="rect">
            <a:avLst/>
          </a:prstGeom>
          <a:noFill/>
          <a:ln/>
        </p:spPr>
        <p:txBody>
          <a:bodyPr wrap="square" lIns="0" tIns="0" rIns="0" bIns="0" rtlCol="0" anchor="t">
            <a:normAutofit/>
          </a:bodyPr>
          <a:lstStyle/>
          <a:p>
            <a:pPr indent="0" marL="0">
              <a:buNone/>
            </a:pPr>
            <a:r>
              <a:rPr lang="en-US" sz="1140" dirty="0">
                <a:solidFill>
                  <a:srgbClr val="657775"/>
                </a:solidFill>
                <a:latin typeface="Aptos" pitchFamily="34" charset="0"/>
                <a:ea typeface="Aptos" pitchFamily="34" charset="-122"/>
                <a:cs typeface="Aptos" pitchFamily="34" charset="-120"/>
              </a:rPr>
              <a:t>92%, ~4%; barreiras 61/59/49%; amostra nacional; campo fev–ago/2024.</a:t>
            </a:r>
            <a:endParaRPr lang="en-US" sz="1140" dirty="0"/>
          </a:p>
        </p:txBody>
      </p:sp>
      <p:sp>
        <p:nvSpPr>
          <p:cNvPr id="13" name="Shape 10"/>
          <p:cNvSpPr/>
          <p:nvPr/>
        </p:nvSpPr>
        <p:spPr>
          <a:xfrm>
            <a:off x="576072" y="2880360"/>
            <a:ext cx="557784" cy="256032"/>
          </a:xfrm>
          <a:prstGeom prst="roundRect">
            <a:avLst>
              <a:gd name="adj" fmla="val 42857"/>
            </a:avLst>
          </a:prstGeom>
          <a:solidFill>
            <a:srgbClr val="E7F2EC"/>
          </a:solidFill>
          <a:ln w="8890">
            <a:solidFill>
              <a:srgbClr val="E7F2EC"/>
            </a:solidFill>
            <a:prstDash val="solid"/>
          </a:ln>
        </p:spPr>
      </p:sp>
      <p:sp>
        <p:nvSpPr>
          <p:cNvPr id="14" name="Text 11"/>
          <p:cNvSpPr/>
          <p:nvPr/>
        </p:nvSpPr>
        <p:spPr>
          <a:xfrm>
            <a:off x="667512" y="2912364"/>
            <a:ext cx="374904" cy="155448"/>
          </a:xfrm>
          <a:prstGeom prst="rect">
            <a:avLst/>
          </a:prstGeom>
          <a:noFill/>
          <a:ln/>
        </p:spPr>
        <p:txBody>
          <a:bodyPr wrap="square" lIns="0" tIns="0" rIns="0" bIns="0" rtlCol="0" anchor="t">
            <a:normAutofit/>
          </a:bodyPr>
          <a:lstStyle/>
          <a:p>
            <a:pPr indent="0" marL="0">
              <a:buNone/>
            </a:pPr>
            <a:r>
              <a:rPr lang="en-US" sz="850" b="1" dirty="0">
                <a:solidFill>
                  <a:srgbClr val="0F766E"/>
                </a:solidFill>
                <a:latin typeface="Aptos Display" pitchFamily="34" charset="0"/>
                <a:ea typeface="Aptos Display" pitchFamily="34" charset="-122"/>
                <a:cs typeface="Aptos Display" pitchFamily="34" charset="-120"/>
              </a:rPr>
              <a:t>S2</a:t>
            </a:r>
            <a:endParaRPr lang="en-US" sz="850" dirty="0"/>
          </a:p>
        </p:txBody>
      </p:sp>
      <p:sp>
        <p:nvSpPr>
          <p:cNvPr id="15" name="Text 12">
            <a:hlinkClick r:id="rId3" tooltip=""/>
          </p:cNvPr>
          <p:cNvSpPr/>
          <p:nvPr/>
        </p:nvSpPr>
        <p:spPr>
          <a:xfrm>
            <a:off x="1362456" y="2898648"/>
            <a:ext cx="9765792" cy="246888"/>
          </a:xfrm>
          <a:prstGeom prst="rect">
            <a:avLst/>
          </a:prstGeom>
          <a:noFill/>
          <a:ln/>
        </p:spPr>
        <p:txBody>
          <a:bodyPr wrap="square" lIns="0" tIns="0" rIns="0" bIns="0" rtlCol="0" anchor="t">
            <a:normAutofit/>
          </a:bodyPr>
          <a:lstStyle/>
          <a:p>
            <a:pPr indent="0" marL="0">
              <a:buNone/>
            </a:pPr>
            <a:r>
              <a:rPr lang="en-US" sz="1600" b="1" u="sng" dirty="0">
                <a:solidFill>
                  <a:srgbClr val="0F766E"/>
                </a:solidFill>
                <a:latin typeface="Aptos Display" pitchFamily="34" charset="0"/>
                <a:ea typeface="Aptos Display" pitchFamily="34" charset="-122"/>
                <a:cs typeface="Aptos Display" pitchFamily="34" charset="-120"/>
                <a:hlinkClick r:id="rId3" invalidUrl="" action="" tgtFrame="" tooltip="" history="1" highlightClick="0" endSnd="0">
                  <a:extLst>
                    <a:ext uri="{A12FA001-AC4F-418D-AE19-62706E023703}">
                      <ahyp:hlinkClr xmlns:ahyp="http://schemas.microsoft.com/office/drawing/2018/hyperlinkcolor" val="tx"/>
                    </a:ext>
                  </a:extLst>
                </a:hlinkClick>
              </a:rPr>
              <a:t>Demografia Médica 2025 — FMUSP</a:t>
            </a:r>
            <a:endParaRPr lang="en-US" sz="1600" dirty="0"/>
          </a:p>
        </p:txBody>
      </p:sp>
      <p:sp>
        <p:nvSpPr>
          <p:cNvPr id="16" name="Text 13"/>
          <p:cNvSpPr/>
          <p:nvPr/>
        </p:nvSpPr>
        <p:spPr>
          <a:xfrm>
            <a:off x="1362456" y="3218688"/>
            <a:ext cx="9765792" cy="246888"/>
          </a:xfrm>
          <a:prstGeom prst="rect">
            <a:avLst/>
          </a:prstGeom>
          <a:noFill/>
          <a:ln/>
        </p:spPr>
        <p:txBody>
          <a:bodyPr wrap="square" lIns="0" tIns="0" rIns="0" bIns="0" rtlCol="0" anchor="t">
            <a:normAutofit/>
          </a:bodyPr>
          <a:lstStyle/>
          <a:p>
            <a:pPr indent="0" marL="0">
              <a:buNone/>
            </a:pPr>
            <a:r>
              <a:rPr lang="en-US" sz="1140" dirty="0">
                <a:solidFill>
                  <a:srgbClr val="657775"/>
                </a:solidFill>
                <a:latin typeface="Aptos" pitchFamily="34" charset="0"/>
                <a:ea typeface="Aptos" pitchFamily="34" charset="-122"/>
                <a:cs typeface="Aptos" pitchFamily="34" charset="-120"/>
              </a:rPr>
              <a:t>353.287 especialistas; base dezembro/2024. Não é contagem de clínicas.</a:t>
            </a:r>
            <a:endParaRPr lang="en-US" sz="1140" dirty="0"/>
          </a:p>
        </p:txBody>
      </p:sp>
      <p:sp>
        <p:nvSpPr>
          <p:cNvPr id="17" name="Shape 14"/>
          <p:cNvSpPr/>
          <p:nvPr/>
        </p:nvSpPr>
        <p:spPr>
          <a:xfrm>
            <a:off x="576072" y="3566160"/>
            <a:ext cx="557784" cy="256032"/>
          </a:xfrm>
          <a:prstGeom prst="roundRect">
            <a:avLst>
              <a:gd name="adj" fmla="val 42857"/>
            </a:avLst>
          </a:prstGeom>
          <a:solidFill>
            <a:srgbClr val="E7F2EC"/>
          </a:solidFill>
          <a:ln w="8890">
            <a:solidFill>
              <a:srgbClr val="E7F2EC"/>
            </a:solidFill>
            <a:prstDash val="solid"/>
          </a:ln>
        </p:spPr>
      </p:sp>
      <p:sp>
        <p:nvSpPr>
          <p:cNvPr id="18" name="Text 15"/>
          <p:cNvSpPr/>
          <p:nvPr/>
        </p:nvSpPr>
        <p:spPr>
          <a:xfrm>
            <a:off x="667512" y="3598164"/>
            <a:ext cx="374904" cy="155448"/>
          </a:xfrm>
          <a:prstGeom prst="rect">
            <a:avLst/>
          </a:prstGeom>
          <a:noFill/>
          <a:ln/>
        </p:spPr>
        <p:txBody>
          <a:bodyPr wrap="square" lIns="0" tIns="0" rIns="0" bIns="0" rtlCol="0" anchor="t">
            <a:normAutofit/>
          </a:bodyPr>
          <a:lstStyle/>
          <a:p>
            <a:pPr indent="0" marL="0">
              <a:buNone/>
            </a:pPr>
            <a:r>
              <a:rPr lang="en-US" sz="850" b="1" dirty="0">
                <a:solidFill>
                  <a:srgbClr val="0F766E"/>
                </a:solidFill>
                <a:latin typeface="Aptos Display" pitchFamily="34" charset="0"/>
                <a:ea typeface="Aptos Display" pitchFamily="34" charset="-122"/>
                <a:cs typeface="Aptos Display" pitchFamily="34" charset="-120"/>
              </a:rPr>
              <a:t>S3</a:t>
            </a:r>
            <a:endParaRPr lang="en-US" sz="850" dirty="0"/>
          </a:p>
        </p:txBody>
      </p:sp>
      <p:sp>
        <p:nvSpPr>
          <p:cNvPr id="19" name="Text 16">
            <a:hlinkClick r:id="rId4" tooltip=""/>
          </p:cNvPr>
          <p:cNvSpPr/>
          <p:nvPr/>
        </p:nvSpPr>
        <p:spPr>
          <a:xfrm>
            <a:off x="1362456" y="3584448"/>
            <a:ext cx="9765792" cy="246888"/>
          </a:xfrm>
          <a:prstGeom prst="rect">
            <a:avLst/>
          </a:prstGeom>
          <a:noFill/>
          <a:ln/>
        </p:spPr>
        <p:txBody>
          <a:bodyPr wrap="square" lIns="0" tIns="0" rIns="0" bIns="0" rtlCol="0" anchor="t">
            <a:normAutofit/>
          </a:bodyPr>
          <a:lstStyle/>
          <a:p>
            <a:pPr indent="0" marL="0">
              <a:buNone/>
            </a:pPr>
            <a:r>
              <a:rPr lang="en-US" sz="1600" b="1" u="sng" dirty="0">
                <a:solidFill>
                  <a:srgbClr val="0F766E"/>
                </a:solidFill>
                <a:latin typeface="Aptos Display" pitchFamily="34" charset="0"/>
                <a:ea typeface="Aptos Display" pitchFamily="34" charset="-122"/>
                <a:cs typeface="Aptos Display" pitchFamily="34" charset="-120"/>
                <a:hlinkClick r:id="rId4" invalidUrl="" action="" tgtFrame="" tooltip="" history="1" highlightClick="0" endSnd="0">
                  <a:extLst>
                    <a:ext uri="{A12FA001-AC4F-418D-AE19-62706E023703}">
                      <ahyp:hlinkClr xmlns:ahyp="http://schemas.microsoft.com/office/drawing/2018/hyperlinkcolor" val="tx"/>
                    </a:ext>
                  </a:extLst>
                </a:hlinkClick>
              </a:rPr>
              <a:t>Dados Gerais — ANS</a:t>
            </a:r>
            <a:endParaRPr lang="en-US" sz="1600" dirty="0"/>
          </a:p>
        </p:txBody>
      </p:sp>
      <p:sp>
        <p:nvSpPr>
          <p:cNvPr id="20" name="Text 17"/>
          <p:cNvSpPr/>
          <p:nvPr/>
        </p:nvSpPr>
        <p:spPr>
          <a:xfrm>
            <a:off x="1362456" y="3904488"/>
            <a:ext cx="9765792" cy="246888"/>
          </a:xfrm>
          <a:prstGeom prst="rect">
            <a:avLst/>
          </a:prstGeom>
          <a:noFill/>
          <a:ln/>
        </p:spPr>
        <p:txBody>
          <a:bodyPr wrap="square" lIns="0" tIns="0" rIns="0" bIns="0" rtlCol="0" anchor="t">
            <a:normAutofit/>
          </a:bodyPr>
          <a:lstStyle/>
          <a:p>
            <a:pPr indent="0" marL="0">
              <a:buNone/>
            </a:pPr>
            <a:r>
              <a:rPr lang="en-US" sz="1140" dirty="0">
                <a:solidFill>
                  <a:srgbClr val="657775"/>
                </a:solidFill>
                <a:latin typeface="Aptos" pitchFamily="34" charset="0"/>
                <a:ea typeface="Aptos" pitchFamily="34" charset="-122"/>
                <a:cs typeface="Aptos" pitchFamily="34" charset="-120"/>
              </a:rPr>
              <a:t>53.055.406 vínculos; competência junho/2026; atualização agosto/2026.</a:t>
            </a:r>
            <a:endParaRPr lang="en-US" sz="1140" dirty="0"/>
          </a:p>
        </p:txBody>
      </p:sp>
      <p:sp>
        <p:nvSpPr>
          <p:cNvPr id="21" name="Shape 18"/>
          <p:cNvSpPr/>
          <p:nvPr/>
        </p:nvSpPr>
        <p:spPr>
          <a:xfrm>
            <a:off x="576072" y="4251960"/>
            <a:ext cx="557784" cy="256032"/>
          </a:xfrm>
          <a:prstGeom prst="roundRect">
            <a:avLst>
              <a:gd name="adj" fmla="val 42857"/>
            </a:avLst>
          </a:prstGeom>
          <a:solidFill>
            <a:srgbClr val="E7F2EC"/>
          </a:solidFill>
          <a:ln w="8890">
            <a:solidFill>
              <a:srgbClr val="E7F2EC"/>
            </a:solidFill>
            <a:prstDash val="solid"/>
          </a:ln>
        </p:spPr>
      </p:sp>
      <p:sp>
        <p:nvSpPr>
          <p:cNvPr id="22" name="Text 19"/>
          <p:cNvSpPr/>
          <p:nvPr/>
        </p:nvSpPr>
        <p:spPr>
          <a:xfrm>
            <a:off x="667512" y="4283964"/>
            <a:ext cx="374904" cy="155448"/>
          </a:xfrm>
          <a:prstGeom prst="rect">
            <a:avLst/>
          </a:prstGeom>
          <a:noFill/>
          <a:ln/>
        </p:spPr>
        <p:txBody>
          <a:bodyPr wrap="square" lIns="0" tIns="0" rIns="0" bIns="0" rtlCol="0" anchor="t">
            <a:normAutofit/>
          </a:bodyPr>
          <a:lstStyle/>
          <a:p>
            <a:pPr indent="0" marL="0">
              <a:buNone/>
            </a:pPr>
            <a:r>
              <a:rPr lang="en-US" sz="850" b="1" dirty="0">
                <a:solidFill>
                  <a:srgbClr val="0F766E"/>
                </a:solidFill>
                <a:latin typeface="Aptos Display" pitchFamily="34" charset="0"/>
                <a:ea typeface="Aptos Display" pitchFamily="34" charset="-122"/>
                <a:cs typeface="Aptos Display" pitchFamily="34" charset="-120"/>
              </a:rPr>
              <a:t>S4</a:t>
            </a:r>
            <a:endParaRPr lang="en-US" sz="850" dirty="0"/>
          </a:p>
        </p:txBody>
      </p:sp>
      <p:sp>
        <p:nvSpPr>
          <p:cNvPr id="23" name="Text 20">
            <a:hlinkClick r:id="rId5" tooltip=""/>
          </p:cNvPr>
          <p:cNvSpPr/>
          <p:nvPr/>
        </p:nvSpPr>
        <p:spPr>
          <a:xfrm>
            <a:off x="1362456" y="4270248"/>
            <a:ext cx="9765792" cy="246888"/>
          </a:xfrm>
          <a:prstGeom prst="rect">
            <a:avLst/>
          </a:prstGeom>
          <a:noFill/>
          <a:ln/>
        </p:spPr>
        <p:txBody>
          <a:bodyPr wrap="square" lIns="0" tIns="0" rIns="0" bIns="0" rtlCol="0" anchor="t">
            <a:normAutofit/>
          </a:bodyPr>
          <a:lstStyle/>
          <a:p>
            <a:pPr indent="0" marL="0">
              <a:buNone/>
            </a:pPr>
            <a:r>
              <a:rPr lang="en-US" sz="1600" b="1" u="sng" dirty="0">
                <a:solidFill>
                  <a:srgbClr val="0F766E"/>
                </a:solidFill>
                <a:latin typeface="Aptos Display" pitchFamily="34" charset="0"/>
                <a:ea typeface="Aptos Display" pitchFamily="34" charset="-122"/>
                <a:cs typeface="Aptos Display" pitchFamily="34" charset="-120"/>
                <a:hlinkClick r:id="rId5" invalidUrl="" action="" tgtFrame="" tooltip="" history="1" highlightClick="0" endSnd="0">
                  <a:extLst>
                    <a:ext uri="{A12FA001-AC4F-418D-AE19-62706E023703}">
                      <ahyp:hlinkClr xmlns:ahyp="http://schemas.microsoft.com/office/drawing/2018/hyperlinkcolor" val="tx"/>
                    </a:ext>
                  </a:extLst>
                </a:hlinkClick>
              </a:rPr>
              <a:t>Preços e Planos — Feegow</a:t>
            </a:r>
            <a:endParaRPr lang="en-US" sz="1600" dirty="0"/>
          </a:p>
        </p:txBody>
      </p:sp>
      <p:sp>
        <p:nvSpPr>
          <p:cNvPr id="24" name="Text 21"/>
          <p:cNvSpPr/>
          <p:nvPr/>
        </p:nvSpPr>
        <p:spPr>
          <a:xfrm>
            <a:off x="1362456" y="4590288"/>
            <a:ext cx="9765792" cy="246888"/>
          </a:xfrm>
          <a:prstGeom prst="rect">
            <a:avLst/>
          </a:prstGeom>
          <a:noFill/>
          <a:ln/>
        </p:spPr>
        <p:txBody>
          <a:bodyPr wrap="square" lIns="0" tIns="0" rIns="0" bIns="0" rtlCol="0" anchor="t">
            <a:normAutofit/>
          </a:bodyPr>
          <a:lstStyle/>
          <a:p>
            <a:pPr indent="0" marL="0">
              <a:buNone/>
            </a:pPr>
            <a:r>
              <a:rPr lang="en-US" sz="1140" dirty="0">
                <a:solidFill>
                  <a:srgbClr val="657775"/>
                </a:solidFill>
                <a:latin typeface="Aptos" pitchFamily="34" charset="0"/>
                <a:ea typeface="Aptos" pitchFamily="34" charset="-122"/>
                <a:cs typeface="Aptos" pitchFamily="34" charset="-120"/>
              </a:rPr>
              <a:t>R$129 / R$199 / R$249 por profissional/mês; captura 14/10/2026.</a:t>
            </a:r>
            <a:endParaRPr lang="en-US" sz="1140" dirty="0"/>
          </a:p>
        </p:txBody>
      </p:sp>
      <p:sp>
        <p:nvSpPr>
          <p:cNvPr id="25" name="Shape 22"/>
          <p:cNvSpPr/>
          <p:nvPr/>
        </p:nvSpPr>
        <p:spPr>
          <a:xfrm>
            <a:off x="576072" y="4937760"/>
            <a:ext cx="557784" cy="256032"/>
          </a:xfrm>
          <a:prstGeom prst="roundRect">
            <a:avLst>
              <a:gd name="adj" fmla="val 42857"/>
            </a:avLst>
          </a:prstGeom>
          <a:solidFill>
            <a:srgbClr val="E7F2EC"/>
          </a:solidFill>
          <a:ln w="8890">
            <a:solidFill>
              <a:srgbClr val="E7F2EC"/>
            </a:solidFill>
            <a:prstDash val="solid"/>
          </a:ln>
        </p:spPr>
      </p:sp>
      <p:sp>
        <p:nvSpPr>
          <p:cNvPr id="26" name="Text 23"/>
          <p:cNvSpPr/>
          <p:nvPr/>
        </p:nvSpPr>
        <p:spPr>
          <a:xfrm>
            <a:off x="667512" y="4969764"/>
            <a:ext cx="374904" cy="155448"/>
          </a:xfrm>
          <a:prstGeom prst="rect">
            <a:avLst/>
          </a:prstGeom>
          <a:noFill/>
          <a:ln/>
        </p:spPr>
        <p:txBody>
          <a:bodyPr wrap="square" lIns="0" tIns="0" rIns="0" bIns="0" rtlCol="0" anchor="t">
            <a:normAutofit/>
          </a:bodyPr>
          <a:lstStyle/>
          <a:p>
            <a:pPr indent="0" marL="0">
              <a:buNone/>
            </a:pPr>
            <a:r>
              <a:rPr lang="en-US" sz="850" b="1" dirty="0">
                <a:solidFill>
                  <a:srgbClr val="0F766E"/>
                </a:solidFill>
                <a:latin typeface="Aptos Display" pitchFamily="34" charset="0"/>
                <a:ea typeface="Aptos Display" pitchFamily="34" charset="-122"/>
                <a:cs typeface="Aptos Display" pitchFamily="34" charset="-120"/>
              </a:rPr>
              <a:t>S5</a:t>
            </a:r>
            <a:endParaRPr lang="en-US" sz="850" dirty="0"/>
          </a:p>
        </p:txBody>
      </p:sp>
      <p:sp>
        <p:nvSpPr>
          <p:cNvPr id="27" name="Text 24">
            <a:hlinkClick r:id="rId6" tooltip=""/>
          </p:cNvPr>
          <p:cNvSpPr/>
          <p:nvPr/>
        </p:nvSpPr>
        <p:spPr>
          <a:xfrm>
            <a:off x="1362456" y="4956048"/>
            <a:ext cx="9765792" cy="246888"/>
          </a:xfrm>
          <a:prstGeom prst="rect">
            <a:avLst/>
          </a:prstGeom>
          <a:noFill/>
          <a:ln/>
        </p:spPr>
        <p:txBody>
          <a:bodyPr wrap="square" lIns="0" tIns="0" rIns="0" bIns="0" rtlCol="0" anchor="t">
            <a:normAutofit/>
          </a:bodyPr>
          <a:lstStyle/>
          <a:p>
            <a:pPr indent="0" marL="0">
              <a:buNone/>
            </a:pPr>
            <a:r>
              <a:rPr lang="en-US" sz="1600" b="1" u="sng" dirty="0">
                <a:solidFill>
                  <a:srgbClr val="0F766E"/>
                </a:solidFill>
                <a:latin typeface="Aptos Display" pitchFamily="34" charset="0"/>
                <a:ea typeface="Aptos Display" pitchFamily="34" charset="-122"/>
                <a:cs typeface="Aptos Display" pitchFamily="34" charset="-120"/>
                <a:hlinkClick r:id="rId6" invalidUrl="" action="" tgtFrame="" tooltip="" history="1" highlightClick="0" endSnd="0">
                  <a:extLst>
                    <a:ext uri="{A12FA001-AC4F-418D-AE19-62706E023703}">
                      <ahyp:hlinkClr xmlns:ahyp="http://schemas.microsoft.com/office/drawing/2018/hyperlinkcolor" val="tx"/>
                    </a:ext>
                  </a:extLst>
                </a:hlinkClick>
              </a:rPr>
              <a:t>Site institucional — Feegow</a:t>
            </a:r>
            <a:endParaRPr lang="en-US" sz="1600" dirty="0"/>
          </a:p>
        </p:txBody>
      </p:sp>
      <p:sp>
        <p:nvSpPr>
          <p:cNvPr id="28" name="Text 25"/>
          <p:cNvSpPr/>
          <p:nvPr/>
        </p:nvSpPr>
        <p:spPr>
          <a:xfrm>
            <a:off x="1362456" y="5276088"/>
            <a:ext cx="9765792" cy="246888"/>
          </a:xfrm>
          <a:prstGeom prst="rect">
            <a:avLst/>
          </a:prstGeom>
          <a:noFill/>
          <a:ln/>
        </p:spPr>
        <p:txBody>
          <a:bodyPr wrap="square" lIns="0" tIns="0" rIns="0" bIns="0" rtlCol="0" anchor="t">
            <a:normAutofit/>
          </a:bodyPr>
          <a:lstStyle/>
          <a:p>
            <a:pPr indent="0" marL="0">
              <a:buNone/>
            </a:pPr>
            <a:r>
              <a:rPr lang="en-US" sz="1140" dirty="0">
                <a:solidFill>
                  <a:srgbClr val="657775"/>
                </a:solidFill>
                <a:latin typeface="Aptos" pitchFamily="34" charset="0"/>
                <a:ea typeface="Aptos" pitchFamily="34" charset="-122"/>
                <a:cs typeface="Aptos" pitchFamily="34" charset="-120"/>
              </a:rPr>
              <a:t>Escala divulgada pelo fornecedor; claims, não censo nem TAM.</a:t>
            </a:r>
            <a:endParaRPr lang="en-US" sz="114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C:\Users\lvecchi\.copilot\session-state\f4c612c3-5b8b-4a56-8f7e-a421bea8a771\files\oria-deck\assets\logo-teal.png">    </p:cNvPr>
          <p:cNvPicPr>
            <a:picLocks noChangeAspect="1"/>
          </p:cNvPicPr>
          <p:nvPr/>
        </p:nvPicPr>
        <p:blipFill>
          <a:blip r:embed="rId1"/>
          <a:stretch>
            <a:fillRect/>
          </a:stretch>
        </p:blipFill>
        <p:spPr>
          <a:xfrm>
            <a:off x="502920" y="256032"/>
            <a:ext cx="274320" cy="274320"/>
          </a:xfrm>
          <a:prstGeom prst="rect">
            <a:avLst/>
          </a:prstGeom>
        </p:spPr>
      </p:pic>
      <p:sp>
        <p:nvSpPr>
          <p:cNvPr id="3" name="Text 0"/>
          <p:cNvSpPr/>
          <p:nvPr/>
        </p:nvSpPr>
        <p:spPr>
          <a:xfrm>
            <a:off x="850392" y="251460"/>
            <a:ext cx="548640" cy="274320"/>
          </a:xfrm>
          <a:prstGeom prst="rect">
            <a:avLst/>
          </a:prstGeom>
          <a:noFill/>
          <a:ln/>
        </p:spPr>
        <p:txBody>
          <a:bodyPr wrap="square" lIns="0" tIns="0" rIns="0" bIns="0" rtlCol="0" anchor="t">
            <a:normAutofit/>
          </a:bodyPr>
          <a:lstStyle/>
          <a:p>
            <a:pPr indent="0" marL="0">
              <a:buNone/>
            </a:pPr>
            <a:r>
              <a:rPr lang="en-US" sz="1500" b="1" dirty="0">
                <a:solidFill>
                  <a:srgbClr val="17312F"/>
                </a:solidFill>
                <a:latin typeface="Aptos Display" pitchFamily="34" charset="0"/>
                <a:ea typeface="Aptos Display" pitchFamily="34" charset="-122"/>
                <a:cs typeface="Aptos Display" pitchFamily="34" charset="-120"/>
              </a:rPr>
              <a:t>Oria</a:t>
            </a:r>
            <a:endParaRPr lang="en-US" sz="1500" dirty="0"/>
          </a:p>
        </p:txBody>
      </p:sp>
      <p:sp>
        <p:nvSpPr>
          <p:cNvPr id="4" name="Text 1"/>
          <p:cNvSpPr/>
          <p:nvPr/>
        </p:nvSpPr>
        <p:spPr>
          <a:xfrm>
            <a:off x="1901952" y="292608"/>
            <a:ext cx="8961120" cy="164592"/>
          </a:xfrm>
          <a:prstGeom prst="rect">
            <a:avLst/>
          </a:prstGeom>
          <a:noFill/>
          <a:ln/>
        </p:spPr>
        <p:txBody>
          <a:bodyPr wrap="square" lIns="0" tIns="0" rIns="0" bIns="0" rtlCol="0" anchor="t">
            <a:normAutofit/>
          </a:bodyPr>
          <a:lstStyle/>
          <a:p>
            <a:pPr indent="0" marL="0">
              <a:buNone/>
            </a:pPr>
            <a:r>
              <a:rPr lang="en-US" sz="900" b="1" spc="120" kern="0" dirty="0">
                <a:solidFill>
                  <a:srgbClr val="657775"/>
                </a:solidFill>
                <a:latin typeface="Aptos Display" pitchFamily="34" charset="0"/>
                <a:ea typeface="Aptos Display" pitchFamily="34" charset="-122"/>
                <a:cs typeface="Aptos Display" pitchFamily="34" charset="-120"/>
              </a:rPr>
              <a:t>BIBLIOGRAFIA 2 DE 2</a:t>
            </a:r>
            <a:endParaRPr lang="en-US" sz="900" dirty="0"/>
          </a:p>
        </p:txBody>
      </p:sp>
      <p:sp>
        <p:nvSpPr>
          <p:cNvPr id="5" name="Text 2"/>
          <p:cNvSpPr/>
          <p:nvPr/>
        </p:nvSpPr>
        <p:spPr>
          <a:xfrm>
            <a:off x="502920" y="822960"/>
            <a:ext cx="11018520" cy="932688"/>
          </a:xfrm>
          <a:prstGeom prst="rect">
            <a:avLst/>
          </a:prstGeom>
          <a:noFill/>
          <a:ln/>
        </p:spPr>
        <p:txBody>
          <a:bodyPr wrap="square" lIns="0" tIns="0" rIns="0" bIns="0" rtlCol="0" anchor="t">
            <a:normAutofit/>
          </a:bodyPr>
          <a:lstStyle/>
          <a:p>
            <a:pPr indent="0" marL="0">
              <a:buNone/>
            </a:pPr>
            <a:r>
              <a:rPr lang="en-US" sz="2900" b="1" dirty="0">
                <a:solidFill>
                  <a:srgbClr val="17312F"/>
                </a:solidFill>
                <a:latin typeface="Aptos Display" pitchFamily="34" charset="0"/>
                <a:ea typeface="Aptos Display" pitchFamily="34" charset="-122"/>
                <a:cs typeface="Aptos Display" pitchFamily="34" charset="-120"/>
              </a:rPr>
              <a:t>Fontes / produto, plataformas e limites</a:t>
            </a:r>
            <a:endParaRPr lang="en-US" sz="2900" dirty="0"/>
          </a:p>
        </p:txBody>
      </p:sp>
      <p:sp>
        <p:nvSpPr>
          <p:cNvPr id="6" name="Text 3"/>
          <p:cNvSpPr/>
          <p:nvPr/>
        </p:nvSpPr>
        <p:spPr>
          <a:xfrm>
            <a:off x="521208" y="1828800"/>
            <a:ext cx="10927080" cy="256032"/>
          </a:xfrm>
          <a:prstGeom prst="rect">
            <a:avLst/>
          </a:prstGeom>
          <a:noFill/>
          <a:ln/>
        </p:spPr>
        <p:txBody>
          <a:bodyPr wrap="square" lIns="0" tIns="0" rIns="0" bIns="0" rtlCol="0" anchor="t">
            <a:normAutofit/>
          </a:bodyPr>
          <a:lstStyle/>
          <a:p>
            <a:pPr indent="0" marL="0">
              <a:buNone/>
            </a:pPr>
            <a:r>
              <a:rPr lang="en-US" sz="1220" dirty="0">
                <a:solidFill>
                  <a:srgbClr val="657775"/>
                </a:solidFill>
                <a:latin typeface="Aptos" pitchFamily="34" charset="0"/>
                <a:ea typeface="Aptos" pitchFamily="34" charset="-122"/>
                <a:cs typeface="Aptos" pitchFamily="34" charset="-120"/>
              </a:rPr>
              <a:t>Capturas reais em 14/10/2026. Os gráficos e tabelas de cenário são editáveis, não screenshots.</a:t>
            </a:r>
            <a:endParaRPr lang="en-US" sz="1220" dirty="0"/>
          </a:p>
        </p:txBody>
      </p:sp>
      <p:sp>
        <p:nvSpPr>
          <p:cNvPr id="7" name="Shape 4"/>
          <p:cNvSpPr/>
          <p:nvPr/>
        </p:nvSpPr>
        <p:spPr>
          <a:xfrm>
            <a:off x="502920" y="6345936"/>
            <a:ext cx="11146536" cy="0"/>
          </a:xfrm>
          <a:prstGeom prst="line">
            <a:avLst/>
          </a:prstGeom>
          <a:noFill/>
          <a:ln w="7620">
            <a:solidFill>
              <a:srgbClr val="DCE5DF"/>
            </a:solidFill>
            <a:prstDash val="solid"/>
          </a:ln>
        </p:spPr>
      </p:sp>
      <p:sp>
        <p:nvSpPr>
          <p:cNvPr id="8" name="Text 5"/>
          <p:cNvSpPr/>
          <p:nvPr/>
        </p:nvSpPr>
        <p:spPr>
          <a:xfrm>
            <a:off x="530352" y="6437376"/>
            <a:ext cx="10287000" cy="182880"/>
          </a:xfrm>
          <a:prstGeom prst="rect">
            <a:avLst/>
          </a:prstGeom>
          <a:noFill/>
          <a:ln/>
        </p:spPr>
        <p:txBody>
          <a:bodyPr wrap="square" lIns="0" tIns="0" rIns="0" bIns="0" rtlCol="0" anchor="t">
            <a:normAutofit/>
          </a:bodyPr>
          <a:lstStyle/>
          <a:p>
            <a:pPr indent="0" marL="0">
              <a:buNone/>
            </a:pPr>
            <a:r>
              <a:rPr lang="en-US" sz="720" dirty="0">
                <a:solidFill>
                  <a:srgbClr val="657775"/>
                </a:solidFill>
                <a:latin typeface="Aptos" pitchFamily="34" charset="0"/>
                <a:ea typeface="Aptos" pitchFamily="34" charset="-122"/>
                <a:cs typeface="Aptos" pitchFamily="34" charset="-120"/>
              </a:rPr>
              <a:t>Análise Oria · hipóteses e metas explicitadas · 14/10/2026</a:t>
            </a:r>
            <a:endParaRPr lang="en-US" sz="720" dirty="0"/>
          </a:p>
        </p:txBody>
      </p:sp>
      <p:sp>
        <p:nvSpPr>
          <p:cNvPr id="9" name="Shape 6"/>
          <p:cNvSpPr/>
          <p:nvPr/>
        </p:nvSpPr>
        <p:spPr>
          <a:xfrm>
            <a:off x="576072" y="2148840"/>
            <a:ext cx="557784" cy="256032"/>
          </a:xfrm>
          <a:prstGeom prst="roundRect">
            <a:avLst>
              <a:gd name="adj" fmla="val 42857"/>
            </a:avLst>
          </a:prstGeom>
          <a:solidFill>
            <a:srgbClr val="E7F2EC"/>
          </a:solidFill>
          <a:ln w="8890">
            <a:solidFill>
              <a:srgbClr val="E7F2EC"/>
            </a:solidFill>
            <a:prstDash val="solid"/>
          </a:ln>
        </p:spPr>
      </p:sp>
      <p:sp>
        <p:nvSpPr>
          <p:cNvPr id="10" name="Text 7"/>
          <p:cNvSpPr/>
          <p:nvPr/>
        </p:nvSpPr>
        <p:spPr>
          <a:xfrm>
            <a:off x="667512" y="2180844"/>
            <a:ext cx="374904" cy="155448"/>
          </a:xfrm>
          <a:prstGeom prst="rect">
            <a:avLst/>
          </a:prstGeom>
          <a:noFill/>
          <a:ln/>
        </p:spPr>
        <p:txBody>
          <a:bodyPr wrap="square" lIns="0" tIns="0" rIns="0" bIns="0" rtlCol="0" anchor="t">
            <a:normAutofit/>
          </a:bodyPr>
          <a:lstStyle/>
          <a:p>
            <a:pPr indent="0" marL="0">
              <a:buNone/>
            </a:pPr>
            <a:r>
              <a:rPr lang="en-US" sz="850" b="1" dirty="0">
                <a:solidFill>
                  <a:srgbClr val="0F766E"/>
                </a:solidFill>
                <a:latin typeface="Aptos Display" pitchFamily="34" charset="0"/>
                <a:ea typeface="Aptos Display" pitchFamily="34" charset="-122"/>
                <a:cs typeface="Aptos Display" pitchFamily="34" charset="-120"/>
              </a:rPr>
              <a:t>S6</a:t>
            </a:r>
            <a:endParaRPr lang="en-US" sz="850" dirty="0"/>
          </a:p>
        </p:txBody>
      </p:sp>
      <p:sp>
        <p:nvSpPr>
          <p:cNvPr id="11" name="Text 8">
            <a:hlinkClick r:id="rId2" tooltip=""/>
          </p:cNvPr>
          <p:cNvSpPr/>
          <p:nvPr/>
        </p:nvSpPr>
        <p:spPr>
          <a:xfrm>
            <a:off x="1362456" y="2167128"/>
            <a:ext cx="9738360" cy="228600"/>
          </a:xfrm>
          <a:prstGeom prst="rect">
            <a:avLst/>
          </a:prstGeom>
          <a:noFill/>
          <a:ln/>
        </p:spPr>
        <p:txBody>
          <a:bodyPr wrap="square" lIns="0" tIns="0" rIns="0" bIns="0" rtlCol="0" anchor="t">
            <a:normAutofit/>
          </a:bodyPr>
          <a:lstStyle/>
          <a:p>
            <a:pPr indent="0" marL="0">
              <a:buNone/>
            </a:pPr>
            <a:r>
              <a:rPr lang="en-US" sz="1500" b="1" u="sng" dirty="0">
                <a:solidFill>
                  <a:srgbClr val="0F766E"/>
                </a:solidFill>
                <a:latin typeface="Aptos Display" pitchFamily="34" charset="0"/>
                <a:ea typeface="Aptos Display" pitchFamily="34" charset="-122"/>
                <a:cs typeface="Aptos Display" pitchFamily="34" charset="-120"/>
                <a:hlinkClick r:id="rId2" invalidUrl="" action="" tgtFrame="" tooltip="" history="1" highlightClick="0" endSnd="0">
                  <a:extLst>
                    <a:ext uri="{A12FA001-AC4F-418D-AE19-62706E023703}">
                      <ahyp:hlinkClr xmlns:ahyp="http://schemas.microsoft.com/office/drawing/2018/hyperlinkcolor" val="tx"/>
                    </a:ext>
                  </a:extLst>
                </a:hlinkClick>
              </a:rPr>
              <a:t>Hyro — comunicado 21/10/2025</a:t>
            </a:r>
            <a:endParaRPr lang="en-US" sz="1500" dirty="0"/>
          </a:p>
        </p:txBody>
      </p:sp>
      <p:sp>
        <p:nvSpPr>
          <p:cNvPr id="12" name="Text 9"/>
          <p:cNvSpPr/>
          <p:nvPr/>
        </p:nvSpPr>
        <p:spPr>
          <a:xfrm>
            <a:off x="1362456" y="2450592"/>
            <a:ext cx="9738360" cy="219456"/>
          </a:xfrm>
          <a:prstGeom prst="rect">
            <a:avLst/>
          </a:prstGeom>
          <a:noFill/>
          <a:ln/>
        </p:spPr>
        <p:txBody>
          <a:bodyPr wrap="square" lIns="0" tIns="0" rIns="0" bIns="0" rtlCol="0" anchor="t">
            <a:normAutofit/>
          </a:bodyPr>
          <a:lstStyle/>
          <a:p>
            <a:pPr indent="0" marL="0">
              <a:buNone/>
            </a:pPr>
            <a:r>
              <a:rPr lang="en-US" sz="1070" dirty="0">
                <a:solidFill>
                  <a:srgbClr val="657775"/>
                </a:solidFill>
                <a:latin typeface="Aptos" pitchFamily="34" charset="0"/>
                <a:ea typeface="Aptos" pitchFamily="34" charset="-122"/>
                <a:cs typeface="Aptos" pitchFamily="34" charset="-120"/>
              </a:rPr>
              <a:t>US$45 mi na rodada; US$95 mi total; até 85% é claim do fornecedor.</a:t>
            </a:r>
            <a:endParaRPr lang="en-US" sz="1070" dirty="0"/>
          </a:p>
        </p:txBody>
      </p:sp>
      <p:sp>
        <p:nvSpPr>
          <p:cNvPr id="13" name="Shape 10"/>
          <p:cNvSpPr/>
          <p:nvPr/>
        </p:nvSpPr>
        <p:spPr>
          <a:xfrm>
            <a:off x="576072" y="2752344"/>
            <a:ext cx="557784" cy="256032"/>
          </a:xfrm>
          <a:prstGeom prst="roundRect">
            <a:avLst>
              <a:gd name="adj" fmla="val 42857"/>
            </a:avLst>
          </a:prstGeom>
          <a:solidFill>
            <a:srgbClr val="E7F2EC"/>
          </a:solidFill>
          <a:ln w="8890">
            <a:solidFill>
              <a:srgbClr val="E7F2EC"/>
            </a:solidFill>
            <a:prstDash val="solid"/>
          </a:ln>
        </p:spPr>
      </p:sp>
      <p:sp>
        <p:nvSpPr>
          <p:cNvPr id="14" name="Text 11"/>
          <p:cNvSpPr/>
          <p:nvPr/>
        </p:nvSpPr>
        <p:spPr>
          <a:xfrm>
            <a:off x="667512" y="2784348"/>
            <a:ext cx="374904" cy="155448"/>
          </a:xfrm>
          <a:prstGeom prst="rect">
            <a:avLst/>
          </a:prstGeom>
          <a:noFill/>
          <a:ln/>
        </p:spPr>
        <p:txBody>
          <a:bodyPr wrap="square" lIns="0" tIns="0" rIns="0" bIns="0" rtlCol="0" anchor="t">
            <a:normAutofit/>
          </a:bodyPr>
          <a:lstStyle/>
          <a:p>
            <a:pPr indent="0" marL="0">
              <a:buNone/>
            </a:pPr>
            <a:r>
              <a:rPr lang="en-US" sz="850" b="1" dirty="0">
                <a:solidFill>
                  <a:srgbClr val="0F766E"/>
                </a:solidFill>
                <a:latin typeface="Aptos Display" pitchFamily="34" charset="0"/>
                <a:ea typeface="Aptos Display" pitchFamily="34" charset="-122"/>
                <a:cs typeface="Aptos Display" pitchFamily="34" charset="-120"/>
              </a:rPr>
              <a:t>S7</a:t>
            </a:r>
            <a:endParaRPr lang="en-US" sz="850" dirty="0"/>
          </a:p>
        </p:txBody>
      </p:sp>
      <p:sp>
        <p:nvSpPr>
          <p:cNvPr id="15" name="Text 12">
            <a:hlinkClick r:id="rId3" tooltip=""/>
          </p:cNvPr>
          <p:cNvSpPr/>
          <p:nvPr/>
        </p:nvSpPr>
        <p:spPr>
          <a:xfrm>
            <a:off x="1362456" y="2770632"/>
            <a:ext cx="9738360" cy="228600"/>
          </a:xfrm>
          <a:prstGeom prst="rect">
            <a:avLst/>
          </a:prstGeom>
          <a:noFill/>
          <a:ln/>
        </p:spPr>
        <p:txBody>
          <a:bodyPr wrap="square" lIns="0" tIns="0" rIns="0" bIns="0" rtlCol="0" anchor="t">
            <a:normAutofit/>
          </a:bodyPr>
          <a:lstStyle/>
          <a:p>
            <a:pPr indent="0" marL="0">
              <a:buNone/>
            </a:pPr>
            <a:r>
              <a:rPr lang="en-US" sz="1500" b="1" u="sng" dirty="0">
                <a:solidFill>
                  <a:srgbClr val="0F766E"/>
                </a:solidFill>
                <a:latin typeface="Aptos Display" pitchFamily="34" charset="0"/>
                <a:ea typeface="Aptos Display" pitchFamily="34" charset="-122"/>
                <a:cs typeface="Aptos Display" pitchFamily="34" charset="-120"/>
                <a:hlinkClick r:id="rId3" invalidUrl="" action="" tgtFrame="" tooltip="" history="1" highlightClick="0" endSnd="0">
                  <a:extLst>
                    <a:ext uri="{A12FA001-AC4F-418D-AE19-62706E023703}">
                      <ahyp:hlinkClr xmlns:ahyp="http://schemas.microsoft.com/office/drawing/2018/hyperlinkcolor" val="tx"/>
                    </a:ext>
                  </a:extLst>
                </a:hlinkClick>
              </a:rPr>
              <a:t>Nabla — comunicado junho/2025</a:t>
            </a:r>
            <a:endParaRPr lang="en-US" sz="1500" dirty="0"/>
          </a:p>
        </p:txBody>
      </p:sp>
      <p:sp>
        <p:nvSpPr>
          <p:cNvPr id="16" name="Text 13"/>
          <p:cNvSpPr/>
          <p:nvPr/>
        </p:nvSpPr>
        <p:spPr>
          <a:xfrm>
            <a:off x="1362456" y="3054096"/>
            <a:ext cx="9738360" cy="219456"/>
          </a:xfrm>
          <a:prstGeom prst="rect">
            <a:avLst/>
          </a:prstGeom>
          <a:noFill/>
          <a:ln/>
        </p:spPr>
        <p:txBody>
          <a:bodyPr wrap="square" lIns="0" tIns="0" rIns="0" bIns="0" rtlCol="0" anchor="t">
            <a:normAutofit/>
          </a:bodyPr>
          <a:lstStyle/>
          <a:p>
            <a:pPr indent="0" marL="0">
              <a:buNone/>
            </a:pPr>
            <a:r>
              <a:rPr lang="en-US" sz="1070" dirty="0">
                <a:solidFill>
                  <a:srgbClr val="657775"/>
                </a:solidFill>
                <a:latin typeface="Aptos" pitchFamily="34" charset="0"/>
                <a:ea typeface="Aptos" pitchFamily="34" charset="-122"/>
                <a:cs typeface="Aptos" pitchFamily="34" charset="-120"/>
              </a:rPr>
              <a:t>US$70 mi Série C; US$120 mi total; contexto clínico, não preço local.</a:t>
            </a:r>
            <a:endParaRPr lang="en-US" sz="1070" dirty="0"/>
          </a:p>
        </p:txBody>
      </p:sp>
      <p:sp>
        <p:nvSpPr>
          <p:cNvPr id="17" name="Shape 14"/>
          <p:cNvSpPr/>
          <p:nvPr/>
        </p:nvSpPr>
        <p:spPr>
          <a:xfrm>
            <a:off x="576072" y="3355848"/>
            <a:ext cx="557784" cy="256032"/>
          </a:xfrm>
          <a:prstGeom prst="roundRect">
            <a:avLst>
              <a:gd name="adj" fmla="val 42857"/>
            </a:avLst>
          </a:prstGeom>
          <a:solidFill>
            <a:srgbClr val="E7F2EC"/>
          </a:solidFill>
          <a:ln w="8890">
            <a:solidFill>
              <a:srgbClr val="E7F2EC"/>
            </a:solidFill>
            <a:prstDash val="solid"/>
          </a:ln>
        </p:spPr>
      </p:sp>
      <p:sp>
        <p:nvSpPr>
          <p:cNvPr id="18" name="Text 15"/>
          <p:cNvSpPr/>
          <p:nvPr/>
        </p:nvSpPr>
        <p:spPr>
          <a:xfrm>
            <a:off x="667512" y="3387852"/>
            <a:ext cx="374904" cy="155448"/>
          </a:xfrm>
          <a:prstGeom prst="rect">
            <a:avLst/>
          </a:prstGeom>
          <a:noFill/>
          <a:ln/>
        </p:spPr>
        <p:txBody>
          <a:bodyPr wrap="square" lIns="0" tIns="0" rIns="0" bIns="0" rtlCol="0" anchor="t">
            <a:normAutofit/>
          </a:bodyPr>
          <a:lstStyle/>
          <a:p>
            <a:pPr indent="0" marL="0">
              <a:buNone/>
            </a:pPr>
            <a:r>
              <a:rPr lang="en-US" sz="850" b="1" dirty="0">
                <a:solidFill>
                  <a:srgbClr val="0F766E"/>
                </a:solidFill>
                <a:latin typeface="Aptos Display" pitchFamily="34" charset="0"/>
                <a:ea typeface="Aptos Display" pitchFamily="34" charset="-122"/>
                <a:cs typeface="Aptos Display" pitchFamily="34" charset="-120"/>
              </a:rPr>
              <a:t>S8</a:t>
            </a:r>
            <a:endParaRPr lang="en-US" sz="850" dirty="0"/>
          </a:p>
        </p:txBody>
      </p:sp>
      <p:sp>
        <p:nvSpPr>
          <p:cNvPr id="19" name="Text 16">
            <a:hlinkClick r:id="rId4" tooltip=""/>
          </p:cNvPr>
          <p:cNvSpPr/>
          <p:nvPr/>
        </p:nvSpPr>
        <p:spPr>
          <a:xfrm>
            <a:off x="1362456" y="3374136"/>
            <a:ext cx="9738360" cy="228600"/>
          </a:xfrm>
          <a:prstGeom prst="rect">
            <a:avLst/>
          </a:prstGeom>
          <a:noFill/>
          <a:ln/>
        </p:spPr>
        <p:txBody>
          <a:bodyPr wrap="square" lIns="0" tIns="0" rIns="0" bIns="0" rtlCol="0" anchor="t">
            <a:normAutofit/>
          </a:bodyPr>
          <a:lstStyle/>
          <a:p>
            <a:pPr indent="0" marL="0">
              <a:buNone/>
            </a:pPr>
            <a:r>
              <a:rPr lang="en-US" sz="1500" b="1" u="sng" dirty="0">
                <a:solidFill>
                  <a:srgbClr val="0F766E"/>
                </a:solidFill>
                <a:latin typeface="Aptos Display" pitchFamily="34" charset="0"/>
                <a:ea typeface="Aptos Display" pitchFamily="34" charset="-122"/>
                <a:cs typeface="Aptos Display" pitchFamily="34" charset="-120"/>
                <a:hlinkClick r:id="rId4" invalidUrl="" action="" tgtFrame="" tooltip="" history="1" highlightClick="0" endSnd="0">
                  <a:extLst>
                    <a:ext uri="{A12FA001-AC4F-418D-AE19-62706E023703}">
                      <ahyp:hlinkClr xmlns:ahyp="http://schemas.microsoft.com/office/drawing/2018/hyperlinkcolor" val="tx"/>
                    </a:ext>
                  </a:extLst>
                </a:hlinkClick>
              </a:rPr>
              <a:t>Abridge — site atual</a:t>
            </a:r>
            <a:endParaRPr lang="en-US" sz="1500" dirty="0"/>
          </a:p>
        </p:txBody>
      </p:sp>
      <p:sp>
        <p:nvSpPr>
          <p:cNvPr id="20" name="Text 17"/>
          <p:cNvSpPr/>
          <p:nvPr/>
        </p:nvSpPr>
        <p:spPr>
          <a:xfrm>
            <a:off x="1362456" y="3657600"/>
            <a:ext cx="9738360" cy="219456"/>
          </a:xfrm>
          <a:prstGeom prst="rect">
            <a:avLst/>
          </a:prstGeom>
          <a:noFill/>
          <a:ln/>
        </p:spPr>
        <p:txBody>
          <a:bodyPr wrap="square" lIns="0" tIns="0" rIns="0" bIns="0" rtlCol="0" anchor="t">
            <a:normAutofit/>
          </a:bodyPr>
          <a:lstStyle/>
          <a:p>
            <a:pPr indent="0" marL="0">
              <a:buNone/>
            </a:pPr>
            <a:r>
              <a:rPr lang="en-US" sz="1070" dirty="0">
                <a:solidFill>
                  <a:srgbClr val="657775"/>
                </a:solidFill>
                <a:latin typeface="Aptos" pitchFamily="34" charset="0"/>
                <a:ea typeface="Aptos" pitchFamily="34" charset="-122"/>
                <a:cs typeface="Aptos" pitchFamily="34" charset="-120"/>
              </a:rPr>
              <a:t>300+ sistemas, 100 mi+ conversas/ano: claims atuais, não auditoria.</a:t>
            </a:r>
            <a:endParaRPr lang="en-US" sz="1070" dirty="0"/>
          </a:p>
        </p:txBody>
      </p:sp>
      <p:sp>
        <p:nvSpPr>
          <p:cNvPr id="21" name="Shape 18"/>
          <p:cNvSpPr/>
          <p:nvPr/>
        </p:nvSpPr>
        <p:spPr>
          <a:xfrm>
            <a:off x="576072" y="3959352"/>
            <a:ext cx="557784" cy="256032"/>
          </a:xfrm>
          <a:prstGeom prst="roundRect">
            <a:avLst>
              <a:gd name="adj" fmla="val 42857"/>
            </a:avLst>
          </a:prstGeom>
          <a:solidFill>
            <a:srgbClr val="E7F2EC"/>
          </a:solidFill>
          <a:ln w="8890">
            <a:solidFill>
              <a:srgbClr val="E7F2EC"/>
            </a:solidFill>
            <a:prstDash val="solid"/>
          </a:ln>
        </p:spPr>
      </p:sp>
      <p:sp>
        <p:nvSpPr>
          <p:cNvPr id="22" name="Text 19"/>
          <p:cNvSpPr/>
          <p:nvPr/>
        </p:nvSpPr>
        <p:spPr>
          <a:xfrm>
            <a:off x="667512" y="3991356"/>
            <a:ext cx="374904" cy="155448"/>
          </a:xfrm>
          <a:prstGeom prst="rect">
            <a:avLst/>
          </a:prstGeom>
          <a:noFill/>
          <a:ln/>
        </p:spPr>
        <p:txBody>
          <a:bodyPr wrap="square" lIns="0" tIns="0" rIns="0" bIns="0" rtlCol="0" anchor="t">
            <a:normAutofit/>
          </a:bodyPr>
          <a:lstStyle/>
          <a:p>
            <a:pPr indent="0" marL="0">
              <a:buNone/>
            </a:pPr>
            <a:r>
              <a:rPr lang="en-US" sz="850" b="1" dirty="0">
                <a:solidFill>
                  <a:srgbClr val="0F766E"/>
                </a:solidFill>
                <a:latin typeface="Aptos Display" pitchFamily="34" charset="0"/>
                <a:ea typeface="Aptos Display" pitchFamily="34" charset="-122"/>
                <a:cs typeface="Aptos Display" pitchFamily="34" charset="-120"/>
              </a:rPr>
              <a:t>S9</a:t>
            </a:r>
            <a:endParaRPr lang="en-US" sz="850" dirty="0"/>
          </a:p>
        </p:txBody>
      </p:sp>
      <p:sp>
        <p:nvSpPr>
          <p:cNvPr id="23" name="Text 20">
            <a:hlinkClick r:id="rId5" tooltip=""/>
          </p:cNvPr>
          <p:cNvSpPr/>
          <p:nvPr/>
        </p:nvSpPr>
        <p:spPr>
          <a:xfrm>
            <a:off x="1362456" y="3977640"/>
            <a:ext cx="9738360" cy="228600"/>
          </a:xfrm>
          <a:prstGeom prst="rect">
            <a:avLst/>
          </a:prstGeom>
          <a:noFill/>
          <a:ln/>
        </p:spPr>
        <p:txBody>
          <a:bodyPr wrap="square" lIns="0" tIns="0" rIns="0" bIns="0" rtlCol="0" anchor="t">
            <a:normAutofit/>
          </a:bodyPr>
          <a:lstStyle/>
          <a:p>
            <a:pPr indent="0" marL="0">
              <a:buNone/>
            </a:pPr>
            <a:r>
              <a:rPr lang="en-US" sz="1500" b="1" u="sng" dirty="0">
                <a:solidFill>
                  <a:srgbClr val="0F766E"/>
                </a:solidFill>
                <a:latin typeface="Aptos Display" pitchFamily="34" charset="0"/>
                <a:ea typeface="Aptos Display" pitchFamily="34" charset="-122"/>
                <a:cs typeface="Aptos Display" pitchFamily="34" charset="-120"/>
                <a:hlinkClick r:id="rId5" invalidUrl="" action="" tgtFrame="" tooltip="" history="1" highlightClick="0" endSnd="0">
                  <a:extLst>
                    <a:ext uri="{A12FA001-AC4F-418D-AE19-62706E023703}">
                      <ahyp:hlinkClr xmlns:ahyp="http://schemas.microsoft.com/office/drawing/2018/hyperlinkcolor" val="tx"/>
                    </a:ext>
                  </a:extLst>
                </a:hlinkClick>
              </a:rPr>
              <a:t>WhatsApp — regras de preço e janela</a:t>
            </a:r>
            <a:endParaRPr lang="en-US" sz="1500" dirty="0"/>
          </a:p>
        </p:txBody>
      </p:sp>
      <p:sp>
        <p:nvSpPr>
          <p:cNvPr id="24" name="Text 21"/>
          <p:cNvSpPr/>
          <p:nvPr/>
        </p:nvSpPr>
        <p:spPr>
          <a:xfrm>
            <a:off x="1362456" y="4261104"/>
            <a:ext cx="9738360" cy="219456"/>
          </a:xfrm>
          <a:prstGeom prst="rect">
            <a:avLst/>
          </a:prstGeom>
          <a:noFill/>
          <a:ln/>
        </p:spPr>
        <p:txBody>
          <a:bodyPr wrap="square" lIns="0" tIns="0" rIns="0" bIns="0" rtlCol="0" anchor="t">
            <a:normAutofit/>
          </a:bodyPr>
          <a:lstStyle/>
          <a:p>
            <a:pPr indent="0" marL="0">
              <a:buNone/>
            </a:pPr>
            <a:r>
              <a:rPr lang="en-US" sz="1070" dirty="0">
                <a:solidFill>
                  <a:srgbClr val="657775"/>
                </a:solidFill>
                <a:latin typeface="Aptos" pitchFamily="34" charset="0"/>
                <a:ea typeface="Aptos" pitchFamily="34" charset="-122"/>
                <a:cs typeface="Aptos" pitchFamily="34" charset="-120"/>
              </a:rPr>
              <a:t>Serviço dentro de 24h; categorias e provedor devem ser modelados.</a:t>
            </a:r>
            <a:endParaRPr lang="en-US" sz="1070" dirty="0"/>
          </a:p>
        </p:txBody>
      </p:sp>
      <p:sp>
        <p:nvSpPr>
          <p:cNvPr id="25" name="Shape 22"/>
          <p:cNvSpPr/>
          <p:nvPr/>
        </p:nvSpPr>
        <p:spPr>
          <a:xfrm>
            <a:off x="576072" y="4562856"/>
            <a:ext cx="557784" cy="256032"/>
          </a:xfrm>
          <a:prstGeom prst="roundRect">
            <a:avLst>
              <a:gd name="adj" fmla="val 42857"/>
            </a:avLst>
          </a:prstGeom>
          <a:solidFill>
            <a:srgbClr val="E7F2EC"/>
          </a:solidFill>
          <a:ln w="8890">
            <a:solidFill>
              <a:srgbClr val="E7F2EC"/>
            </a:solidFill>
            <a:prstDash val="solid"/>
          </a:ln>
        </p:spPr>
      </p:sp>
      <p:sp>
        <p:nvSpPr>
          <p:cNvPr id="26" name="Text 23"/>
          <p:cNvSpPr/>
          <p:nvPr/>
        </p:nvSpPr>
        <p:spPr>
          <a:xfrm>
            <a:off x="667512" y="4594860"/>
            <a:ext cx="374904" cy="155448"/>
          </a:xfrm>
          <a:prstGeom prst="rect">
            <a:avLst/>
          </a:prstGeom>
          <a:noFill/>
          <a:ln/>
        </p:spPr>
        <p:txBody>
          <a:bodyPr wrap="square" lIns="0" tIns="0" rIns="0" bIns="0" rtlCol="0" anchor="t">
            <a:normAutofit/>
          </a:bodyPr>
          <a:lstStyle/>
          <a:p>
            <a:pPr indent="0" marL="0">
              <a:buNone/>
            </a:pPr>
            <a:r>
              <a:rPr lang="en-US" sz="850" b="1" dirty="0">
                <a:solidFill>
                  <a:srgbClr val="0F766E"/>
                </a:solidFill>
                <a:latin typeface="Aptos Display" pitchFamily="34" charset="0"/>
                <a:ea typeface="Aptos Display" pitchFamily="34" charset="-122"/>
                <a:cs typeface="Aptos Display" pitchFamily="34" charset="-120"/>
              </a:rPr>
              <a:t>S10</a:t>
            </a:r>
            <a:endParaRPr lang="en-US" sz="850" dirty="0"/>
          </a:p>
        </p:txBody>
      </p:sp>
      <p:sp>
        <p:nvSpPr>
          <p:cNvPr id="27" name="Text 24">
            <a:hlinkClick r:id="rId6" tooltip=""/>
          </p:cNvPr>
          <p:cNvSpPr/>
          <p:nvPr/>
        </p:nvSpPr>
        <p:spPr>
          <a:xfrm>
            <a:off x="1362456" y="4581144"/>
            <a:ext cx="9738360" cy="228600"/>
          </a:xfrm>
          <a:prstGeom prst="rect">
            <a:avLst/>
          </a:prstGeom>
          <a:noFill/>
          <a:ln/>
        </p:spPr>
        <p:txBody>
          <a:bodyPr wrap="square" lIns="0" tIns="0" rIns="0" bIns="0" rtlCol="0" anchor="t">
            <a:normAutofit/>
          </a:bodyPr>
          <a:lstStyle/>
          <a:p>
            <a:pPr indent="0" marL="0">
              <a:buNone/>
            </a:pPr>
            <a:r>
              <a:rPr lang="en-US" sz="1500" b="1" u="sng" dirty="0">
                <a:solidFill>
                  <a:srgbClr val="0F766E"/>
                </a:solidFill>
                <a:latin typeface="Aptos Display" pitchFamily="34" charset="0"/>
                <a:ea typeface="Aptos Display" pitchFamily="34" charset="-122"/>
                <a:cs typeface="Aptos Display" pitchFamily="34" charset="-120"/>
                <a:hlinkClick r:id="rId6" invalidUrl="" action="" tgtFrame="" tooltip="" history="1" highlightClick="0" endSnd="0">
                  <a:extLst>
                    <a:ext uri="{A12FA001-AC4F-418D-AE19-62706E023703}">
                      <ahyp:hlinkClr xmlns:ahyp="http://schemas.microsoft.com/office/drawing/2018/hyperlinkcolor" val="tx"/>
                    </a:ext>
                  </a:extLst>
                </a:hlinkClick>
              </a:rPr>
              <a:t>Microsoft Learn — preço ACS</a:t>
            </a:r>
            <a:endParaRPr lang="en-US" sz="1500" dirty="0"/>
          </a:p>
        </p:txBody>
      </p:sp>
      <p:sp>
        <p:nvSpPr>
          <p:cNvPr id="28" name="Text 25"/>
          <p:cNvSpPr/>
          <p:nvPr/>
        </p:nvSpPr>
        <p:spPr>
          <a:xfrm>
            <a:off x="1362456" y="4864608"/>
            <a:ext cx="9738360" cy="219456"/>
          </a:xfrm>
          <a:prstGeom prst="rect">
            <a:avLst/>
          </a:prstGeom>
          <a:noFill/>
          <a:ln/>
        </p:spPr>
        <p:txBody>
          <a:bodyPr wrap="square" lIns="0" tIns="0" rIns="0" bIns="0" rtlCol="0" anchor="t">
            <a:normAutofit/>
          </a:bodyPr>
          <a:lstStyle/>
          <a:p>
            <a:pPr indent="0" marL="0">
              <a:buNone/>
            </a:pPr>
            <a:r>
              <a:rPr lang="en-US" sz="1070" dirty="0">
                <a:solidFill>
                  <a:srgbClr val="657775"/>
                </a:solidFill>
                <a:latin typeface="Aptos" pitchFamily="34" charset="0"/>
                <a:ea typeface="Aptos" pitchFamily="34" charset="-122"/>
                <a:cs typeface="Aptos" pitchFamily="34" charset="-120"/>
              </a:rPr>
              <a:t>US$0,005 por mensagem só se usar ACS; não custo obrigatório da Oria.</a:t>
            </a:r>
            <a:endParaRPr lang="en-US" sz="1070" dirty="0"/>
          </a:p>
        </p:txBody>
      </p:sp>
      <p:sp>
        <p:nvSpPr>
          <p:cNvPr id="29" name="Text 26"/>
          <p:cNvSpPr/>
          <p:nvPr/>
        </p:nvSpPr>
        <p:spPr>
          <a:xfrm>
            <a:off x="649224" y="5541264"/>
            <a:ext cx="10826496" cy="493776"/>
          </a:xfrm>
          <a:prstGeom prst="rect">
            <a:avLst/>
          </a:prstGeom>
          <a:noFill/>
          <a:ln/>
        </p:spPr>
        <p:txBody>
          <a:bodyPr wrap="square" lIns="0" tIns="0" rIns="0" bIns="0" rtlCol="0" anchor="t">
            <a:normAutofit/>
          </a:bodyPr>
          <a:lstStyle/>
          <a:p>
            <a:pPr indent="0" marL="0">
              <a:buNone/>
            </a:pPr>
            <a:r>
              <a:rPr lang="en-US" sz="1060" dirty="0">
                <a:solidFill>
                  <a:srgbClr val="657775"/>
                </a:solidFill>
                <a:latin typeface="Aptos" pitchFamily="34" charset="0"/>
                <a:ea typeface="Aptos" pitchFamily="34" charset="-122"/>
                <a:cs typeface="Aptos" pitchFamily="34" charset="-120"/>
              </a:rPr>
              <a:t>O1/O2: dashboard e API autenticada em leitura. C1/C2: código local. D1: v1.md. Sem teste operacional end-to-end, entrevistas ou faturas.</a:t>
            </a:r>
            <a:endParaRPr lang="en-US" sz="1060" dirty="0"/>
          </a:p>
          <a:p>
            <a:pPr indent="0" marL="0">
              <a:buNone/>
            </a:pPr>
            <a:r>
              <a:rPr lang="en-US" sz="1060" dirty="0">
                <a:solidFill>
                  <a:srgbClr val="657775"/>
                </a:solidFill>
                <a:latin typeface="Aptos" pitchFamily="34" charset="0"/>
                <a:ea typeface="Aptos" pitchFamily="34" charset="-122"/>
                <a:cs typeface="Aptos" pitchFamily="34" charset="-120"/>
              </a:rPr>
              <a:t>L1/L2: referências legais identificadas; texto integral não recuperado. Revisão jurídica e CFM pendentes.</a:t>
            </a:r>
            <a:endParaRPr lang="en-US" sz="1060" dirty="0"/>
          </a:p>
        </p:txBody>
      </p:sp>
      <p:sp>
        <p:nvSpPr>
          <p:cNvPr id="25" name="Slide Number Placeholder 0"/>
          <p:cNvSpPr>
            <a:spLocks noGrp="1"/>
          </p:cNvSpPr>
          <p:nvPr>
            <p:ph type="sldNum" sz="quarter" idx="4294967295"/>
          </p:nvPr>
        </p:nvSpPr>
        <p:spPr>
          <a:xfrm>
            <a:off x="10972800" y="6446520"/>
            <a:ext cx="64008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657775"/>
                </a:solidFill>
                <a:latin typeface="Aptos"/>
                <a:ea typeface="Aptos"/>
                <a:cs typeface="Aptos"/>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Oria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Oria — do produto à startup relevante</dc:title>
  <dc:subject>Análise crítica do produto, mercado brasileiro e plano de validação em 90 dias</dc:subject>
  <dc:creator>Oria | Análise estratégica</dc:creator>
  <cp:lastModifiedBy>Oria | Análise estratégica</cp:lastModifiedBy>
  <cp:revision>1</cp:revision>
  <dcterms:created xsi:type="dcterms:W3CDTF">2026-10-14T18:27:42Z</dcterms:created>
  <dcterms:modified xsi:type="dcterms:W3CDTF">2026-10-14T18:27:42Z</dcterms:modified>
</cp:coreProperties>
</file>