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embeddedFontLst>
    <p:embeddedFont>
      <p:font typeface="Inter" panose="020B0604020202020204" charset="0"/>
      <p:regular r:id="rId23"/>
      <p:bold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Healthcare AI Market</c:v>
                </c:pt>
              </c:strCache>
            </c:strRef>
          </c:tx>
          <c:spPr>
            <a:ln w="25400" cap="flat">
              <a:solidFill>
                <a:srgbClr val="1A7A6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6D"/>
              </a:solidFill>
              <a:ln w="9525" cap="flat">
                <a:solidFill>
                  <a:srgbClr val="1A7A6D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2025</c:v>
                </c:pt>
                <c:pt idx="2">
                  <c:v>2027</c:v>
                </c:pt>
                <c:pt idx="3">
                  <c:v>2030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15</c:v>
                </c:pt>
                <c:pt idx="2">
                  <c:v>27</c:v>
                </c:pt>
                <c:pt idx="3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E3-4379-9B73-FAEF3CCC5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55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B2E3D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B2E3D"/>
                    </a:solidFill>
                    <a:latin typeface="Arial"/>
                  </a:rPr>
                  <a:t>Billions USD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55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BB8E5-BEB9-4D3B-A365-6ED5B7F8CB36}" type="datetimeFigureOut"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15B63-F944-490A-9103-AD17278612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PMF hypothesis centers on administrative workflow automation via WhatsApp, not clinical AI. This positioning avoids regulatory complexity while addressing the highest-frequency pain points for clinic secretaries.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healthcare AI market figures are projected estimates. Brazil-specific signals include regulatory developments and post-COVID telemedicine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ranking based on qualitative assessment across five criteria. Private clinics score highest due to combination of short sales cycles, acute pain, and WhatsApp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based on typical Brazilian private clinic operations. The 80-120 daily interactions and 30% no-show rate are industry-representative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archetypes identified from analysis of major healthcare AI competitors. The key gap is the absence of Portuguese-native, WhatsApp-delivered, administrative-only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 profiles based on publicly available information. All seven competitors are English-first with no meaningful Brazilian market presence or Portuguese language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implications derived from competitive analysis. Administrative-only positioning enables faster trust-building and simpler regulatory compliance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 features represent the minimum credible product. Each maps directly to a validated JTBD from persona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requirements mapped to three stakeholder groups. Non-negotiable: clinics will not adopt without transparent logs, escalation rules, and consent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differentiators each address a specific gap left by existing competitors. Together they form the defensibility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Messaging framework designed for Brazilian private clinic owners. Explicit avoidance of clinical/diagnostic language is critical for trust and regulatory positioning.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tiers benchmarked against cost-per-secretary in Brazilian private clinics (R$2,000-3,000/month). Each tier requires 30-day cohort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WhatsApp Business API pricing from Meta. Per-conversation costs are manageable within proposed subscription tiers but require active session-window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LGPD (Law 13.709/2018) classifies health data as sensitive personal data under Article 11. ANPD enforcement is increasing, with fines up to 2% of revenue capped at R$50M per infraction.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Pre-launch compliance checklist organized by domain. All items must be completed before any patient data processing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Three-phase roadmap with each phase gated by PMF evidence. 'Now' focuses on proving the core hypothesis with 10 pilot clinics.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experiments with explicit success and falsification thresholds. If falsification criteria are met, the hypothesis is invalidated and a pivot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key evidence gaps that represent the highest-risk unknowns. Each maps to a specific PMF experiment designed to close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recommendation rests on four converging signals. Clear falsification gates limit downside. Begin pilot within 90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8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5.sv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Relationship Id="rId9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31.svg"/><Relationship Id="rId4" Type="http://schemas.openxmlformats.org/officeDocument/2006/relationships/image" Target="../media/image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svg"/><Relationship Id="rId4" Type="http://schemas.openxmlformats.org/officeDocument/2006/relationships/image" Target="../media/image3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098" cy="6858000"/>
          </a:xfrm>
          <a:prstGeom prst="rect">
            <a:avLst/>
          </a:prstGeom>
          <a:solidFill>
            <a:srgbClr val="3DA89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103120"/>
            <a:ext cx="740664" cy="740664"/>
          </a:xfrm>
          <a:prstGeom prst="roundRect">
            <a:avLst>
              <a:gd name="adj" fmla="val 23457"/>
            </a:avLst>
          </a:prstGeom>
          <a:solidFill>
            <a:srgbClr val="1A5A4E"/>
          </a:solidFill>
          <a:ln w="12700">
            <a:solidFill>
              <a:srgbClr val="1A4A5E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564" y="2272284"/>
            <a:ext cx="402336" cy="402336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301752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Medical Secretary: Brazil-First Strategy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4407408"/>
            <a:ext cx="8686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B8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Market-fit analysis and competitive positioning for an AI patient-access secretary targeting Brazilian private clinics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5212080"/>
            <a:ext cx="1603470" cy="384048"/>
          </a:xfrm>
          <a:prstGeom prst="roundRect">
            <a:avLst>
              <a:gd name="adj" fmla="val 50000"/>
            </a:avLst>
          </a:prstGeom>
          <a:solidFill>
            <a:srgbClr val="082430"/>
          </a:solidFill>
          <a:ln w="12700">
            <a:solidFill>
              <a:srgbClr val="1A4A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0" y="5367528"/>
            <a:ext cx="73152" cy="73152"/>
          </a:xfrm>
          <a:prstGeom prst="ellipse">
            <a:avLst/>
          </a:prstGeom>
          <a:solidFill>
            <a:srgbClr val="3DA89A"/>
          </a:solidFill>
          <a:ln/>
        </p:spPr>
      </p:sp>
      <p:sp>
        <p:nvSpPr>
          <p:cNvPr id="9" name="Text 6"/>
          <p:cNvSpPr/>
          <p:nvPr/>
        </p:nvSpPr>
        <p:spPr>
          <a:xfrm>
            <a:off x="1271016" y="5212080"/>
            <a:ext cx="105483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WhatsApp-First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64174" y="5212080"/>
            <a:ext cx="1679326" cy="384048"/>
          </a:xfrm>
          <a:prstGeom prst="roundRect">
            <a:avLst>
              <a:gd name="adj" fmla="val 50000"/>
            </a:avLst>
          </a:prstGeom>
          <a:solidFill>
            <a:srgbClr val="082430"/>
          </a:solidFill>
          <a:ln w="12700">
            <a:solidFill>
              <a:srgbClr val="1A4A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47054" y="5367528"/>
            <a:ext cx="73152" cy="73152"/>
          </a:xfrm>
          <a:prstGeom prst="ellipse">
            <a:avLst/>
          </a:prstGeom>
          <a:solidFill>
            <a:srgbClr val="3DA89A"/>
          </a:solidFill>
          <a:ln/>
        </p:spPr>
      </p:sp>
      <p:sp>
        <p:nvSpPr>
          <p:cNvPr id="12" name="Text 9"/>
          <p:cNvSpPr/>
          <p:nvPr/>
        </p:nvSpPr>
        <p:spPr>
          <a:xfrm>
            <a:off x="3020790" y="5212080"/>
            <a:ext cx="1130686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LGPD Compliant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89805" y="5212080"/>
            <a:ext cx="1737927" cy="384048"/>
          </a:xfrm>
          <a:prstGeom prst="roundRect">
            <a:avLst>
              <a:gd name="adj" fmla="val 50000"/>
            </a:avLst>
          </a:prstGeom>
          <a:solidFill>
            <a:srgbClr val="082430"/>
          </a:solidFill>
          <a:ln w="12700">
            <a:solidFill>
              <a:srgbClr val="1A4A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72685" y="5367528"/>
            <a:ext cx="73152" cy="73152"/>
          </a:xfrm>
          <a:prstGeom prst="ellipse">
            <a:avLst/>
          </a:prstGeom>
          <a:solidFill>
            <a:srgbClr val="3DA89A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421" y="5212080"/>
            <a:ext cx="1189287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Administrative AI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374036" y="5212080"/>
            <a:ext cx="1533214" cy="384048"/>
          </a:xfrm>
          <a:prstGeom prst="roundRect">
            <a:avLst>
              <a:gd name="adj" fmla="val 50000"/>
            </a:avLst>
          </a:prstGeom>
          <a:solidFill>
            <a:srgbClr val="082430"/>
          </a:solidFill>
          <a:ln w="12700">
            <a:solidFill>
              <a:srgbClr val="1A4A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56916" y="5367528"/>
            <a:ext cx="73152" cy="73152"/>
          </a:xfrm>
          <a:prstGeom prst="ellipse">
            <a:avLst/>
          </a:prstGeom>
          <a:solidFill>
            <a:srgbClr val="3DA89A"/>
          </a:solidFill>
          <a:ln/>
        </p:spPr>
      </p:sp>
      <p:sp>
        <p:nvSpPr>
          <p:cNvPr id="18" name="Text 15"/>
          <p:cNvSpPr/>
          <p:nvPr/>
        </p:nvSpPr>
        <p:spPr>
          <a:xfrm>
            <a:off x="6730652" y="5212080"/>
            <a:ext cx="984574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Clinics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158423" y="6492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28650" y="377922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921258" y="377922"/>
            <a:ext cx="106417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PRODUCT-MARKET FIT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8650" y="670530"/>
            <a:ext cx="10934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 Initial Product-Market Fit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28650" y="1415258"/>
            <a:ext cx="3492398" cy="3924838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8650" y="1453662"/>
            <a:ext cx="3492398" cy="388643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270" y="1681988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0F0ED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79" y="1805798"/>
            <a:ext cx="266730" cy="2667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6270" y="2367788"/>
            <a:ext cx="299715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PMF Hypothesis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876270" y="2831114"/>
            <a:ext cx="2997159" cy="186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WhatsApp-native scheduling automation for private clinics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60–70% of secretary time spent on repetitive admin tasks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ROI via time savings and no-show reduction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49648" y="1415258"/>
            <a:ext cx="3492398" cy="3924838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49648" y="1453662"/>
            <a:ext cx="3492398" cy="388643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97268" y="1681988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0F0E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1078" y="1805798"/>
            <a:ext cx="266730" cy="2667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97268" y="2367788"/>
            <a:ext cx="299715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Winning JTBD</a:t>
            </a:r>
            <a:endParaRPr lang="en-US" sz="1575" dirty="0"/>
          </a:p>
        </p:txBody>
      </p:sp>
      <p:sp>
        <p:nvSpPr>
          <p:cNvPr id="17" name="Text 12"/>
          <p:cNvSpPr/>
          <p:nvPr/>
        </p:nvSpPr>
        <p:spPr>
          <a:xfrm>
            <a:off x="4597268" y="2831114"/>
            <a:ext cx="2997159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Appointment booking and confirmations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intake form collection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reminders → 30% no-show reduction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Insurance pre-authorization coordination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70647" y="1415258"/>
            <a:ext cx="3492398" cy="3924838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70647" y="1453662"/>
            <a:ext cx="3492398" cy="388643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318266" y="1681988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0F0ED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2076" y="1805798"/>
            <a:ext cx="266730" cy="2667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18266" y="2367788"/>
            <a:ext cx="299715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Critical Positioning</a:t>
            </a:r>
            <a:endParaRPr lang="en-US" sz="1575" dirty="0"/>
          </a:p>
        </p:txBody>
      </p:sp>
      <p:sp>
        <p:nvSpPr>
          <p:cNvPr id="23" name="Text 17"/>
          <p:cNvSpPr/>
          <p:nvPr/>
        </p:nvSpPr>
        <p:spPr>
          <a:xfrm>
            <a:off x="8318266" y="2831114"/>
            <a:ext cx="2997159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Strictly administrative, never diagnostic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handoff for all clinical decisions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LGPD-by-design architecture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through auditability and transparency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28650" y="5632704"/>
            <a:ext cx="10934395" cy="54864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25" name="Shape 19"/>
          <p:cNvSpPr/>
          <p:nvPr/>
        </p:nvSpPr>
        <p:spPr>
          <a:xfrm>
            <a:off x="683514" y="5632704"/>
            <a:ext cx="10879531" cy="548640"/>
          </a:xfrm>
          <a:prstGeom prst="rect">
            <a:avLst/>
          </a:prstGeom>
          <a:solidFill>
            <a:srgbClr val="E0F0ED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94410" y="5632704"/>
            <a:ext cx="102028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thesis: Automate administrative workflows via WhatsApp — so clinic staff focuses on care, not calls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28600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228600"/>
            <a:ext cx="10799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CONTEXT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212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Healthcare AI Growth Signals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4747565" cy="1524000"/>
          </a:xfrm>
          <a:prstGeom prst="rect">
            <a:avLst/>
          </a:prstGeom>
          <a:solidFill>
            <a:srgbClr val="1A7A6D"/>
          </a:solidFill>
          <a:ln/>
          <a:effectLst>
            <a:outerShdw blurRad="67729" dist="16929" dir="8100000" algn="bl" rotWithShape="0">
              <a:srgbClr val="D8DFE3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08176"/>
            <a:ext cx="4747565" cy="148742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19507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A7A6D">
              <a:alpha val="14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248" y="204216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3312" y="1764792"/>
            <a:ext cx="3741725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$45B+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353312" y="2295144"/>
            <a:ext cx="3741725" cy="554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healthcare AI market by 2030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078480"/>
            <a:ext cx="4747565" cy="1524000"/>
          </a:xfrm>
          <a:prstGeom prst="rect">
            <a:avLst/>
          </a:prstGeom>
          <a:solidFill>
            <a:srgbClr val="2E5A8C"/>
          </a:solidFill>
          <a:ln/>
          <a:effectLst>
            <a:outerShdw blurRad="67729" dist="16929" dir="8100000" algn="bl" rotWithShape="0">
              <a:srgbClr val="D8DFE3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3115056"/>
            <a:ext cx="4747565" cy="148742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" y="365760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5A8C">
              <a:alpha val="14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248" y="374904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3312" y="3471672"/>
            <a:ext cx="3741725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~45%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1353312" y="4002024"/>
            <a:ext cx="3741725" cy="554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CAGR for healthcare AI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4747565" cy="1524000"/>
          </a:xfrm>
          <a:prstGeom prst="rect">
            <a:avLst/>
          </a:prstGeom>
          <a:solidFill>
            <a:srgbClr val="3DA89A"/>
          </a:solidFill>
          <a:ln/>
          <a:effectLst>
            <a:outerShdw blurRad="67729" dist="16929" dir="8100000" algn="bl" rotWithShape="0">
              <a:srgbClr val="D8DFE3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4821936"/>
            <a:ext cx="4747565" cy="148742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536448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3DA89A">
              <a:alpha val="14000"/>
            </a:srgbClr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248" y="545592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53312" y="5178552"/>
            <a:ext cx="3741725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150M+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1353312" y="5708904"/>
            <a:ext cx="3741725" cy="554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WhatsApp-active users in Brazil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597957" y="1371600"/>
            <a:ext cx="6042355" cy="4937760"/>
          </a:xfrm>
          <a:prstGeom prst="roundRect">
            <a:avLst>
              <a:gd name="adj" fmla="val 2778"/>
            </a:avLst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graphicFrame>
        <p:nvGraphicFramePr>
          <p:cNvPr id="25" name="Chart 0"/>
          <p:cNvGraphicFramePr/>
          <p:nvPr/>
        </p:nvGraphicFramePr>
        <p:xfrm>
          <a:off x="5762549" y="1536192"/>
          <a:ext cx="5713171" cy="4608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6" name="Text 19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28600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228600"/>
            <a:ext cx="10799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CONTEXT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212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Clinics: Optimal Beachhead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435547" cy="3401568"/>
        </p:xfrm>
        <a:graphic>
          <a:graphicData uri="http://schemas.openxmlformats.org/drawingml/2006/table">
            <a:tbl>
              <a:tblPr/>
              <a:tblGrid>
                <a:gridCol w="1287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7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7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Criterion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Private Clinics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Hospitals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SUS Facilities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Telehealth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Decision Speed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Fast (owner-led)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Slow (procurement)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Very slow (political)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Moderate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Willingness to Pay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 (budget)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 Burden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Acute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WhatsApp Usage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Very high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Moderate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Regulatory Complexity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Very high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49947" y="1463040"/>
            <a:ext cx="4290365" cy="4532986"/>
          </a:xfrm>
          <a:prstGeom prst="rect">
            <a:avLst/>
          </a:prstGeom>
          <a:solidFill>
            <a:srgbClr val="1A7A6D"/>
          </a:solidFill>
          <a:ln/>
          <a:effectLst>
            <a:outerShdw blurRad="67729" dist="16929" dir="8100000" algn="bl" rotWithShape="0">
              <a:srgbClr val="D8DFE3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400239" y="1463040"/>
            <a:ext cx="4240073" cy="4532986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51115" y="1664208"/>
            <a:ext cx="3888029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private clinics win: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835" y="216712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28915" y="2060448"/>
            <a:ext cx="371022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Owner-operators make fast adoption decisions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835" y="2715768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28915" y="2609088"/>
            <a:ext cx="371022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Acute administrative pain with manual WhatsApp scheduling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835" y="3264408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28915" y="3157728"/>
            <a:ext cx="371022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IT integration requirements</a:t>
            </a:r>
            <a:endParaRPr lang="en-US" sz="16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835" y="3813048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728915" y="3706368"/>
            <a:ext cx="371022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willingness to pay for time savings</a:t>
            </a:r>
            <a:endParaRPr lang="en-US" sz="16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6835" y="4361688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728915" y="4255008"/>
            <a:ext cx="371022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Hospitals: long procurement, complex IT stacks</a:t>
            </a:r>
            <a:endParaRPr lang="en-US" sz="16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6835" y="4910328"/>
            <a:ext cx="182880" cy="1828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728915" y="4803648"/>
            <a:ext cx="371022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SUS: budget constraints, political cycles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23" name="Text 13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E0F0ED"/>
          </a:solidFill>
          <a:ln/>
        </p:spPr>
      </p:sp>
      <p:sp>
        <p:nvSpPr>
          <p:cNvPr id="4" name="Shape 1"/>
          <p:cNvSpPr/>
          <p:nvPr/>
        </p:nvSpPr>
        <p:spPr>
          <a:xfrm>
            <a:off x="437998" y="2462479"/>
            <a:ext cx="571500" cy="38405"/>
          </a:xfrm>
          <a:prstGeom prst="roundRect">
            <a:avLst>
              <a:gd name="adj" fmla="val 50000"/>
            </a:avLst>
          </a:prstGeom>
          <a:solidFill>
            <a:srgbClr val="1A7A6D"/>
          </a:solidFill>
          <a:ln/>
        </p:spPr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37998" y="271028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 Secretary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437998" y="3666211"/>
            <a:ext cx="2743200" cy="102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80–120 daily patient interactions across scheduling, confirmations, insurance, and follow-up — predominantly via WhatsApp and phone</a:t>
            </a:r>
            <a:endParaRPr lang="en-US" sz="1275" dirty="0"/>
          </a:p>
        </p:txBody>
      </p:sp>
      <p:sp>
        <p:nvSpPr>
          <p:cNvPr id="7" name="Shape 4"/>
          <p:cNvSpPr/>
          <p:nvPr/>
        </p:nvSpPr>
        <p:spPr>
          <a:xfrm>
            <a:off x="4209898" y="438912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8" name="Text 5"/>
          <p:cNvSpPr/>
          <p:nvPr/>
        </p:nvSpPr>
        <p:spPr>
          <a:xfrm>
            <a:off x="4502506" y="438912"/>
            <a:ext cx="70984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 USER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09898" y="731520"/>
            <a:ext cx="7391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Persona and JTBD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209898" y="1233526"/>
            <a:ext cx="3585820" cy="2428189"/>
          </a:xfrm>
          <a:prstGeom prst="rect">
            <a:avLst/>
          </a:prstGeom>
          <a:solidFill>
            <a:srgbClr val="1A7A6D"/>
          </a:solidFill>
          <a:ln/>
          <a:effectLst>
            <a:outerShdw blurRad="67729" dist="16929" dir="8100000" algn="bl" rotWithShape="0">
              <a:srgbClr val="D8DFE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9898" y="1270102"/>
            <a:ext cx="3585820" cy="2391613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29354" y="148955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A7A6D">
              <a:alpha val="14000"/>
            </a:srgbClr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938" y="159014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29354" y="2093062"/>
            <a:ext cx="314690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Scheduling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429354" y="2568550"/>
            <a:ext cx="3146908" cy="5695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Highest-frequency task: booking, rescheduling, and cancellations across multiple providers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15173" y="1233526"/>
            <a:ext cx="3585820" cy="2428189"/>
          </a:xfrm>
          <a:prstGeom prst="rect">
            <a:avLst/>
          </a:prstGeom>
          <a:solidFill>
            <a:srgbClr val="2E5A8C"/>
          </a:solidFill>
          <a:ln/>
          <a:effectLst>
            <a:outerShdw blurRad="67729" dist="16929" dir="8100000" algn="bl" rotWithShape="0">
              <a:srgbClr val="D8DFE3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15173" y="1270102"/>
            <a:ext cx="3585820" cy="2391613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34629" y="148955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E5A8C">
              <a:alpha val="14000"/>
            </a:srgbClr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5213" y="159014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4629" y="2093062"/>
            <a:ext cx="314690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Confirmations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34629" y="2568550"/>
            <a:ext cx="3146908" cy="5695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 no-show rate driven by manual confirmation processes and missed reminders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209898" y="3881171"/>
            <a:ext cx="3585820" cy="2428189"/>
          </a:xfrm>
          <a:prstGeom prst="rect">
            <a:avLst/>
          </a:prstGeom>
          <a:solidFill>
            <a:srgbClr val="3DA89A"/>
          </a:solidFill>
          <a:ln/>
          <a:effectLst>
            <a:outerShdw blurRad="67729" dist="16929" dir="8100000" algn="bl" rotWithShape="0">
              <a:srgbClr val="D8DFE3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209898" y="3917747"/>
            <a:ext cx="3585820" cy="2391613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429354" y="4137203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3DA89A">
              <a:alpha val="14000"/>
            </a:srgbClr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9938" y="4237787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29354" y="4740707"/>
            <a:ext cx="314690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Intake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4429354" y="5216195"/>
            <a:ext cx="3146908" cy="5695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data re-entry from WhatsApp messages into clinic management software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8015173" y="3881171"/>
            <a:ext cx="3585820" cy="2428189"/>
          </a:xfrm>
          <a:prstGeom prst="rect">
            <a:avLst/>
          </a:prstGeom>
          <a:solidFill>
            <a:srgbClr val="5B8AB8"/>
          </a:solidFill>
          <a:ln/>
          <a:effectLst>
            <a:outerShdw blurRad="67729" dist="16929" dir="8100000" algn="bl" rotWithShape="0">
              <a:srgbClr val="D8DFE3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015173" y="3917747"/>
            <a:ext cx="3585820" cy="2391613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234629" y="4137203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8AB8">
              <a:alpha val="14000"/>
            </a:srgbClr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5213" y="4237787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234629" y="4740707"/>
            <a:ext cx="314690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Insurance Coordination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8234629" y="5216195"/>
            <a:ext cx="3146908" cy="5695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Pre-authorization requests and insurance verification consuming significant time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28600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228600"/>
            <a:ext cx="10799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LANDSCAPE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212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Landscape Archetypes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40680" cy="2272284"/>
          </a:xfrm>
          <a:prstGeom prst="rect">
            <a:avLst/>
          </a:prstGeom>
          <a:solidFill>
            <a:srgbClr val="1A7A6D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7045" y="1508760"/>
            <a:ext cx="5402275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5645" y="1737360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1A7A6D">
              <a:alpha val="14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5373" y="184708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5645" y="2368296"/>
            <a:ext cx="49450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Ambient Clinical Scribes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15645" y="2752344"/>
            <a:ext cx="4945075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Abridge, Suki, Nabla — clinical documentation focus, English-first, physician-facing</a:t>
            </a:r>
            <a:endParaRPr lang="en-US" sz="1360" dirty="0"/>
          </a:p>
        </p:txBody>
      </p:sp>
      <p:sp>
        <p:nvSpPr>
          <p:cNvPr id="12" name="Shape 8"/>
          <p:cNvSpPr/>
          <p:nvPr/>
        </p:nvSpPr>
        <p:spPr>
          <a:xfrm>
            <a:off x="6199632" y="1508760"/>
            <a:ext cx="5440680" cy="2272284"/>
          </a:xfrm>
          <a:prstGeom prst="rect">
            <a:avLst/>
          </a:prstGeom>
          <a:solidFill>
            <a:srgbClr val="2E5A8C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38037" y="1508760"/>
            <a:ext cx="5402275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66637" y="1737360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2E5A8C">
              <a:alpha val="14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6365" y="184708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66637" y="2368296"/>
            <a:ext cx="49450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Engagement Platforms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66637" y="2752344"/>
            <a:ext cx="4945075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messaging tools lacking scheduling intelligence and healthcare workflow depth</a:t>
            </a:r>
            <a:endParaRPr lang="en-US" sz="1360" dirty="0"/>
          </a:p>
        </p:txBody>
      </p:sp>
      <p:sp>
        <p:nvSpPr>
          <p:cNvPr id="18" name="Shape 13"/>
          <p:cNvSpPr/>
          <p:nvPr/>
        </p:nvSpPr>
        <p:spPr>
          <a:xfrm>
            <a:off x="548640" y="3991356"/>
            <a:ext cx="5440680" cy="2272284"/>
          </a:xfrm>
          <a:prstGeom prst="rect">
            <a:avLst/>
          </a:prstGeom>
          <a:solidFill>
            <a:srgbClr val="3DA89A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87045" y="3991356"/>
            <a:ext cx="5402275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5645" y="4219956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3DA89A">
              <a:alpha val="14000"/>
            </a:srgbClr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5373" y="432968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5645" y="4850892"/>
            <a:ext cx="49450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EHR-Embedded AI Modules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15645" y="5234940"/>
            <a:ext cx="4945075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Epic AI Charting — requires enterprise EHR integration, inaccessible to small clinics</a:t>
            </a:r>
            <a:endParaRPr lang="en-US" sz="1360" dirty="0"/>
          </a:p>
        </p:txBody>
      </p:sp>
      <p:sp>
        <p:nvSpPr>
          <p:cNvPr id="24" name="Shape 18"/>
          <p:cNvSpPr/>
          <p:nvPr/>
        </p:nvSpPr>
        <p:spPr>
          <a:xfrm>
            <a:off x="6199632" y="3991356"/>
            <a:ext cx="5440680" cy="2272284"/>
          </a:xfrm>
          <a:prstGeom prst="rect">
            <a:avLst/>
          </a:prstGeom>
          <a:solidFill>
            <a:srgbClr val="5B8AB8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238037" y="3991356"/>
            <a:ext cx="5402275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66637" y="4219956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5B8AB8">
              <a:alpha val="14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6365" y="432968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66637" y="4850892"/>
            <a:ext cx="49450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Conversational AI Schedulers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6466637" y="5234940"/>
            <a:ext cx="4945075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Hyro — voice-first, US health systems only, no Portuguese or WhatsApp support</a:t>
            </a:r>
            <a:endParaRPr lang="en-US" sz="1360" dirty="0"/>
          </a:p>
        </p:txBody>
      </p:sp>
      <p:sp>
        <p:nvSpPr>
          <p:cNvPr id="30" name="Text 23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28600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228600"/>
            <a:ext cx="10799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LANDSCAPE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212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 Competitor Profiles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435547" cy="4681728"/>
        </p:xfrm>
        <a:graphic>
          <a:graphicData uri="http://schemas.openxmlformats.org/drawingml/2006/table">
            <a:tbl>
              <a:tblPr/>
              <a:tblGrid>
                <a:gridCol w="1287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7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7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Competitor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Focus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Geography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Channel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 Gap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Hyro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Voice AI scheduling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 health systems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Phone/web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WhatsApp, no PT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Dragon Copilot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Dictation/documentation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Enterprise global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Desktop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Clinical, not admin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Abridge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Ambient clinical notes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 hospitals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In-room mic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Diagnosis-adjacent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Suki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Voice AI assistant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 clinicians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Voice/EHR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Clinical workflow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Nabla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Ambient scribe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Europe/US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In-room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Portuguese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Ambience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Real-time clinical docs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 systems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Ambient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Clinical focus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Epic AI Charting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EHR-native AI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Epic ecosystem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EHR module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Epic-only, enterprise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49947" y="1463040"/>
            <a:ext cx="4290365" cy="4567123"/>
          </a:xfrm>
          <a:prstGeom prst="rect">
            <a:avLst/>
          </a:prstGeom>
          <a:solidFill>
            <a:srgbClr val="1A7A6D"/>
          </a:solidFill>
          <a:ln/>
          <a:effectLst>
            <a:outerShdw blurRad="67729" dist="16929" dir="8100000" algn="bl" rotWithShape="0">
              <a:srgbClr val="D8DFE3">
                <a:alpha val="8000"/>
              </a:srgbClr>
            </a:outerShdw>
          </a:effectLst>
        </p:spPr>
      </p:sp>
      <p:sp>
        <p:nvSpPr>
          <p:cNvPr id="21" name="Shape 4"/>
          <p:cNvSpPr/>
          <p:nvPr/>
        </p:nvSpPr>
        <p:spPr>
          <a:xfrm>
            <a:off x="7400239" y="1463040"/>
            <a:ext cx="4240073" cy="4567123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51115" y="1664208"/>
            <a:ext cx="388802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gap across all seven competitors: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835" y="241096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28915" y="2304288"/>
            <a:ext cx="3710229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Portuguese language support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835" y="2715768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28915" y="2609088"/>
            <a:ext cx="3710229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WhatsApp-native delivery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835" y="3020568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28915" y="2913888"/>
            <a:ext cx="371022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Clinical/diagnosis focus, not administrative</a:t>
            </a:r>
            <a:endParaRPr lang="en-US" sz="16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835" y="3569208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728915" y="3462528"/>
            <a:ext cx="371022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Enterprise-scale, not small-clinic fit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7551115" y="4102608"/>
            <a:ext cx="3888029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whitespace:</a:t>
            </a: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Portuguese-native, WhatsApp-delivered, administrative-only AI secretarial automation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28650" y="377922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921258" y="377922"/>
            <a:ext cx="106417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LANDSCAPE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8650" y="670530"/>
            <a:ext cx="10934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Positioning Implications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28650" y="1415258"/>
            <a:ext cx="3492398" cy="3924838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8650" y="1453662"/>
            <a:ext cx="3492398" cy="388643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270" y="1681988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0F0ED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79" y="1805798"/>
            <a:ext cx="266730" cy="2667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6270" y="2367788"/>
            <a:ext cx="299715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Language + Channel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876270" y="2831114"/>
            <a:ext cx="2997159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Portuguese-native fluency as core differentiator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WhatsApp-first vs. web/app-only competitors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where patients already communicate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49648" y="1415258"/>
            <a:ext cx="3492398" cy="3924838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49648" y="1453662"/>
            <a:ext cx="3492398" cy="388643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97268" y="1681988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0F0E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1078" y="1805798"/>
            <a:ext cx="266730" cy="2667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97268" y="2367788"/>
            <a:ext cx="299715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Admin-Only Scope</a:t>
            </a:r>
            <a:endParaRPr lang="en-US" sz="1575" dirty="0"/>
          </a:p>
        </p:txBody>
      </p:sp>
      <p:sp>
        <p:nvSpPr>
          <p:cNvPr id="17" name="Text 12"/>
          <p:cNvSpPr/>
          <p:nvPr/>
        </p:nvSpPr>
        <p:spPr>
          <a:xfrm>
            <a:off x="4597268" y="2831114"/>
            <a:ext cx="2997159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clinical documentation competition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Shorter sales cycles, simpler compliance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physician-adoption friction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Land-and-expand toward clinical adjacencies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70647" y="1415258"/>
            <a:ext cx="3492398" cy="3924838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70647" y="1453662"/>
            <a:ext cx="3492398" cy="388643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318266" y="1681988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0F0ED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2076" y="1805798"/>
            <a:ext cx="266730" cy="2667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18266" y="2367788"/>
            <a:ext cx="299715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Depth</a:t>
            </a:r>
            <a:endParaRPr lang="en-US" sz="1575" dirty="0"/>
          </a:p>
        </p:txBody>
      </p:sp>
      <p:sp>
        <p:nvSpPr>
          <p:cNvPr id="23" name="Text 17"/>
          <p:cNvSpPr/>
          <p:nvPr/>
        </p:nvSpPr>
        <p:spPr>
          <a:xfrm>
            <a:off x="8318266" y="2831114"/>
            <a:ext cx="2997159" cy="1653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with workflow integration, not AI sophistication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scheduling lifecycle</a:t>
            </a:r>
            <a:endParaRPr lang="en-US" sz="14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4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 outcomes over feature lists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28650" y="5632704"/>
            <a:ext cx="10934395" cy="54864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25" name="Shape 19"/>
          <p:cNvSpPr/>
          <p:nvPr/>
        </p:nvSpPr>
        <p:spPr>
          <a:xfrm>
            <a:off x="683514" y="5632704"/>
            <a:ext cx="10879531" cy="548640"/>
          </a:xfrm>
          <a:prstGeom prst="rect">
            <a:avLst/>
          </a:prstGeom>
          <a:solidFill>
            <a:srgbClr val="E0F0ED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94410" y="5632704"/>
            <a:ext cx="102028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Strategic imperative: Compete on workflow depth and localization, not on clinical AI capabilities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800" y="411480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978408" y="411480"/>
            <a:ext cx="10680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MVP DEFINITION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70408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MVP Audit: P0 Table Stakes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85800" y="2387473"/>
            <a:ext cx="1988454" cy="3200400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5400000" algn="bl" rotWithShape="0">
              <a:srgbClr val="D8DFE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2437765"/>
            <a:ext cx="1988454" cy="3150108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3411" y="2789809"/>
            <a:ext cx="713232" cy="713232"/>
          </a:xfrm>
          <a:prstGeom prst="ellipse">
            <a:avLst/>
          </a:prstGeom>
          <a:solidFill>
            <a:srgbClr val="E0F0ED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4587" y="2960985"/>
            <a:ext cx="370881" cy="3708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5256" y="3722497"/>
            <a:ext cx="154954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Scheduling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05256" y="4207129"/>
            <a:ext cx="1549542" cy="10953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Appointment booking, rescheduling, cancellation via WhatsApp conversation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893710" y="2387473"/>
            <a:ext cx="1988454" cy="3200400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54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893710" y="2437765"/>
            <a:ext cx="1988454" cy="3150108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31321" y="2789809"/>
            <a:ext cx="713232" cy="713232"/>
          </a:xfrm>
          <a:prstGeom prst="ellipse">
            <a:avLst/>
          </a:prstGeom>
          <a:solidFill>
            <a:srgbClr val="E0F0E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2497" y="2960985"/>
            <a:ext cx="370881" cy="37088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13166" y="3722497"/>
            <a:ext cx="154954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Confirmations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113166" y="4207129"/>
            <a:ext cx="1549542" cy="920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reminders and confirmations to reduce 30% no-show rate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101620" y="2387473"/>
            <a:ext cx="1988454" cy="3200400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54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101620" y="2437765"/>
            <a:ext cx="1988454" cy="3150108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739232" y="2789809"/>
            <a:ext cx="713232" cy="713232"/>
          </a:xfrm>
          <a:prstGeom prst="ellipse">
            <a:avLst/>
          </a:prstGeom>
          <a:solidFill>
            <a:srgbClr val="E0F0ED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0407" y="2960985"/>
            <a:ext cx="370881" cy="3708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21076" y="3722497"/>
            <a:ext cx="154954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Intake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21076" y="4207129"/>
            <a:ext cx="1549542" cy="920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Pre-visit form collection eliminating manual data re-entry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309531" y="2387473"/>
            <a:ext cx="1988454" cy="3200400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5400000" algn="bl" rotWithShape="0">
              <a:srgbClr val="D8DFE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09531" y="2437765"/>
            <a:ext cx="1988454" cy="3150108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947142" y="2789809"/>
            <a:ext cx="713232" cy="713232"/>
          </a:xfrm>
          <a:prstGeom prst="ellipse">
            <a:avLst/>
          </a:prstGeom>
          <a:solidFill>
            <a:srgbClr val="E0F0ED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8318" y="2960985"/>
            <a:ext cx="370881" cy="37088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28987" y="3722497"/>
            <a:ext cx="154954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Handoff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528987" y="4207129"/>
            <a:ext cx="1549542" cy="920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escalation to human staff for any clinical question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9517441" y="2387473"/>
            <a:ext cx="1988454" cy="3200400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5400000" algn="bl" rotWithShape="0">
              <a:srgbClr val="D8DFE3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517441" y="2437765"/>
            <a:ext cx="1988454" cy="3150108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10155052" y="2789809"/>
            <a:ext cx="713232" cy="713232"/>
          </a:xfrm>
          <a:prstGeom prst="ellipse">
            <a:avLst/>
          </a:prstGeom>
          <a:solidFill>
            <a:srgbClr val="E0F0ED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26228" y="2960985"/>
            <a:ext cx="370881" cy="37088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736897" y="3722497"/>
            <a:ext cx="154954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 Dashboard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9736897" y="4207129"/>
            <a:ext cx="1549542" cy="744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trail, conversation logs, and analytics for clinic owners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7454" y="393192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950062" y="393192"/>
            <a:ext cx="10588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 ARCHITECTURE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7454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 and Governance Requirements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57454" y="1463040"/>
            <a:ext cx="3499104" cy="4890211"/>
          </a:xfrm>
          <a:prstGeom prst="roundRect">
            <a:avLst>
              <a:gd name="adj" fmla="val 4364"/>
            </a:avLst>
          </a:prstGeom>
          <a:solidFill>
            <a:srgbClr val="EEF2F4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0158" y="1615745"/>
            <a:ext cx="3193694" cy="448056"/>
          </a:xfrm>
          <a:prstGeom prst="roundRect">
            <a:avLst>
              <a:gd name="adj" fmla="val 21224"/>
            </a:avLst>
          </a:prstGeom>
          <a:solidFill>
            <a:srgbClr val="1A7A6D"/>
          </a:solidFill>
          <a:ln/>
        </p:spPr>
      </p:sp>
      <p:sp>
        <p:nvSpPr>
          <p:cNvPr id="8" name="Shape 5"/>
          <p:cNvSpPr/>
          <p:nvPr/>
        </p:nvSpPr>
        <p:spPr>
          <a:xfrm>
            <a:off x="972007" y="1796796"/>
            <a:ext cx="85954" cy="85954"/>
          </a:xfrm>
          <a:prstGeom prst="ellipse">
            <a:avLst/>
          </a:prstGeom>
          <a:solidFill>
            <a:srgbClr val="F8F9FA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02766" y="1615745"/>
            <a:ext cx="280964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10158" y="2197303"/>
            <a:ext cx="3193694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2863" y="2350008"/>
            <a:ext cx="2888285" cy="27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 Management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62863" y="2628900"/>
            <a:ext cx="2888285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opt-in for AI interaction, LGPD data rights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0158" y="3428086"/>
            <a:ext cx="3193694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62863" y="3580790"/>
            <a:ext cx="2888285" cy="27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Access Rights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62863" y="3859682"/>
            <a:ext cx="2888285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Access, correction, deletion, portability under LGPD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46753" y="1463040"/>
            <a:ext cx="3499104" cy="4890211"/>
          </a:xfrm>
          <a:prstGeom prst="roundRect">
            <a:avLst>
              <a:gd name="adj" fmla="val 4364"/>
            </a:avLst>
          </a:prstGeom>
          <a:solidFill>
            <a:srgbClr val="EEF2F4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99458" y="1615745"/>
            <a:ext cx="3193694" cy="448056"/>
          </a:xfrm>
          <a:prstGeom prst="roundRect">
            <a:avLst>
              <a:gd name="adj" fmla="val 21224"/>
            </a:avLst>
          </a:prstGeom>
          <a:solidFill>
            <a:srgbClr val="2E5A8C"/>
          </a:solidFill>
          <a:ln/>
        </p:spPr>
      </p:sp>
      <p:sp>
        <p:nvSpPr>
          <p:cNvPr id="18" name="Shape 15"/>
          <p:cNvSpPr/>
          <p:nvPr/>
        </p:nvSpPr>
        <p:spPr>
          <a:xfrm>
            <a:off x="4661306" y="1796796"/>
            <a:ext cx="85954" cy="85954"/>
          </a:xfrm>
          <a:prstGeom prst="ellipse">
            <a:avLst/>
          </a:prstGeom>
          <a:solidFill>
            <a:srgbClr val="F8F9FA">
              <a:alpha val="8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792066" y="1615745"/>
            <a:ext cx="280964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 Staff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499458" y="2197303"/>
            <a:ext cx="3193694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652162" y="2350008"/>
            <a:ext cx="2888285" cy="27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Override Controls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652162" y="2628900"/>
            <a:ext cx="2888285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can override AI decisions at any point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499458" y="3428086"/>
            <a:ext cx="3193694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652162" y="3580790"/>
            <a:ext cx="2888285" cy="27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 Visibility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652162" y="3859682"/>
            <a:ext cx="2888285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rules: no automation of clinical judgment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036052" y="1463040"/>
            <a:ext cx="3499104" cy="4890211"/>
          </a:xfrm>
          <a:prstGeom prst="roundRect">
            <a:avLst>
              <a:gd name="adj" fmla="val 4364"/>
            </a:avLst>
          </a:prstGeom>
          <a:solidFill>
            <a:srgbClr val="EEF2F4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88757" y="1615745"/>
            <a:ext cx="3193694" cy="448056"/>
          </a:xfrm>
          <a:prstGeom prst="roundRect">
            <a:avLst>
              <a:gd name="adj" fmla="val 21224"/>
            </a:avLst>
          </a:prstGeom>
          <a:solidFill>
            <a:srgbClr val="3DA89A"/>
          </a:solidFill>
          <a:ln/>
        </p:spPr>
      </p:sp>
      <p:sp>
        <p:nvSpPr>
          <p:cNvPr id="28" name="Shape 25"/>
          <p:cNvSpPr/>
          <p:nvPr/>
        </p:nvSpPr>
        <p:spPr>
          <a:xfrm>
            <a:off x="8350606" y="1796796"/>
            <a:ext cx="85954" cy="85954"/>
          </a:xfrm>
          <a:prstGeom prst="ellipse">
            <a:avLst/>
          </a:prstGeom>
          <a:solidFill>
            <a:srgbClr val="F8F9FA">
              <a:alpha val="85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8481365" y="1615745"/>
            <a:ext cx="280964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 Owners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8188757" y="2197303"/>
            <a:ext cx="3193694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341462" y="2350008"/>
            <a:ext cx="2888285" cy="27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8341462" y="2628900"/>
            <a:ext cx="2888285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conversation history for compliance evidence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188757" y="3428086"/>
            <a:ext cx="3193694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341462" y="3580790"/>
            <a:ext cx="2888285" cy="27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Liability Clarity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8341462" y="3859682"/>
            <a:ext cx="2888285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AI vs. human accountability boundaries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28600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228600"/>
            <a:ext cx="10799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DIFFERENTIATION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212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Operating Model and Six Differentiators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557016" cy="2272284"/>
          </a:xfrm>
          <a:prstGeom prst="rect">
            <a:avLst/>
          </a:prstGeom>
          <a:solidFill>
            <a:srgbClr val="1A7A6D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7045" y="1508760"/>
            <a:ext cx="3518611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5645" y="1737360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1A7A6D">
              <a:alpha val="14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5373" y="184708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5645" y="2368296"/>
            <a:ext cx="3061411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Portuguese Healthcare Fluency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5645" y="2752344"/>
            <a:ext cx="3061411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PT medical terminology vs. English-first competitors</a:t>
            </a:r>
            <a:endParaRPr lang="en-US" sz="1360" dirty="0"/>
          </a:p>
        </p:txBody>
      </p:sp>
      <p:sp>
        <p:nvSpPr>
          <p:cNvPr id="12" name="Shape 8"/>
          <p:cNvSpPr/>
          <p:nvPr/>
        </p:nvSpPr>
        <p:spPr>
          <a:xfrm>
            <a:off x="4315968" y="1508760"/>
            <a:ext cx="3557016" cy="2272284"/>
          </a:xfrm>
          <a:prstGeom prst="rect">
            <a:avLst/>
          </a:prstGeom>
          <a:solidFill>
            <a:srgbClr val="2E5A8C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54373" y="1508760"/>
            <a:ext cx="3518611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82973" y="1737360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2E5A8C">
              <a:alpha val="14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701" y="184708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82973" y="2368296"/>
            <a:ext cx="3061411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WhatsApp-Native UX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82973" y="2752344"/>
            <a:ext cx="3061411" cy="673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where patients already are vs. web/app-only tools</a:t>
            </a:r>
            <a:endParaRPr lang="en-US" sz="1360" dirty="0"/>
          </a:p>
        </p:txBody>
      </p:sp>
      <p:sp>
        <p:nvSpPr>
          <p:cNvPr id="18" name="Shape 13"/>
          <p:cNvSpPr/>
          <p:nvPr/>
        </p:nvSpPr>
        <p:spPr>
          <a:xfrm>
            <a:off x="8083296" y="1508760"/>
            <a:ext cx="3557016" cy="2272284"/>
          </a:xfrm>
          <a:prstGeom prst="rect">
            <a:avLst/>
          </a:prstGeom>
          <a:solidFill>
            <a:srgbClr val="3DA89A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21701" y="1508760"/>
            <a:ext cx="3518611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350301" y="1737360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3DA89A">
              <a:alpha val="14000"/>
            </a:srgbClr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60029" y="184708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50301" y="2368296"/>
            <a:ext cx="3061411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Administrative-Only Scope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350301" y="2752344"/>
            <a:ext cx="3061411" cy="673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clinical documentation vs. ambient scribes and EHR modules</a:t>
            </a:r>
            <a:endParaRPr lang="en-US" sz="1360" dirty="0"/>
          </a:p>
        </p:txBody>
      </p:sp>
      <p:sp>
        <p:nvSpPr>
          <p:cNvPr id="24" name="Shape 18"/>
          <p:cNvSpPr/>
          <p:nvPr/>
        </p:nvSpPr>
        <p:spPr>
          <a:xfrm>
            <a:off x="548640" y="3991356"/>
            <a:ext cx="3557016" cy="2272284"/>
          </a:xfrm>
          <a:prstGeom prst="rect">
            <a:avLst/>
          </a:prstGeom>
          <a:solidFill>
            <a:srgbClr val="5B8AB8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7045" y="3991356"/>
            <a:ext cx="3518611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15645" y="4219956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5B8AB8">
              <a:alpha val="14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5373" y="432968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15645" y="4850892"/>
            <a:ext cx="3061411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Sub-60s Handoff SLA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15645" y="5234940"/>
            <a:ext cx="3061411" cy="673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Guaranteed human escalation vs. chatbots without escalation path</a:t>
            </a:r>
            <a:endParaRPr lang="en-US" sz="1360" dirty="0"/>
          </a:p>
        </p:txBody>
      </p:sp>
      <p:sp>
        <p:nvSpPr>
          <p:cNvPr id="30" name="Shape 23"/>
          <p:cNvSpPr/>
          <p:nvPr/>
        </p:nvSpPr>
        <p:spPr>
          <a:xfrm>
            <a:off x="4315968" y="3991356"/>
            <a:ext cx="3557016" cy="2272284"/>
          </a:xfrm>
          <a:prstGeom prst="rect">
            <a:avLst/>
          </a:prstGeom>
          <a:solidFill>
            <a:srgbClr val="0F5C53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354373" y="3991356"/>
            <a:ext cx="3518611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582973" y="4219956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0F5C53">
              <a:alpha val="14000"/>
            </a:srgbClr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2701" y="432968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582973" y="4850892"/>
            <a:ext cx="3061411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Conversation Auditability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4582973" y="5234940"/>
            <a:ext cx="3061411" cy="673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interaction logged and traceable vs. black-box AI systems</a:t>
            </a:r>
            <a:endParaRPr lang="en-US" sz="1360" dirty="0"/>
          </a:p>
        </p:txBody>
      </p:sp>
      <p:sp>
        <p:nvSpPr>
          <p:cNvPr id="36" name="Shape 28"/>
          <p:cNvSpPr/>
          <p:nvPr/>
        </p:nvSpPr>
        <p:spPr>
          <a:xfrm>
            <a:off x="8083296" y="3991356"/>
            <a:ext cx="3557016" cy="2272284"/>
          </a:xfrm>
          <a:prstGeom prst="rect">
            <a:avLst/>
          </a:prstGeom>
          <a:solidFill>
            <a:srgbClr val="1C4468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121701" y="3991356"/>
            <a:ext cx="3518611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350301" y="4219956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1C4468">
              <a:alpha val="14000"/>
            </a:srgbClr>
          </a:solidFill>
          <a:ln/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60029" y="4329684"/>
            <a:ext cx="256032" cy="25603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350301" y="4850892"/>
            <a:ext cx="3061411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LGPD-by-Design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8350301" y="5234940"/>
            <a:ext cx="3061411" cy="673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Brazilian data protection vs. HIPAA-only compliance models</a:t>
            </a:r>
            <a:endParaRPr lang="en-US" sz="1360" dirty="0"/>
          </a:p>
        </p:txBody>
      </p:sp>
      <p:sp>
        <p:nvSpPr>
          <p:cNvPr id="42" name="Text 33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28650" y="377922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921258" y="377922"/>
            <a:ext cx="106417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8650" y="670530"/>
            <a:ext cx="10934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Positioning and Messaging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28650" y="1415258"/>
            <a:ext cx="5343388" cy="3924838"/>
          </a:xfrm>
          <a:prstGeom prst="roundRect">
            <a:avLst>
              <a:gd name="adj" fmla="val 3099"/>
            </a:avLst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  <a:effectLst>
            <a:outerShdw blurRad="76200" dist="25400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1701008"/>
            <a:ext cx="495330" cy="495330"/>
          </a:xfrm>
          <a:prstGeom prst="roundRect">
            <a:avLst>
              <a:gd name="adj" fmla="val 23076"/>
            </a:avLst>
          </a:prstGeom>
          <a:solidFill>
            <a:srgbClr val="E0F0ED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455" y="1820062"/>
            <a:ext cx="257221" cy="2572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62161" y="1701008"/>
            <a:ext cx="4124127" cy="495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Message Framework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914400" y="2405736"/>
            <a:ext cx="4771888" cy="742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80"/>
              </a:spcAft>
              <a:buNone/>
            </a:pPr>
            <a:r>
              <a:rPr lang="en-US" sz="1500" b="1" dirty="0">
                <a:solidFill>
                  <a:srgbClr val="1A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message:</a:t>
            </a:r>
            <a:r>
              <a:rPr lang="en-US" sz="15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"Your AI receptionist for scheduling, confirmations, and intake on WhatsApp"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333156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2200" y="3240126"/>
            <a:ext cx="4594088" cy="285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Efficiency:</a:t>
            </a:r>
            <a:r>
              <a:rPr lang="en-US" sz="15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Reduce no-shows by up to 30%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0120" y="3617316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2200" y="3525876"/>
            <a:ext cx="4594088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Trust:</a:t>
            </a:r>
            <a:r>
              <a:rPr lang="en-US" sz="15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 conversation logged, every escalation instant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120" y="4131666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2200" y="4040226"/>
            <a:ext cx="4594088" cy="285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Compliance:</a:t>
            </a:r>
            <a:r>
              <a:rPr lang="en-US" sz="15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LGPD-ready from day one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6219657" y="1415258"/>
            <a:ext cx="5343388" cy="3924838"/>
          </a:xfrm>
          <a:prstGeom prst="roundRect">
            <a:avLst>
              <a:gd name="adj" fmla="val 3099"/>
            </a:avLst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  <a:effectLst>
            <a:outerShdw blurRad="76200" dist="25400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6505407" y="1701008"/>
            <a:ext cx="495330" cy="495330"/>
          </a:xfrm>
          <a:prstGeom prst="roundRect">
            <a:avLst>
              <a:gd name="adj" fmla="val 23076"/>
            </a:avLst>
          </a:prstGeom>
          <a:solidFill>
            <a:srgbClr val="E0F0ED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4462" y="1820062"/>
            <a:ext cx="257221" cy="25722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153168" y="1701008"/>
            <a:ext cx="4124127" cy="495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Messaging Guardrails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6505407" y="2405736"/>
            <a:ext cx="4771888" cy="1428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5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use "diagnosis" or "clinical AI"</a:t>
            </a:r>
            <a:endParaRPr lang="en-US" sz="15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5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"replaces your staff" framing</a:t>
            </a:r>
            <a:endParaRPr lang="en-US" sz="15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5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medical advice or triage claims</a:t>
            </a:r>
            <a:endParaRPr lang="en-US" sz="15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5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 as assistant, not replacement</a:t>
            </a:r>
            <a:endParaRPr lang="en-US" sz="1500" dirty="0"/>
          </a:p>
          <a:p>
            <a:pPr marL="177800" indent="-177800" algn="l">
              <a:spcAft>
                <a:spcPts val="480"/>
              </a:spcAft>
              <a:buSzPct val="100000"/>
              <a:buChar char="•"/>
            </a:pPr>
            <a:r>
              <a:rPr lang="en-US" sz="15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Emphasize human oversight always present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628650" y="5632704"/>
            <a:ext cx="10934395" cy="54864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23" name="Shape 15"/>
          <p:cNvSpPr/>
          <p:nvPr/>
        </p:nvSpPr>
        <p:spPr>
          <a:xfrm>
            <a:off x="683514" y="5632704"/>
            <a:ext cx="10879531" cy="548640"/>
          </a:xfrm>
          <a:prstGeom prst="rect">
            <a:avLst/>
          </a:prstGeom>
          <a:solidFill>
            <a:srgbClr val="E0F0ED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994410" y="5632704"/>
            <a:ext cx="102028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Tagline: "So your team focuses on care, not calls"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800" y="393192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978408" y="393192"/>
            <a:ext cx="7022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MONETIZATION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Monetization and Pricing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7006" y="2800350"/>
            <a:ext cx="2282342" cy="2171700"/>
          </a:xfrm>
          <a:prstGeom prst="rect">
            <a:avLst/>
          </a:prstGeom>
          <a:solidFill>
            <a:srgbClr val="1A7A6D"/>
          </a:solidFill>
          <a:ln/>
          <a:effectLst>
            <a:outerShdw blurRad="67729" dist="16929" dir="5400000" algn="bl" rotWithShape="0">
              <a:srgbClr val="D8DFE3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7006" y="2836926"/>
            <a:ext cx="2282342" cy="213512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8174" y="3038094"/>
            <a:ext cx="18800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38174" y="3403854"/>
            <a:ext cx="1880006" cy="5669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R$297–497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38174" y="4043934"/>
            <a:ext cx="1880006" cy="7269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practitioner, up to 200 patients/month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2229" y="2800350"/>
            <a:ext cx="2282342" cy="2171700"/>
          </a:xfrm>
          <a:prstGeom prst="rect">
            <a:avLst/>
          </a:prstGeom>
          <a:solidFill>
            <a:srgbClr val="2E5A8C"/>
          </a:solidFill>
          <a:ln/>
          <a:effectLst>
            <a:outerShdw blurRad="67729" dist="16929" dir="5400000" algn="bl" rotWithShape="0">
              <a:srgbClr val="D8DFE3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2229" y="2836926"/>
            <a:ext cx="2282342" cy="213512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03397" y="3038094"/>
            <a:ext cx="18800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E5A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03397" y="3403854"/>
            <a:ext cx="1880006" cy="5669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R$897–1,497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403397" y="4043934"/>
            <a:ext cx="1880006" cy="7269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clinic (3–5 doctors), up to 800 patients/month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7451" y="2800350"/>
            <a:ext cx="2282342" cy="2171700"/>
          </a:xfrm>
          <a:prstGeom prst="rect">
            <a:avLst/>
          </a:prstGeom>
          <a:solidFill>
            <a:srgbClr val="3DA89A"/>
          </a:solidFill>
          <a:ln/>
          <a:effectLst>
            <a:outerShdw blurRad="67729" dist="16929" dir="5400000" algn="bl" rotWithShape="0">
              <a:srgbClr val="D8DFE3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7451" y="2836926"/>
            <a:ext cx="2282342" cy="213512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68619" y="3038094"/>
            <a:ext cx="18800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3DA8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68619" y="3403854"/>
            <a:ext cx="1880006" cy="5669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R$1,997+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868619" y="4043934"/>
            <a:ext cx="1880006" cy="7269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clinic, custom volume and integrations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E0F0ED"/>
          </a:solidFill>
          <a:ln/>
        </p:spPr>
      </p:sp>
      <p:sp>
        <p:nvSpPr>
          <p:cNvPr id="22" name="Shape 19"/>
          <p:cNvSpPr/>
          <p:nvPr/>
        </p:nvSpPr>
        <p:spPr>
          <a:xfrm>
            <a:off x="9010498" y="1923466"/>
            <a:ext cx="571500" cy="38405"/>
          </a:xfrm>
          <a:prstGeom prst="roundRect">
            <a:avLst>
              <a:gd name="adj" fmla="val 50000"/>
            </a:avLst>
          </a:prstGeom>
          <a:solidFill>
            <a:srgbClr val="1A7A6D"/>
          </a:solidFill>
          <a:ln/>
        </p:spPr>
      </p:sp>
      <p:sp>
        <p:nvSpPr>
          <p:cNvPr id="23" name="Text 20"/>
          <p:cNvSpPr/>
          <p:nvPr/>
        </p:nvSpPr>
        <p:spPr>
          <a:xfrm>
            <a:off x="9010498" y="2171268"/>
            <a:ext cx="2743200" cy="349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 Plan</a:t>
            </a:r>
            <a:endParaRPr lang="en-US" sz="22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0498" y="2758262"/>
            <a:ext cx="329184" cy="32918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522562" y="2758262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30-day cohort validation per tier</a:t>
            </a:r>
            <a:endParaRPr lang="en-US" sz="12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0498" y="3343478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522562" y="334347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Benchmark: R$2-3K/month secretary cost</a:t>
            </a:r>
            <a:endParaRPr lang="en-US" sz="12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0498" y="3928694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522562" y="3928694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10-20% of secretary cost savings</a:t>
            </a:r>
            <a:endParaRPr lang="en-US" sz="12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10498" y="4513910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22562" y="4513910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subscription, no long-term lock-in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800" y="393192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978408" y="393192"/>
            <a:ext cx="7022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MONETIZATION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WhatsApp Economics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7006" y="2800350"/>
            <a:ext cx="2282342" cy="2171700"/>
          </a:xfrm>
          <a:prstGeom prst="rect">
            <a:avLst/>
          </a:prstGeom>
          <a:solidFill>
            <a:srgbClr val="1A7A6D"/>
          </a:solidFill>
          <a:ln/>
          <a:effectLst>
            <a:outerShdw blurRad="67729" dist="16929" dir="8100000" algn="bl" rotWithShape="0">
              <a:srgbClr val="D8DFE3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7006" y="2836926"/>
            <a:ext cx="2282342" cy="213512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8174" y="303809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A7A6D">
              <a:alpha val="14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9614" y="312953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8174" y="3586734"/>
            <a:ext cx="1880006" cy="5029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~$0.005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938174" y="4144518"/>
            <a:ext cx="1880006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 conversation cost (Meta API, Brazil)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2229" y="2800350"/>
            <a:ext cx="2282342" cy="2171700"/>
          </a:xfrm>
          <a:prstGeom prst="rect">
            <a:avLst/>
          </a:prstGeom>
          <a:solidFill>
            <a:srgbClr val="2E5A8C"/>
          </a:solidFill>
          <a:ln/>
          <a:effectLst>
            <a:outerShdw blurRad="67729" dist="16929" dir="8100000" algn="bl" rotWithShape="0">
              <a:srgbClr val="D8DFE3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2229" y="2836926"/>
            <a:ext cx="2282342" cy="213512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03397" y="303809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E5A8C">
              <a:alpha val="14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4837" y="312953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03397" y="3586734"/>
            <a:ext cx="1880006" cy="5029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~$0.0625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3403397" y="4144518"/>
            <a:ext cx="1880006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conversation cost (Meta API)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667451" y="2800350"/>
            <a:ext cx="2282342" cy="2171700"/>
          </a:xfrm>
          <a:prstGeom prst="rect">
            <a:avLst/>
          </a:prstGeom>
          <a:solidFill>
            <a:srgbClr val="3DA89A"/>
          </a:solidFill>
          <a:ln/>
          <a:effectLst>
            <a:outerShdw blurRad="67729" dist="16929" dir="8100000" algn="bl" rotWithShape="0">
              <a:srgbClr val="D8DFE3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667451" y="2836926"/>
            <a:ext cx="2282342" cy="213512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68619" y="303809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3DA89A">
              <a:alpha val="14000"/>
            </a:srgbClr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0059" y="312953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68619" y="3586734"/>
            <a:ext cx="1880006" cy="5029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R$15–40</a:t>
            </a:r>
            <a:endParaRPr lang="en-US" sz="2300" dirty="0"/>
          </a:p>
        </p:txBody>
      </p:sp>
      <p:sp>
        <p:nvSpPr>
          <p:cNvPr id="23" name="Text 17"/>
          <p:cNvSpPr/>
          <p:nvPr/>
        </p:nvSpPr>
        <p:spPr>
          <a:xfrm>
            <a:off x="5868619" y="4144518"/>
            <a:ext cx="1880006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monthly messaging cost per clinic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E0F0ED"/>
          </a:solidFill>
          <a:ln/>
        </p:spPr>
      </p:sp>
      <p:sp>
        <p:nvSpPr>
          <p:cNvPr id="25" name="Shape 19"/>
          <p:cNvSpPr/>
          <p:nvPr/>
        </p:nvSpPr>
        <p:spPr>
          <a:xfrm>
            <a:off x="9010498" y="1569834"/>
            <a:ext cx="571500" cy="38405"/>
          </a:xfrm>
          <a:prstGeom prst="roundRect">
            <a:avLst>
              <a:gd name="adj" fmla="val 50000"/>
            </a:avLst>
          </a:prstGeom>
          <a:solidFill>
            <a:srgbClr val="1A7A6D"/>
          </a:solidFill>
          <a:ln/>
        </p:spPr>
      </p:sp>
      <p:sp>
        <p:nvSpPr>
          <p:cNvPr id="26" name="Text 20"/>
          <p:cNvSpPr/>
          <p:nvPr/>
        </p:nvSpPr>
        <p:spPr>
          <a:xfrm>
            <a:off x="9010498" y="1817637"/>
            <a:ext cx="2743200" cy="9193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Optimization Levers</a:t>
            </a:r>
            <a:endParaRPr lang="en-US" sz="25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56218" y="2837574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88298" y="2773566"/>
            <a:ext cx="2565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Maximize 24-hour session windows to reduce per-conversation charges</a:t>
            </a:r>
            <a:endParaRPr lang="en-US" sz="12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56218" y="3431934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88298" y="3367926"/>
            <a:ext cx="2565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 template messages for confirmations (lower cost tier)</a:t>
            </a:r>
            <a:endParaRPr lang="en-US" sz="12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56218" y="3843414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188298" y="3779406"/>
            <a:ext cx="2565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200 patients/month × 2.5 avg conversations: messaging cost well within Tier 1 margin</a:t>
            </a:r>
            <a:endParaRPr lang="en-US" sz="12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56218" y="4437774"/>
            <a:ext cx="164592" cy="16459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188298" y="4373766"/>
            <a:ext cx="2565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free-form vs. template ratio to control variable costs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800" y="411480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978408" y="411480"/>
            <a:ext cx="10680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70408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LGPD Obligations and Risk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85800" y="2387473"/>
            <a:ext cx="1988454" cy="3200400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5400000" algn="bl" rotWithShape="0">
              <a:srgbClr val="D8DFE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2437765"/>
            <a:ext cx="1988454" cy="3150108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3411" y="2789809"/>
            <a:ext cx="713232" cy="713232"/>
          </a:xfrm>
          <a:prstGeom prst="ellipse">
            <a:avLst/>
          </a:prstGeom>
          <a:solidFill>
            <a:srgbClr val="E0F0ED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4587" y="2960985"/>
            <a:ext cx="370881" cy="3708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5256" y="3722497"/>
            <a:ext cx="154954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Lawful Basis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05256" y="4207129"/>
            <a:ext cx="1549542" cy="920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consent required for health data processing (Art. 11)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893710" y="2387473"/>
            <a:ext cx="1988454" cy="3200400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54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893710" y="2437765"/>
            <a:ext cx="1988454" cy="3150108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31321" y="2789809"/>
            <a:ext cx="713232" cy="713232"/>
          </a:xfrm>
          <a:prstGeom prst="ellipse">
            <a:avLst/>
          </a:prstGeom>
          <a:solidFill>
            <a:srgbClr val="E0F0E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2497" y="2960985"/>
            <a:ext cx="370881" cy="37088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13166" y="3722497"/>
            <a:ext cx="154954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Subject Rights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113166" y="4207129"/>
            <a:ext cx="1549542" cy="920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Access, correction, deletion, portability for all patient data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101620" y="2387473"/>
            <a:ext cx="1988454" cy="3200400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54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101620" y="2437765"/>
            <a:ext cx="1988454" cy="3150108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739232" y="2789809"/>
            <a:ext cx="713232" cy="713232"/>
          </a:xfrm>
          <a:prstGeom prst="ellipse">
            <a:avLst/>
          </a:prstGeom>
          <a:solidFill>
            <a:srgbClr val="E0F0ED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0407" y="2960985"/>
            <a:ext cx="370881" cy="3708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21076" y="3722497"/>
            <a:ext cx="154954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Breach Notification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21076" y="4207129"/>
            <a:ext cx="1549542" cy="744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72-hour notification to ANPD upon security incident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309531" y="2387473"/>
            <a:ext cx="1988454" cy="3200400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5400000" algn="bl" rotWithShape="0">
              <a:srgbClr val="D8DFE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09531" y="2437765"/>
            <a:ext cx="1988454" cy="3150108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947142" y="2789809"/>
            <a:ext cx="713232" cy="713232"/>
          </a:xfrm>
          <a:prstGeom prst="ellipse">
            <a:avLst/>
          </a:prstGeom>
          <a:solidFill>
            <a:srgbClr val="E0F0ED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8318" y="2960985"/>
            <a:ext cx="370881" cy="37088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28987" y="3722497"/>
            <a:ext cx="154954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Assessment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528987" y="4207129"/>
            <a:ext cx="1549542" cy="920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DPIA mandatory for sensitive health data processing activities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9517441" y="2387473"/>
            <a:ext cx="1988454" cy="3200400"/>
          </a:xfrm>
          <a:prstGeom prst="rect">
            <a:avLst/>
          </a:prstGeom>
          <a:solidFill>
            <a:srgbClr val="1A7A6D"/>
          </a:solidFill>
          <a:ln/>
          <a:effectLst>
            <a:outerShdw blurRad="76200" dist="25400" dir="5400000" algn="bl" rotWithShape="0">
              <a:srgbClr val="D8DFE3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517441" y="2437765"/>
            <a:ext cx="1988454" cy="3150108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10155052" y="2789809"/>
            <a:ext cx="713232" cy="713232"/>
          </a:xfrm>
          <a:prstGeom prst="ellipse">
            <a:avLst/>
          </a:prstGeom>
          <a:solidFill>
            <a:srgbClr val="E0F0ED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26228" y="2960985"/>
            <a:ext cx="370881" cy="37088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736897" y="3722497"/>
            <a:ext cx="154954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Transfer Rules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9736897" y="4207129"/>
            <a:ext cx="1549542" cy="744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Adequacy decisions or SCCs for international transfers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7454" y="393192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950062" y="393192"/>
            <a:ext cx="10588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7454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Compliance Checklist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57454" y="1463040"/>
            <a:ext cx="2576779" cy="4890211"/>
          </a:xfrm>
          <a:prstGeom prst="roundRect">
            <a:avLst>
              <a:gd name="adj" fmla="val 5926"/>
            </a:avLst>
          </a:prstGeom>
          <a:solidFill>
            <a:srgbClr val="EEF2F4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0158" y="1615745"/>
            <a:ext cx="2271370" cy="448056"/>
          </a:xfrm>
          <a:prstGeom prst="roundRect">
            <a:avLst>
              <a:gd name="adj" fmla="val 21224"/>
            </a:avLst>
          </a:prstGeom>
          <a:solidFill>
            <a:srgbClr val="1A7A6D"/>
          </a:solidFill>
          <a:ln/>
        </p:spPr>
      </p:sp>
      <p:sp>
        <p:nvSpPr>
          <p:cNvPr id="8" name="Shape 5"/>
          <p:cNvSpPr/>
          <p:nvPr/>
        </p:nvSpPr>
        <p:spPr>
          <a:xfrm>
            <a:off x="972007" y="1796796"/>
            <a:ext cx="85954" cy="85954"/>
          </a:xfrm>
          <a:prstGeom prst="ellipse">
            <a:avLst/>
          </a:prstGeom>
          <a:solidFill>
            <a:srgbClr val="F8F9FA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02766" y="1615745"/>
            <a:ext cx="188732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Response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0158" y="2197303"/>
            <a:ext cx="2271370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2863" y="2350008"/>
            <a:ext cx="1965960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ANPD Notification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2863" y="2621280"/>
            <a:ext cx="1965960" cy="520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72-hour breach notification protocol documented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0158" y="3428086"/>
            <a:ext cx="2271370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62863" y="3580790"/>
            <a:ext cx="1965960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Breach Register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2863" y="3852062"/>
            <a:ext cx="1965960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log with patient notification procedures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24428" y="1463040"/>
            <a:ext cx="2576779" cy="4890211"/>
          </a:xfrm>
          <a:prstGeom prst="roundRect">
            <a:avLst>
              <a:gd name="adj" fmla="val 5926"/>
            </a:avLst>
          </a:prstGeom>
          <a:solidFill>
            <a:srgbClr val="EEF2F4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77133" y="1615745"/>
            <a:ext cx="2271370" cy="448056"/>
          </a:xfrm>
          <a:prstGeom prst="roundRect">
            <a:avLst>
              <a:gd name="adj" fmla="val 21224"/>
            </a:avLst>
          </a:prstGeom>
          <a:solidFill>
            <a:srgbClr val="2E5A8C"/>
          </a:solidFill>
          <a:ln/>
        </p:spPr>
      </p:sp>
      <p:sp>
        <p:nvSpPr>
          <p:cNvPr id="18" name="Shape 15"/>
          <p:cNvSpPr/>
          <p:nvPr/>
        </p:nvSpPr>
        <p:spPr>
          <a:xfrm>
            <a:off x="3738982" y="1796796"/>
            <a:ext cx="85954" cy="85954"/>
          </a:xfrm>
          <a:prstGeom prst="ellipse">
            <a:avLst/>
          </a:prstGeom>
          <a:solidFill>
            <a:srgbClr val="F8F9FA">
              <a:alpha val="8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869741" y="1615745"/>
            <a:ext cx="188732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Transfer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577133" y="2197303"/>
            <a:ext cx="2271370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729838" y="2350008"/>
            <a:ext cx="1965960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Brazil Hosting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29838" y="2621280"/>
            <a:ext cx="1965960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hosted in Brazil or SCCs in place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577133" y="3428086"/>
            <a:ext cx="2271370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729838" y="3580790"/>
            <a:ext cx="1965960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Flow Map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729838" y="3852062"/>
            <a:ext cx="1965960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flow documentation for Meta API integration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191402" y="1463040"/>
            <a:ext cx="2576779" cy="4890211"/>
          </a:xfrm>
          <a:prstGeom prst="roundRect">
            <a:avLst>
              <a:gd name="adj" fmla="val 5926"/>
            </a:avLst>
          </a:prstGeom>
          <a:solidFill>
            <a:srgbClr val="EEF2F4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44107" y="1615745"/>
            <a:ext cx="2271370" cy="448056"/>
          </a:xfrm>
          <a:prstGeom prst="roundRect">
            <a:avLst>
              <a:gd name="adj" fmla="val 21224"/>
            </a:avLst>
          </a:prstGeom>
          <a:solidFill>
            <a:srgbClr val="3DA89A"/>
          </a:solidFill>
          <a:ln/>
        </p:spPr>
      </p:sp>
      <p:sp>
        <p:nvSpPr>
          <p:cNvPr id="28" name="Shape 25"/>
          <p:cNvSpPr/>
          <p:nvPr/>
        </p:nvSpPr>
        <p:spPr>
          <a:xfrm>
            <a:off x="6505956" y="1796796"/>
            <a:ext cx="85954" cy="85954"/>
          </a:xfrm>
          <a:prstGeom prst="ellipse">
            <a:avLst/>
          </a:prstGeom>
          <a:solidFill>
            <a:srgbClr val="F8F9FA">
              <a:alpha val="85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636715" y="1615745"/>
            <a:ext cx="188732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Controls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344107" y="2197303"/>
            <a:ext cx="2271370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496812" y="2350008"/>
            <a:ext cx="1965960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96812" y="2621280"/>
            <a:ext cx="1965960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AES-256 at rest, TLS 1.3 in transit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344107" y="3428086"/>
            <a:ext cx="2271370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496812" y="3580790"/>
            <a:ext cx="1965960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496812" y="3852062"/>
            <a:ext cx="1965960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with audit logging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958377" y="1463040"/>
            <a:ext cx="2576779" cy="4890211"/>
          </a:xfrm>
          <a:prstGeom prst="roundRect">
            <a:avLst>
              <a:gd name="adj" fmla="val 5926"/>
            </a:avLst>
          </a:prstGeom>
          <a:solidFill>
            <a:srgbClr val="EEF2F4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111082" y="1615745"/>
            <a:ext cx="2271370" cy="448056"/>
          </a:xfrm>
          <a:prstGeom prst="roundRect">
            <a:avLst>
              <a:gd name="adj" fmla="val 21224"/>
            </a:avLst>
          </a:prstGeom>
          <a:solidFill>
            <a:srgbClr val="1C4468"/>
          </a:solidFill>
          <a:ln/>
        </p:spPr>
      </p:sp>
      <p:sp>
        <p:nvSpPr>
          <p:cNvPr id="38" name="Shape 35"/>
          <p:cNvSpPr/>
          <p:nvPr/>
        </p:nvSpPr>
        <p:spPr>
          <a:xfrm>
            <a:off x="9272930" y="1796796"/>
            <a:ext cx="85954" cy="85954"/>
          </a:xfrm>
          <a:prstGeom prst="ellipse">
            <a:avLst/>
          </a:prstGeom>
          <a:solidFill>
            <a:srgbClr val="F8F9FA">
              <a:alpha val="85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9403690" y="1615745"/>
            <a:ext cx="188732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9111082" y="2197303"/>
            <a:ext cx="2271370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9263786" y="2350008"/>
            <a:ext cx="1965960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DPO Appointed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9263786" y="2621280"/>
            <a:ext cx="1965960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Protection Officer designated and registered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9111082" y="3428086"/>
            <a:ext cx="2271370" cy="109728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 w="12700">
            <a:solidFill>
              <a:srgbClr val="D8DFE3"/>
            </a:solidFill>
            <a:prstDash val="solid"/>
          </a:ln>
          <a:effectLst>
            <a:outerShdw blurRad="50800" dist="16929" dir="5400000" algn="bl" rotWithShape="0">
              <a:srgbClr val="D8DFE3">
                <a:alpha val="6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9263786" y="3580790"/>
            <a:ext cx="1965960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Training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9263786" y="3852062"/>
            <a:ext cx="1965960" cy="520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training documentation for all personnel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9905" y="301752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902513" y="301752"/>
            <a:ext cx="10680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ROADMAP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905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Roadmap: Now, Next, Later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09905" y="2272284"/>
            <a:ext cx="10972800" cy="27432"/>
          </a:xfrm>
          <a:prstGeom prst="rect">
            <a:avLst/>
          </a:prstGeom>
          <a:solidFill>
            <a:srgbClr val="D8DFE3"/>
          </a:solidFill>
          <a:ln/>
        </p:spPr>
      </p:sp>
      <p:sp>
        <p:nvSpPr>
          <p:cNvPr id="7" name="Shape 4"/>
          <p:cNvSpPr/>
          <p:nvPr/>
        </p:nvSpPr>
        <p:spPr>
          <a:xfrm>
            <a:off x="839876" y="3127248"/>
            <a:ext cx="3063240" cy="192024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8" name="Shape 5"/>
          <p:cNvSpPr/>
          <p:nvPr/>
        </p:nvSpPr>
        <p:spPr>
          <a:xfrm>
            <a:off x="839876" y="3172968"/>
            <a:ext cx="3063240" cy="1874520"/>
          </a:xfrm>
          <a:prstGeom prst="rect">
            <a:avLst/>
          </a:prstGeom>
          <a:solidFill>
            <a:srgbClr val="EEF2F4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6180" y="3319272"/>
            <a:ext cx="2770632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Validation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86180" y="3909060"/>
            <a:ext cx="2770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scheduling, confirmations, intake, handoff — 10 pilot clinics with LGPD infrastructure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70551" y="2688336"/>
            <a:ext cx="1201890" cy="292608"/>
          </a:xfrm>
          <a:prstGeom prst="roundRect">
            <a:avLst>
              <a:gd name="adj" fmla="val 50000"/>
            </a:avLst>
          </a:prstGeom>
          <a:solidFill>
            <a:srgbClr val="1A7A6D">
              <a:alpha val="14000"/>
            </a:srgbClr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70551" y="2688336"/>
            <a:ext cx="120189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NOW: 0–6 MO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15464" y="2029968"/>
            <a:ext cx="512064" cy="512064"/>
          </a:xfrm>
          <a:prstGeom prst="ellipse">
            <a:avLst/>
          </a:prstGeom>
          <a:solidFill>
            <a:srgbClr val="1A7A6D"/>
          </a:solidFill>
          <a:ln w="50800">
            <a:solidFill>
              <a:srgbClr val="F8F9FA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4336" y="2148840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564228" y="3127248"/>
            <a:ext cx="3063240" cy="1920240"/>
          </a:xfrm>
          <a:prstGeom prst="rect">
            <a:avLst/>
          </a:prstGeom>
          <a:solidFill>
            <a:srgbClr val="2E5A8C"/>
          </a:solidFill>
          <a:ln/>
        </p:spPr>
      </p:sp>
      <p:sp>
        <p:nvSpPr>
          <p:cNvPr id="16" name="Shape 12"/>
          <p:cNvSpPr/>
          <p:nvPr/>
        </p:nvSpPr>
        <p:spPr>
          <a:xfrm>
            <a:off x="4564228" y="3172968"/>
            <a:ext cx="3063240" cy="1874520"/>
          </a:xfrm>
          <a:prstGeom prst="rect">
            <a:avLst/>
          </a:prstGeom>
          <a:solidFill>
            <a:srgbClr val="EEF2F4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10532" y="3319272"/>
            <a:ext cx="2770632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Expansion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710532" y="3909060"/>
            <a:ext cx="2770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Insurance pre-auth, multi-provider scheduling, CMS integrations — scale to 100 clinics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40618" y="2688336"/>
            <a:ext cx="1310460" cy="292608"/>
          </a:xfrm>
          <a:prstGeom prst="roundRect">
            <a:avLst>
              <a:gd name="adj" fmla="val 50000"/>
            </a:avLst>
          </a:prstGeom>
          <a:solidFill>
            <a:srgbClr val="2E5A8C">
              <a:alpha val="14000"/>
            </a:srgbClr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40618" y="2688336"/>
            <a:ext cx="131046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6–12 MO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39816" y="2029968"/>
            <a:ext cx="512064" cy="512064"/>
          </a:xfrm>
          <a:prstGeom prst="ellipse">
            <a:avLst/>
          </a:prstGeom>
          <a:solidFill>
            <a:srgbClr val="2E5A8C"/>
          </a:solidFill>
          <a:ln w="50800">
            <a:solidFill>
              <a:srgbClr val="F8F9FA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8688" y="2148840"/>
            <a:ext cx="274320" cy="2743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88579" y="3127248"/>
            <a:ext cx="3063240" cy="1920240"/>
          </a:xfrm>
          <a:prstGeom prst="rect">
            <a:avLst/>
          </a:prstGeom>
          <a:solidFill>
            <a:srgbClr val="3DA89A"/>
          </a:solidFill>
          <a:ln/>
        </p:spPr>
      </p:sp>
      <p:sp>
        <p:nvSpPr>
          <p:cNvPr id="24" name="Shape 19"/>
          <p:cNvSpPr/>
          <p:nvPr/>
        </p:nvSpPr>
        <p:spPr>
          <a:xfrm>
            <a:off x="8288579" y="3172968"/>
            <a:ext cx="3063240" cy="1874520"/>
          </a:xfrm>
          <a:prstGeom prst="rect">
            <a:avLst/>
          </a:prstGeom>
          <a:solidFill>
            <a:srgbClr val="EEF2F4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434883" y="3319272"/>
            <a:ext cx="2770632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Evolution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8434883" y="3909060"/>
            <a:ext cx="2770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reminders, referral coordination, analytics dashboard, clinical-adjacent features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9085848" y="2688336"/>
            <a:ext cx="1468701" cy="292608"/>
          </a:xfrm>
          <a:prstGeom prst="roundRect">
            <a:avLst>
              <a:gd name="adj" fmla="val 50000"/>
            </a:avLst>
          </a:prstGeom>
          <a:solidFill>
            <a:srgbClr val="3DA89A">
              <a:alpha val="14000"/>
            </a:srgbClr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085848" y="2688336"/>
            <a:ext cx="1468701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A8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LATER: 12–24 MO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9564167" y="2029968"/>
            <a:ext cx="512064" cy="512064"/>
          </a:xfrm>
          <a:prstGeom prst="ellipse">
            <a:avLst/>
          </a:prstGeom>
          <a:solidFill>
            <a:srgbClr val="3DA89A"/>
          </a:solidFill>
          <a:ln w="50800">
            <a:solidFill>
              <a:srgbClr val="F8F9FA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3039" y="2148840"/>
            <a:ext cx="274320" cy="27432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09905" y="5852160"/>
            <a:ext cx="10972800" cy="54864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32" name="Shape 26"/>
          <p:cNvSpPr/>
          <p:nvPr/>
        </p:nvSpPr>
        <p:spPr>
          <a:xfrm>
            <a:off x="664769" y="5852160"/>
            <a:ext cx="10917936" cy="548640"/>
          </a:xfrm>
          <a:prstGeom prst="rect">
            <a:avLst/>
          </a:prstGeom>
          <a:solidFill>
            <a:srgbClr val="E0F0ED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92785" y="58521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phase gated by PMF evidence — advance only when current-phase metrics are met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28600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228600"/>
            <a:ext cx="10799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212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PMF Experiments and Falsification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1463040"/>
          <a:ext cx="5362956" cy="2414016"/>
        </p:xfrm>
        <a:graphic>
          <a:graphicData uri="http://schemas.openxmlformats.org/drawingml/2006/table">
            <a:tbl>
              <a:tblPr/>
              <a:tblGrid>
                <a:gridCol w="1340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0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0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Experiment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Success Threshold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Falsification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8F9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Timeline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Scheduling Automation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40%+ appointments via AI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&lt;20% after 90 days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 days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No-Show Reduction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15%+ reduction vs baseline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&lt;5% reduction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 days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AB3">
                        <a:alpha val="2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Clinic Retention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70%+ retained at month 4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&lt;40% retention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556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120 days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1463040"/>
            <a:ext cx="5362956" cy="3304032"/>
          </a:xfrm>
          <a:prstGeom prst="rect">
            <a:avLst/>
          </a:prstGeom>
          <a:solidFill>
            <a:srgbClr val="1A7A6D"/>
          </a:solidFill>
          <a:ln/>
          <a:effectLst>
            <a:outerShdw blurRad="67729" dist="16929" dir="8100000" algn="bl" rotWithShape="0">
              <a:srgbClr val="D8DFE3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98932" y="1463040"/>
            <a:ext cx="5312664" cy="3304032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49808" y="1664208"/>
            <a:ext cx="496062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Disciplined validation framework: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528" y="216712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7608" y="2060448"/>
            <a:ext cx="4782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success thresholds tied to measurable outcomes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528" y="2715768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7608" y="2609088"/>
            <a:ext cx="4782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falsification criteria prevent indefinite investment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528" y="3264408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7608" y="3157728"/>
            <a:ext cx="4782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Time-bound experiments: 90–120 day decision windows</a:t>
            </a:r>
            <a:endParaRPr lang="en-US" sz="16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528" y="3813048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27608" y="3706368"/>
            <a:ext cx="4782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70%+ weekly active usage required for retention count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E0F0ED"/>
          </a:solidFill>
          <a:ln/>
        </p:spPr>
      </p:sp>
      <p:sp>
        <p:nvSpPr>
          <p:cNvPr id="4" name="Shape 1"/>
          <p:cNvSpPr/>
          <p:nvPr/>
        </p:nvSpPr>
        <p:spPr>
          <a:xfrm>
            <a:off x="437998" y="2462479"/>
            <a:ext cx="571500" cy="38405"/>
          </a:xfrm>
          <a:prstGeom prst="roundRect">
            <a:avLst>
              <a:gd name="adj" fmla="val 50000"/>
            </a:avLst>
          </a:prstGeom>
          <a:solidFill>
            <a:srgbClr val="1A7A6D"/>
          </a:solidFill>
          <a:ln/>
        </p:spPr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37998" y="271028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Unvalidated Assumptions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437998" y="3666211"/>
            <a:ext cx="2743200" cy="8258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critical assumptions remain untested and represent the highest-risk unknowns in this strategy</a:t>
            </a:r>
            <a:endParaRPr lang="en-US" sz="1275" dirty="0"/>
          </a:p>
        </p:txBody>
      </p:sp>
      <p:sp>
        <p:nvSpPr>
          <p:cNvPr id="7" name="Shape 4"/>
          <p:cNvSpPr/>
          <p:nvPr/>
        </p:nvSpPr>
        <p:spPr>
          <a:xfrm>
            <a:off x="4209898" y="438912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8" name="Text 5"/>
          <p:cNvSpPr/>
          <p:nvPr/>
        </p:nvSpPr>
        <p:spPr>
          <a:xfrm>
            <a:off x="4502506" y="438912"/>
            <a:ext cx="70984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ASSESSMENT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09898" y="731520"/>
            <a:ext cx="7391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 Limits and Open Questions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209898" y="2288911"/>
            <a:ext cx="2280818" cy="2965064"/>
          </a:xfrm>
          <a:prstGeom prst="roundRect">
            <a:avLst>
              <a:gd name="adj" fmla="val 5853"/>
            </a:avLst>
          </a:prstGeom>
          <a:solidFill>
            <a:srgbClr val="EEF2F4"/>
          </a:solidFill>
          <a:ln w="12700">
            <a:solidFill>
              <a:srgbClr val="D8DFE3"/>
            </a:solidFill>
            <a:prstDash val="solid"/>
          </a:ln>
          <a:effectLst>
            <a:outerShdw blurRad="76200" dist="25400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65930" y="2691247"/>
            <a:ext cx="548640" cy="548640"/>
          </a:xfrm>
          <a:prstGeom prst="roundRect">
            <a:avLst>
              <a:gd name="adj" fmla="val 24333"/>
            </a:avLst>
          </a:prstGeom>
          <a:solidFill>
            <a:srgbClr val="1A7A6D">
              <a:alpha val="14000"/>
            </a:srgbClr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3946" y="2819263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5930" y="3477631"/>
            <a:ext cx="176875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Adoption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65930" y="4154287"/>
            <a:ext cx="1768754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primary research on Brazilian patient comfort with AI-mediated WhatsApp scheduling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765036" y="2288911"/>
            <a:ext cx="2280818" cy="2965064"/>
          </a:xfrm>
          <a:prstGeom prst="roundRect">
            <a:avLst>
              <a:gd name="adj" fmla="val 5853"/>
            </a:avLst>
          </a:prstGeom>
          <a:solidFill>
            <a:srgbClr val="EEF2F4"/>
          </a:solidFill>
          <a:ln w="12700">
            <a:solidFill>
              <a:srgbClr val="D8DFE3"/>
            </a:solidFill>
            <a:prstDash val="solid"/>
          </a:ln>
          <a:effectLst>
            <a:outerShdw blurRad="76200" dist="25400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21068" y="2691247"/>
            <a:ext cx="548640" cy="548640"/>
          </a:xfrm>
          <a:prstGeom prst="roundRect">
            <a:avLst>
              <a:gd name="adj" fmla="val 24333"/>
            </a:avLst>
          </a:prstGeom>
          <a:solidFill>
            <a:srgbClr val="2E5A8C">
              <a:alpha val="14000"/>
            </a:srgbClr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9084" y="2819263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21068" y="3477631"/>
            <a:ext cx="176875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Willingness to Pay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021068" y="4154287"/>
            <a:ext cx="1768754" cy="647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benchmarks extrapolated from SaaS analogs, not direct clinic WTP studies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320174" y="2288911"/>
            <a:ext cx="2280818" cy="2965064"/>
          </a:xfrm>
          <a:prstGeom prst="roundRect">
            <a:avLst>
              <a:gd name="adj" fmla="val 5853"/>
            </a:avLst>
          </a:prstGeom>
          <a:solidFill>
            <a:srgbClr val="EEF2F4"/>
          </a:solidFill>
          <a:ln w="12700">
            <a:solidFill>
              <a:srgbClr val="D8DFE3"/>
            </a:solidFill>
            <a:prstDash val="solid"/>
          </a:ln>
          <a:effectLst>
            <a:outerShdw blurRad="76200" dist="25400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576206" y="2691247"/>
            <a:ext cx="548640" cy="548640"/>
          </a:xfrm>
          <a:prstGeom prst="roundRect">
            <a:avLst>
              <a:gd name="adj" fmla="val 24333"/>
            </a:avLst>
          </a:prstGeom>
          <a:solidFill>
            <a:srgbClr val="3DA89A">
              <a:alpha val="14000"/>
            </a:srgbClr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4222" y="2819263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76206" y="3477631"/>
            <a:ext cx="176875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Regulatory Enforcement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576206" y="4154287"/>
            <a:ext cx="1768754" cy="647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C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LGPD enforcement for health-tech AI remains limited in case law precedent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28600"/>
            <a:ext cx="182880" cy="18288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228600"/>
            <a:ext cx="10799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A7A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212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Strategic Recommendation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40680" cy="2272284"/>
          </a:xfrm>
          <a:prstGeom prst="rect">
            <a:avLst/>
          </a:prstGeom>
          <a:solidFill>
            <a:srgbClr val="1A7A6D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7045" y="1508760"/>
            <a:ext cx="5402275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5645" y="1737360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1A7A6D">
              <a:alpha val="14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5373" y="184708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5645" y="2368296"/>
            <a:ext cx="49450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Unserved Market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15645" y="2752344"/>
            <a:ext cx="4945075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Portuguese-native AI medical secretary exists — clear whitespace opportunity</a:t>
            </a:r>
            <a:endParaRPr lang="en-US" sz="1360" dirty="0"/>
          </a:p>
        </p:txBody>
      </p:sp>
      <p:sp>
        <p:nvSpPr>
          <p:cNvPr id="12" name="Shape 8"/>
          <p:cNvSpPr/>
          <p:nvPr/>
        </p:nvSpPr>
        <p:spPr>
          <a:xfrm>
            <a:off x="6199632" y="1508760"/>
            <a:ext cx="5440680" cy="2272284"/>
          </a:xfrm>
          <a:prstGeom prst="rect">
            <a:avLst/>
          </a:prstGeom>
          <a:solidFill>
            <a:srgbClr val="2E5A8C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38037" y="1508760"/>
            <a:ext cx="5402275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66637" y="1737360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2E5A8C">
              <a:alpha val="14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6365" y="184708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66637" y="2368296"/>
            <a:ext cx="49450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Validated Pain Point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66637" y="2752344"/>
            <a:ext cx="4945075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 admin burden is acute and measurable — 60-70% of secretary time on repetitive tasks</a:t>
            </a:r>
            <a:endParaRPr lang="en-US" sz="1360" dirty="0"/>
          </a:p>
        </p:txBody>
      </p:sp>
      <p:sp>
        <p:nvSpPr>
          <p:cNvPr id="18" name="Shape 13"/>
          <p:cNvSpPr/>
          <p:nvPr/>
        </p:nvSpPr>
        <p:spPr>
          <a:xfrm>
            <a:off x="548640" y="3991356"/>
            <a:ext cx="5440680" cy="2272284"/>
          </a:xfrm>
          <a:prstGeom prst="rect">
            <a:avLst/>
          </a:prstGeom>
          <a:solidFill>
            <a:srgbClr val="3DA89A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87045" y="3991356"/>
            <a:ext cx="5402275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5645" y="4219956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3DA89A">
              <a:alpha val="14000"/>
            </a:srgbClr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5373" y="432968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5645" y="4850892"/>
            <a:ext cx="49450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Defensible Channel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15645" y="5234940"/>
            <a:ext cx="4945075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dominance in Brazil (150M+ users) creates natural distribution advantage</a:t>
            </a:r>
            <a:endParaRPr lang="en-US" sz="1360" dirty="0"/>
          </a:p>
        </p:txBody>
      </p:sp>
      <p:sp>
        <p:nvSpPr>
          <p:cNvPr id="24" name="Shape 18"/>
          <p:cNvSpPr/>
          <p:nvPr/>
        </p:nvSpPr>
        <p:spPr>
          <a:xfrm>
            <a:off x="6199632" y="3991356"/>
            <a:ext cx="5440680" cy="2272284"/>
          </a:xfrm>
          <a:prstGeom prst="rect">
            <a:avLst/>
          </a:prstGeom>
          <a:solidFill>
            <a:srgbClr val="5B8AB8"/>
          </a:solidFill>
          <a:ln/>
          <a:effectLst>
            <a:outerShdw blurRad="101600" dist="33871" dir="8100000" algn="bl" rotWithShape="0">
              <a:srgbClr val="D8DFE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238037" y="3991356"/>
            <a:ext cx="5402275" cy="2272284"/>
          </a:xfrm>
          <a:prstGeom prst="rect">
            <a:avLst/>
          </a:prstGeom>
          <a:solidFill>
            <a:srgbClr val="EEF2F4"/>
          </a:solidFill>
          <a:ln w="9525">
            <a:solidFill>
              <a:srgbClr val="D8DFE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66637" y="4219956"/>
            <a:ext cx="475488" cy="475488"/>
          </a:xfrm>
          <a:prstGeom prst="roundRect">
            <a:avLst>
              <a:gd name="adj" fmla="val 24038"/>
            </a:avLst>
          </a:prstGeom>
          <a:solidFill>
            <a:srgbClr val="5B8AB8">
              <a:alpha val="14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6365" y="432968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66637" y="4850892"/>
            <a:ext cx="49450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Manageable Regulatory Path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6466637" y="5234940"/>
            <a:ext cx="4945075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60" dirty="0">
                <a:solidFill>
                  <a:srgbClr val="3A55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Administrative scope avoids clinical device classification — simpler LGPD compliance</a:t>
            </a:r>
            <a:endParaRPr lang="en-US" sz="1360" dirty="0"/>
          </a:p>
        </p:txBody>
      </p:sp>
      <p:sp>
        <p:nvSpPr>
          <p:cNvPr id="30" name="Text 23"/>
          <p:cNvSpPr/>
          <p:nvPr/>
        </p:nvSpPr>
        <p:spPr>
          <a:xfrm>
            <a:off x="548640" y="652881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| AI Medical Secretary | Brazil Market Entry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94415" y="6528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AI Medical Secretary: Brazil-First Strategy</vt:lpstr>
      <vt:lpstr>Best Initial Product-Market Fit</vt:lpstr>
      <vt:lpstr>Healthcare AI Growth Signals</vt:lpstr>
      <vt:lpstr>Private Clinics: Optimal Beachhead</vt:lpstr>
      <vt:lpstr>Clinic Secretary</vt:lpstr>
      <vt:lpstr>Competitive Landscape Archetypes</vt:lpstr>
      <vt:lpstr>Benchmark Competitor Profiles</vt:lpstr>
      <vt:lpstr>Positioning Implications</vt:lpstr>
      <vt:lpstr>MVP Audit: P0 Table Stakes</vt:lpstr>
      <vt:lpstr>Trust and Governance Requirements</vt:lpstr>
      <vt:lpstr>Operating Model and Six Differentiators</vt:lpstr>
      <vt:lpstr>Positioning and Messaging</vt:lpstr>
      <vt:lpstr>Monetization and Pricing</vt:lpstr>
      <vt:lpstr>WhatsApp Economics</vt:lpstr>
      <vt:lpstr>LGPD Obligations and Risk</vt:lpstr>
      <vt:lpstr>Compliance Checklist</vt:lpstr>
      <vt:lpstr>Roadmap: Now, Next, Later</vt:lpstr>
      <vt:lpstr>PMF Experiments and Falsification</vt:lpstr>
      <vt:lpstr>Unvalidated Assumptions</vt:lpstr>
      <vt:lpstr>Strategic Recommendation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Brazil-First Market-Fit and Competitive Strategy for an AI Medical Secretary</dc:title>
  <dc:subject>PptxGenJS Presentation</dc:subject>
  <dc:creator>ppt_agent</dc:creator>
  <cp:lastModifiedBy>ppt_agent</cp:lastModifiedBy>
  <cp:revision>2</cp:revision>
  <dcterms:created xsi:type="dcterms:W3CDTF">2026-10-14T18:44:31Z</dcterms:created>
  <dcterms:modified xsi:type="dcterms:W3CDTF">2026-10-14T18:45:46Z</dcterms:modified>
</cp:coreProperties>
</file>